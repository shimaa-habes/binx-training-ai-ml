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Montserrat Semi-Bold" charset="1" panose="00000700000000000000"/>
      <p:regular r:id="rId32"/>
    </p:embeddedFont>
    <p:embeddedFont>
      <p:font typeface="Montserrat Bold" charset="1" panose="00000800000000000000"/>
      <p:regular r:id="rId33"/>
    </p:embeddedFont>
    <p:embeddedFont>
      <p:font typeface="Canva Sans Medium" charset="1" panose="020B0603030501040103"/>
      <p:regular r:id="rId34"/>
    </p:embeddedFont>
    <p:embeddedFont>
      <p:font typeface="Montserrat Medium" charset="1" panose="00000600000000000000"/>
      <p:regular r:id="rId35"/>
    </p:embeddedFont>
    <p:embeddedFont>
      <p:font typeface="DM Sans Bold" charset="1" panose="00000000000000000000"/>
      <p:regular r:id="rId36"/>
    </p:embeddedFont>
    <p:embeddedFont>
      <p:font typeface="Arial" charset="1" panose="020B0604020202020204"/>
      <p:regular r:id="rId37"/>
    </p:embeddedFont>
    <p:embeddedFont>
      <p:font typeface="Arial Bold" charset="1" panose="020B0704020202020204"/>
      <p:regular r:id="rId38"/>
    </p:embeddedFont>
    <p:embeddedFont>
      <p:font typeface="Montserrat" charset="1" panose="00000500000000000000"/>
      <p:regular r:id="rId42"/>
    </p:embeddedFont>
    <p:embeddedFont>
      <p:font typeface="Lato Heavy" charset="1" panose="020F0502020204030203"/>
      <p:regular r:id="rId43"/>
    </p:embeddedFont>
    <p:embeddedFont>
      <p:font typeface="Lato Bold" charset="1" panose="020F0502020204030203"/>
      <p:regular r:id="rId44"/>
    </p:embeddedFont>
    <p:embeddedFont>
      <p:font typeface="Lexend Deca" charset="1" panose="00000000000000000000"/>
      <p:regular r:id="rId45"/>
    </p:embeddedFont>
    <p:embeddedFont>
      <p:font typeface="Arial Italics" charset="1" panose="020B0604020202090204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notesMasters/notesMaster1.xml" Type="http://schemas.openxmlformats.org/officeDocument/2006/relationships/notesMaster"/><Relationship Id="rId4" Target="theme/theme1.xml" Type="http://schemas.openxmlformats.org/officeDocument/2006/relationships/theme"/><Relationship Id="rId40" Target="theme/theme2.xml" Type="http://schemas.openxmlformats.org/officeDocument/2006/relationships/theme"/><Relationship Id="rId41" Target="notesSlides/notesSlide1.xml" Type="http://schemas.openxmlformats.org/officeDocument/2006/relationships/notes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notesSlides/notesSlide2.xml" Type="http://schemas.openxmlformats.org/officeDocument/2006/relationships/notesSlide"/><Relationship Id="rId47" Target="notesSlides/notesSlide3.xml" Type="http://schemas.openxmlformats.org/officeDocument/2006/relationships/notesSlide"/><Relationship Id="rId48" Target="fonts/font48.fntdata" Type="http://schemas.openxmlformats.org/officeDocument/2006/relationships/font"/><Relationship Id="rId49" Target="notesSlides/notesSlide4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5.xml" Type="http://schemas.openxmlformats.org/officeDocument/2006/relationships/notesSlide"/><Relationship Id="rId51" Target="notesSlides/notesSlide6.xml" Type="http://schemas.openxmlformats.org/officeDocument/2006/relationships/notesSlide"/><Relationship Id="rId52" Target="notesSlides/notesSlide7.xml" Type="http://schemas.openxmlformats.org/officeDocument/2006/relationships/notesSlide"/><Relationship Id="rId53" Target="notesSlides/notesSlide8.xml" Type="http://schemas.openxmlformats.org/officeDocument/2006/relationships/notesSlide"/><Relationship Id="rId54" Target="notesSlides/notesSlide9.xml" Type="http://schemas.openxmlformats.org/officeDocument/2006/relationships/notesSlide"/><Relationship Id="rId55" Target="notesSlides/notesSlide10.xml" Type="http://schemas.openxmlformats.org/officeDocument/2006/relationships/notesSlide"/><Relationship Id="rId56" Target="notesSlides/notesSlide11.xml" Type="http://schemas.openxmlformats.org/officeDocument/2006/relationships/notesSlide"/><Relationship Id="rId57" Target="notesSlides/notesSlide12.xml" Type="http://schemas.openxmlformats.org/officeDocument/2006/relationships/notesSlide"/><Relationship Id="rId58" Target="notesSlides/notesSlide13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yourself: AI/ML track. Three tasks: define the data, prepare the data, train and evaluate the first baseline models.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yourself: AI/ML track. Three tasks: define the data, prepare the data, train and evaluate the first baseline models.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Define the data before modelling. MVP = delay + risk. Five data groups. Leakage rule. JIRA for prototype; gaps documented, not invented.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Chunks of 100K rows. Cleaning, link and changelog features, left join. Only 7 creation-time features; issues whose priority/type/project changed were removed → 841,248 rows. Time split 70/15/15. Threshold and categories from training only. Separate unsupervised bottleneck dataset. All checks passed.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Regression results: MAE = average error in days, R² negative = worse than always predicting the mean. Scatter shows predictions stuck around 200 days. Feature importance: created_year dominates.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Precision = of flagged, how many were really long. Recall = of real long, how many caught. Accuracy misleading due to imbalance. Confusion matrix and ROC from the notebook.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Isolation Forest isolates unusual rows faster. Scored 938,948 resolved tasks, flagged 94,578 (10.07%). Top flagged tasks listed. Needs manual validation.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Honest baseline. Four reasons. The pipeline works and proves the Task 1 data is essential. Next steps.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yourself: AI/ML track. Three tasks: define the data, prepare the data, train and evaluate the first baseline models.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yourself: AI/ML track. Three tasks: define the data, prepare the data, train and evaluate the first baseline models.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12" Target="../media/image19.png" Type="http://schemas.openxmlformats.org/officeDocument/2006/relationships/image"/><Relationship Id="rId13" Target="../media/image20.png" Type="http://schemas.openxmlformats.org/officeDocument/2006/relationships/image"/><Relationship Id="rId14" Target="../media/image21.png" Type="http://schemas.openxmlformats.org/officeDocument/2006/relationships/image"/><Relationship Id="rId15" Target="../media/image22.png" Type="http://schemas.openxmlformats.org/officeDocument/2006/relationships/image"/><Relationship Id="rId16" Target="../media/image23.png" Type="http://schemas.openxmlformats.org/officeDocument/2006/relationships/image"/><Relationship Id="rId17" Target="../media/image24.png" Type="http://schemas.openxmlformats.org/officeDocument/2006/relationships/image"/><Relationship Id="rId18" Target="../media/image25.png" Type="http://schemas.openxmlformats.org/officeDocument/2006/relationships/image"/><Relationship Id="rId19" Target="../media/image26.png" Type="http://schemas.openxmlformats.org/officeDocument/2006/relationships/image"/><Relationship Id="rId2" Target="../media/image9.png" Type="http://schemas.openxmlformats.org/officeDocument/2006/relationships/image"/><Relationship Id="rId20" Target="../media/image27.png" Type="http://schemas.openxmlformats.org/officeDocument/2006/relationships/image"/><Relationship Id="rId21" Target="../media/image28.png" Type="http://schemas.openxmlformats.org/officeDocument/2006/relationships/image"/><Relationship Id="rId22" Target="../media/image29.png" Type="http://schemas.openxmlformats.org/officeDocument/2006/relationships/image"/><Relationship Id="rId23" Target="../media/image30.png" Type="http://schemas.openxmlformats.org/officeDocument/2006/relationships/image"/><Relationship Id="rId24" Target="../media/image31.png" Type="http://schemas.openxmlformats.org/officeDocument/2006/relationships/image"/><Relationship Id="rId25" Target="../media/image32.png" Type="http://schemas.openxmlformats.org/officeDocument/2006/relationships/image"/><Relationship Id="rId26" Target="../media/image33.png" Type="http://schemas.openxmlformats.org/officeDocument/2006/relationships/image"/><Relationship Id="rId27" Target="../media/image34.png" Type="http://schemas.openxmlformats.org/officeDocument/2006/relationships/image"/><Relationship Id="rId28" Target="../media/image35.png" Type="http://schemas.openxmlformats.org/officeDocument/2006/relationships/image"/><Relationship Id="rId29" Target="../media/image36.png" Type="http://schemas.openxmlformats.org/officeDocument/2006/relationships/image"/><Relationship Id="rId3" Target="../media/image10.png" Type="http://schemas.openxmlformats.org/officeDocument/2006/relationships/image"/><Relationship Id="rId30" Target="../media/image37.png" Type="http://schemas.openxmlformats.org/officeDocument/2006/relationships/image"/><Relationship Id="rId31" Target="../media/image38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39.jpe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png" Type="http://schemas.openxmlformats.org/officeDocument/2006/relationships/image"/><Relationship Id="rId12" Target="../media/image50.png" Type="http://schemas.openxmlformats.org/officeDocument/2006/relationships/image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jpeg" Type="http://schemas.openxmlformats.org/officeDocument/2006/relationships/image"/><Relationship Id="rId3" Target="../media/image3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png" Type="http://schemas.openxmlformats.org/officeDocument/2006/relationships/image"/><Relationship Id="rId12" Target="../media/image62.png" Type="http://schemas.openxmlformats.org/officeDocument/2006/relationships/image"/><Relationship Id="rId13" Target="../media/image63.png" Type="http://schemas.openxmlformats.org/officeDocument/2006/relationships/image"/><Relationship Id="rId14" Target="../media/image64.png" Type="http://schemas.openxmlformats.org/officeDocument/2006/relationships/image"/><Relationship Id="rId15" Target="../media/image65.png" Type="http://schemas.openxmlformats.org/officeDocument/2006/relationships/image"/><Relationship Id="rId16" Target="../media/image66.png" Type="http://schemas.openxmlformats.org/officeDocument/2006/relationships/image"/><Relationship Id="rId17" Target="../media/image67.png" Type="http://schemas.openxmlformats.org/officeDocument/2006/relationships/image"/><Relationship Id="rId18" Target="../media/image68.png" Type="http://schemas.openxmlformats.org/officeDocument/2006/relationships/image"/><Relationship Id="rId19" Target="../media/image69.png" Type="http://schemas.openxmlformats.org/officeDocument/2006/relationships/image"/><Relationship Id="rId2" Target="../media/image52.png" Type="http://schemas.openxmlformats.org/officeDocument/2006/relationships/image"/><Relationship Id="rId20" Target="../media/image70.png" Type="http://schemas.openxmlformats.org/officeDocument/2006/relationships/image"/><Relationship Id="rId21" Target="../media/image71.png" Type="http://schemas.openxmlformats.org/officeDocument/2006/relationships/image"/><Relationship Id="rId22" Target="../media/image72.png" Type="http://schemas.openxmlformats.org/officeDocument/2006/relationships/image"/><Relationship Id="rId23" Target="../media/image73.png" Type="http://schemas.openxmlformats.org/officeDocument/2006/relationships/image"/><Relationship Id="rId24" Target="../media/image74.png" Type="http://schemas.openxmlformats.org/officeDocument/2006/relationships/image"/><Relationship Id="rId25" Target="../media/image75.png" Type="http://schemas.openxmlformats.org/officeDocument/2006/relationships/image"/><Relationship Id="rId26" Target="../media/image76.png" Type="http://schemas.openxmlformats.org/officeDocument/2006/relationships/image"/><Relationship Id="rId27" Target="../media/image77.png" Type="http://schemas.openxmlformats.org/officeDocument/2006/relationships/image"/><Relationship Id="rId28" Target="../media/image78.png" Type="http://schemas.openxmlformats.org/officeDocument/2006/relationships/image"/><Relationship Id="rId3" Target="../media/image53.png" Type="http://schemas.openxmlformats.org/officeDocument/2006/relationships/image"/><Relationship Id="rId4" Target="../media/image54.png" Type="http://schemas.openxmlformats.org/officeDocument/2006/relationships/image"/><Relationship Id="rId5" Target="../media/image55.png" Type="http://schemas.openxmlformats.org/officeDocument/2006/relationships/image"/><Relationship Id="rId6" Target="../media/image56.png" Type="http://schemas.openxmlformats.org/officeDocument/2006/relationships/image"/><Relationship Id="rId7" Target="../media/image57.png" Type="http://schemas.openxmlformats.org/officeDocument/2006/relationships/image"/><Relationship Id="rId8" Target="../media/image58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7.png" Type="http://schemas.openxmlformats.org/officeDocument/2006/relationships/image"/><Relationship Id="rId11" Target="../media/image88.png" Type="http://schemas.openxmlformats.org/officeDocument/2006/relationships/image"/><Relationship Id="rId12" Target="../media/image89.png" Type="http://schemas.openxmlformats.org/officeDocument/2006/relationships/image"/><Relationship Id="rId13" Target="../media/image90.png" Type="http://schemas.openxmlformats.org/officeDocument/2006/relationships/image"/><Relationship Id="rId14" Target="../media/image91.png" Type="http://schemas.openxmlformats.org/officeDocument/2006/relationships/image"/><Relationship Id="rId15" Target="../media/image92.png" Type="http://schemas.openxmlformats.org/officeDocument/2006/relationships/image"/><Relationship Id="rId16" Target="../media/image93.png" Type="http://schemas.openxmlformats.org/officeDocument/2006/relationships/image"/><Relationship Id="rId17" Target="../media/image94.png" Type="http://schemas.openxmlformats.org/officeDocument/2006/relationships/image"/><Relationship Id="rId18" Target="../media/image95.png" Type="http://schemas.openxmlformats.org/officeDocument/2006/relationships/image"/><Relationship Id="rId19" Target="../media/image96.png" Type="http://schemas.openxmlformats.org/officeDocument/2006/relationships/image"/><Relationship Id="rId2" Target="../media/image79.png" Type="http://schemas.openxmlformats.org/officeDocument/2006/relationships/image"/><Relationship Id="rId20" Target="../media/image97.png" Type="http://schemas.openxmlformats.org/officeDocument/2006/relationships/image"/><Relationship Id="rId21" Target="../media/image98.png" Type="http://schemas.openxmlformats.org/officeDocument/2006/relationships/image"/><Relationship Id="rId22" Target="../media/image99.png" Type="http://schemas.openxmlformats.org/officeDocument/2006/relationships/image"/><Relationship Id="rId23" Target="../media/image100.png" Type="http://schemas.openxmlformats.org/officeDocument/2006/relationships/image"/><Relationship Id="rId24" Target="../media/image101.png" Type="http://schemas.openxmlformats.org/officeDocument/2006/relationships/image"/><Relationship Id="rId25" Target="../media/image102.png" Type="http://schemas.openxmlformats.org/officeDocument/2006/relationships/image"/><Relationship Id="rId26" Target="../media/image103.png" Type="http://schemas.openxmlformats.org/officeDocument/2006/relationships/image"/><Relationship Id="rId27" Target="../media/image104.png" Type="http://schemas.openxmlformats.org/officeDocument/2006/relationships/image"/><Relationship Id="rId28" Target="../media/image105.png" Type="http://schemas.openxmlformats.org/officeDocument/2006/relationships/image"/><Relationship Id="rId29" Target="../media/image106.png" Type="http://schemas.openxmlformats.org/officeDocument/2006/relationships/image"/><Relationship Id="rId3" Target="../media/image80.png" Type="http://schemas.openxmlformats.org/officeDocument/2006/relationships/image"/><Relationship Id="rId30" Target="../media/image107.png" Type="http://schemas.openxmlformats.org/officeDocument/2006/relationships/image"/><Relationship Id="rId31" Target="../media/image108.png" Type="http://schemas.openxmlformats.org/officeDocument/2006/relationships/image"/><Relationship Id="rId32" Target="../media/image109.png" Type="http://schemas.openxmlformats.org/officeDocument/2006/relationships/image"/><Relationship Id="rId4" Target="../media/image81.png" Type="http://schemas.openxmlformats.org/officeDocument/2006/relationships/image"/><Relationship Id="rId5" Target="../media/image82.png" Type="http://schemas.openxmlformats.org/officeDocument/2006/relationships/image"/><Relationship Id="rId6" Target="../media/image83.png" Type="http://schemas.openxmlformats.org/officeDocument/2006/relationships/image"/><Relationship Id="rId7" Target="../media/image84.png" Type="http://schemas.openxmlformats.org/officeDocument/2006/relationships/image"/><Relationship Id="rId8" Target="../media/image85.png" Type="http://schemas.openxmlformats.org/officeDocument/2006/relationships/image"/><Relationship Id="rId9" Target="../media/image8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8.png" Type="http://schemas.openxmlformats.org/officeDocument/2006/relationships/image"/><Relationship Id="rId11" Target="../media/image119.png" Type="http://schemas.openxmlformats.org/officeDocument/2006/relationships/image"/><Relationship Id="rId12" Target="../media/image120.png" Type="http://schemas.openxmlformats.org/officeDocument/2006/relationships/image"/><Relationship Id="rId13" Target="../media/image121.png" Type="http://schemas.openxmlformats.org/officeDocument/2006/relationships/image"/><Relationship Id="rId14" Target="../media/image122.png" Type="http://schemas.openxmlformats.org/officeDocument/2006/relationships/image"/><Relationship Id="rId15" Target="../media/image123.png" Type="http://schemas.openxmlformats.org/officeDocument/2006/relationships/image"/><Relationship Id="rId16" Target="../media/image124.png" Type="http://schemas.openxmlformats.org/officeDocument/2006/relationships/image"/><Relationship Id="rId17" Target="../media/image125.png" Type="http://schemas.openxmlformats.org/officeDocument/2006/relationships/image"/><Relationship Id="rId18" Target="../media/image126.png" Type="http://schemas.openxmlformats.org/officeDocument/2006/relationships/image"/><Relationship Id="rId19" Target="../media/image127.png" Type="http://schemas.openxmlformats.org/officeDocument/2006/relationships/image"/><Relationship Id="rId2" Target="../media/image110.png" Type="http://schemas.openxmlformats.org/officeDocument/2006/relationships/image"/><Relationship Id="rId20" Target="../media/image128.png" Type="http://schemas.openxmlformats.org/officeDocument/2006/relationships/image"/><Relationship Id="rId21" Target="../media/image129.png" Type="http://schemas.openxmlformats.org/officeDocument/2006/relationships/image"/><Relationship Id="rId22" Target="../media/image130.png" Type="http://schemas.openxmlformats.org/officeDocument/2006/relationships/image"/><Relationship Id="rId23" Target="../media/image131.png" Type="http://schemas.openxmlformats.org/officeDocument/2006/relationships/image"/><Relationship Id="rId24" Target="../media/image132.png" Type="http://schemas.openxmlformats.org/officeDocument/2006/relationships/image"/><Relationship Id="rId25" Target="../media/image133.png" Type="http://schemas.openxmlformats.org/officeDocument/2006/relationships/image"/><Relationship Id="rId26" Target="../media/image134.png" Type="http://schemas.openxmlformats.org/officeDocument/2006/relationships/image"/><Relationship Id="rId27" Target="../media/image135.png" Type="http://schemas.openxmlformats.org/officeDocument/2006/relationships/image"/><Relationship Id="rId28" Target="../media/image136.png" Type="http://schemas.openxmlformats.org/officeDocument/2006/relationships/image"/><Relationship Id="rId29" Target="../media/image137.png" Type="http://schemas.openxmlformats.org/officeDocument/2006/relationships/image"/><Relationship Id="rId3" Target="../media/image111.png" Type="http://schemas.openxmlformats.org/officeDocument/2006/relationships/image"/><Relationship Id="rId30" Target="../media/image138.png" Type="http://schemas.openxmlformats.org/officeDocument/2006/relationships/image"/><Relationship Id="rId4" Target="../media/image112.png" Type="http://schemas.openxmlformats.org/officeDocument/2006/relationships/image"/><Relationship Id="rId5" Target="../media/image113.png" Type="http://schemas.openxmlformats.org/officeDocument/2006/relationships/image"/><Relationship Id="rId6" Target="../media/image114.png" Type="http://schemas.openxmlformats.org/officeDocument/2006/relationships/image"/><Relationship Id="rId7" Target="../media/image115.png" Type="http://schemas.openxmlformats.org/officeDocument/2006/relationships/image"/><Relationship Id="rId8" Target="../media/image116.png" Type="http://schemas.openxmlformats.org/officeDocument/2006/relationships/image"/><Relationship Id="rId9" Target="../media/image1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9.jpe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4.png" Type="http://schemas.openxmlformats.org/officeDocument/2006/relationships/image"/><Relationship Id="rId11" Target="../media/image145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39.jpeg" Type="http://schemas.openxmlformats.org/officeDocument/2006/relationships/image"/><Relationship Id="rId4" Target="../media/image41.png" Type="http://schemas.openxmlformats.org/officeDocument/2006/relationships/image"/><Relationship Id="rId5" Target="../media/image139.png" Type="http://schemas.openxmlformats.org/officeDocument/2006/relationships/image"/><Relationship Id="rId6" Target="../media/image140.png" Type="http://schemas.openxmlformats.org/officeDocument/2006/relationships/image"/><Relationship Id="rId7" Target="../media/image141.png" Type="http://schemas.openxmlformats.org/officeDocument/2006/relationships/image"/><Relationship Id="rId8" Target="../media/image142.png" Type="http://schemas.openxmlformats.org/officeDocument/2006/relationships/image"/><Relationship Id="rId9" Target="../media/image14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9.jpeg" Type="http://schemas.openxmlformats.org/officeDocument/2006/relationships/image"/><Relationship Id="rId4" Target="../media/image4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9.jpeg" Type="http://schemas.openxmlformats.org/officeDocument/2006/relationships/image"/><Relationship Id="rId4" Target="../media/image41.png" Type="http://schemas.openxmlformats.org/officeDocument/2006/relationships/image"/><Relationship Id="rId5" Target="../media/image146.png" Type="http://schemas.openxmlformats.org/officeDocument/2006/relationships/image"/><Relationship Id="rId6" Target="../media/image14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9.jpeg" Type="http://schemas.openxmlformats.org/officeDocument/2006/relationships/image"/><Relationship Id="rId4" Target="../media/image41.png" Type="http://schemas.openxmlformats.org/officeDocument/2006/relationships/image"/><Relationship Id="rId5" Target="../media/image148.png" Type="http://schemas.openxmlformats.org/officeDocument/2006/relationships/image"/><Relationship Id="rId6" Target="../media/image14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9.jpeg" Type="http://schemas.openxmlformats.org/officeDocument/2006/relationships/image"/><Relationship Id="rId4" Target="../media/image41.png" Type="http://schemas.openxmlformats.org/officeDocument/2006/relationships/image"/><Relationship Id="rId5" Target="../media/image15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9.jpeg" Type="http://schemas.openxmlformats.org/officeDocument/2006/relationships/image"/><Relationship Id="rId4" Target="../media/image41.png" Type="http://schemas.openxmlformats.org/officeDocument/2006/relationships/image"/><Relationship Id="rId5" Target="../media/image151.png" Type="http://schemas.openxmlformats.org/officeDocument/2006/relationships/image"/><Relationship Id="rId6" Target="../media/image152.png" Type="http://schemas.openxmlformats.org/officeDocument/2006/relationships/image"/><Relationship Id="rId7" Target="../media/image153.png" Type="http://schemas.openxmlformats.org/officeDocument/2006/relationships/image"/><Relationship Id="rId8" Target="../media/image154.png" Type="http://schemas.openxmlformats.org/officeDocument/2006/relationships/image"/><Relationship Id="rId9" Target="../media/image15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56.png" Type="http://schemas.openxmlformats.org/officeDocument/2006/relationships/image"/><Relationship Id="rId4" Target="../media/image39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9.jpeg" Type="http://schemas.openxmlformats.org/officeDocument/2006/relationships/image"/><Relationship Id="rId4" Target="../media/image157.png" Type="http://schemas.openxmlformats.org/officeDocument/2006/relationships/image"/><Relationship Id="rId5" Target="../media/image158.png" Type="http://schemas.openxmlformats.org/officeDocument/2006/relationships/image"/><Relationship Id="rId6" Target="../media/image159.png" Type="http://schemas.openxmlformats.org/officeDocument/2006/relationships/image"/><Relationship Id="rId7" Target="../media/image160.png" Type="http://schemas.openxmlformats.org/officeDocument/2006/relationships/image"/><Relationship Id="rId8" Target="../media/image161.png" Type="http://schemas.openxmlformats.org/officeDocument/2006/relationships/image"/><Relationship Id="rId9" Target="../media/image16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39.jpeg" Type="http://schemas.openxmlformats.org/officeDocument/2006/relationships/image"/><Relationship Id="rId4" Target="../media/image163.png" Type="http://schemas.openxmlformats.org/officeDocument/2006/relationships/image"/><Relationship Id="rId5" Target="../media/image162.png" Type="http://schemas.openxmlformats.org/officeDocument/2006/relationships/image"/><Relationship Id="rId6" Target="../media/image164.png" Type="http://schemas.openxmlformats.org/officeDocument/2006/relationships/image"/><Relationship Id="rId7" Target="../media/image165.png" Type="http://schemas.openxmlformats.org/officeDocument/2006/relationships/image"/><Relationship Id="rId8" Target="../media/image14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2.png" Type="http://schemas.openxmlformats.org/officeDocument/2006/relationships/image"/><Relationship Id="rId11" Target="../media/image173.png" Type="http://schemas.openxmlformats.org/officeDocument/2006/relationships/image"/><Relationship Id="rId12" Target="../media/image162.pn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39.jpeg" Type="http://schemas.openxmlformats.org/officeDocument/2006/relationships/image"/><Relationship Id="rId4" Target="../media/image166.png" Type="http://schemas.openxmlformats.org/officeDocument/2006/relationships/image"/><Relationship Id="rId5" Target="../media/image167.png" Type="http://schemas.openxmlformats.org/officeDocument/2006/relationships/image"/><Relationship Id="rId6" Target="../media/image168.png" Type="http://schemas.openxmlformats.org/officeDocument/2006/relationships/image"/><Relationship Id="rId7" Target="../media/image169.png" Type="http://schemas.openxmlformats.org/officeDocument/2006/relationships/image"/><Relationship Id="rId8" Target="../media/image170.png" Type="http://schemas.openxmlformats.org/officeDocument/2006/relationships/image"/><Relationship Id="rId9" Target="../media/image17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56.png" Type="http://schemas.openxmlformats.org/officeDocument/2006/relationships/image"/><Relationship Id="rId4" Target="../media/image39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68000" y="0"/>
            <a:ext cx="7620000" cy="10287000"/>
          </a:xfrm>
          <a:custGeom>
            <a:avLst/>
            <a:gdLst/>
            <a:ahLst/>
            <a:cxnLst/>
            <a:rect r="r" b="b" t="t" l="l"/>
            <a:pathLst>
              <a:path h="10287000" w="7620000">
                <a:moveTo>
                  <a:pt x="0" y="0"/>
                </a:moveTo>
                <a:lnTo>
                  <a:pt x="7620000" y="0"/>
                </a:lnTo>
                <a:lnTo>
                  <a:pt x="7620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" r="0" b="-5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448925" y="8143875"/>
            <a:ext cx="3057525" cy="1285875"/>
          </a:xfrm>
          <a:custGeom>
            <a:avLst/>
            <a:gdLst/>
            <a:ahLst/>
            <a:cxnLst/>
            <a:rect r="r" b="b" t="t" l="l"/>
            <a:pathLst>
              <a:path h="1285875" w="3057525">
                <a:moveTo>
                  <a:pt x="0" y="0"/>
                </a:moveTo>
                <a:lnTo>
                  <a:pt x="3057525" y="0"/>
                </a:lnTo>
                <a:lnTo>
                  <a:pt x="3057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97280" y="752383"/>
            <a:ext cx="2212848" cy="33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b="true" sz="2002" spc="200">
                <a:solidFill>
                  <a:srgbClr val="008AFE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SCALEFLOW ◀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048000" y="638175"/>
            <a:ext cx="438150" cy="438150"/>
          </a:xfrm>
          <a:custGeom>
            <a:avLst/>
            <a:gdLst/>
            <a:ahLst/>
            <a:cxnLst/>
            <a:rect r="r" b="b" t="t" l="l"/>
            <a:pathLst>
              <a:path h="438150" w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4128" y="2248591"/>
            <a:ext cx="8010144" cy="1646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20"/>
              </a:lnSpc>
            </a:pPr>
            <a:r>
              <a:rPr lang="en-US" sz="12320" spc="-246" b="true">
                <a:solidFill>
                  <a:srgbClr val="123F7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ScaleFlow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85850" y="3857625"/>
            <a:ext cx="876300" cy="428625"/>
          </a:xfrm>
          <a:custGeom>
            <a:avLst/>
            <a:gdLst/>
            <a:ahLst/>
            <a:cxnLst/>
            <a:rect r="r" b="b" t="t" l="l"/>
            <a:pathLst>
              <a:path h="428625" w="876300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78992" y="4503491"/>
            <a:ext cx="6473952" cy="130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5"/>
              </a:lnSpc>
            </a:pPr>
            <a:r>
              <a:rPr lang="en-US" sz="4668" b="true">
                <a:solidFill>
                  <a:srgbClr val="1E5AA8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Enterprise Project Intelligence Platform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85850" y="64293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5850" y="706755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04925" y="7496175"/>
            <a:ext cx="219075" cy="1504950"/>
          </a:xfrm>
          <a:custGeom>
            <a:avLst/>
            <a:gdLst/>
            <a:ahLst/>
            <a:cxnLst/>
            <a:rect r="r" b="b" t="t" l="l"/>
            <a:pathLst>
              <a:path h="1504950" w="219075">
                <a:moveTo>
                  <a:pt x="0" y="0"/>
                </a:moveTo>
                <a:lnTo>
                  <a:pt x="219075" y="0"/>
                </a:lnTo>
                <a:lnTo>
                  <a:pt x="219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85850" y="8782050"/>
            <a:ext cx="657225" cy="866775"/>
          </a:xfrm>
          <a:custGeom>
            <a:avLst/>
            <a:gdLst/>
            <a:ahLst/>
            <a:cxnLst/>
            <a:rect r="r" b="b" t="t" l="l"/>
            <a:pathLst>
              <a:path h="866775" w="65722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975104" y="6554962"/>
            <a:ext cx="2706624" cy="231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3"/>
              </a:lnSpc>
            </a:pPr>
            <a:r>
              <a:rPr lang="en-US" sz="1762" b="true">
                <a:solidFill>
                  <a:srgbClr val="245B9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Team 4</a:t>
            </a:r>
          </a:p>
          <a:p>
            <a:pPr algn="l">
              <a:lnSpc>
                <a:spcPts val="2643"/>
              </a:lnSpc>
            </a:pPr>
          </a:p>
          <a:p>
            <a:pPr algn="l">
              <a:lnSpc>
                <a:spcPts val="2643"/>
              </a:lnSpc>
            </a:pPr>
            <a:r>
              <a:rPr lang="en-US" sz="1762" b="true">
                <a:solidFill>
                  <a:srgbClr val="245B9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Shimaa Hubes</a:t>
            </a:r>
          </a:p>
          <a:p>
            <a:pPr algn="l">
              <a:lnSpc>
                <a:spcPts val="2643"/>
              </a:lnSpc>
            </a:pPr>
            <a:r>
              <a:rPr lang="en-US" sz="1762" b="true">
                <a:solidFill>
                  <a:srgbClr val="245B9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Sadeel Ardah</a:t>
            </a:r>
          </a:p>
          <a:p>
            <a:pPr algn="l">
              <a:lnSpc>
                <a:spcPts val="2643"/>
              </a:lnSpc>
            </a:pPr>
            <a:r>
              <a:rPr lang="en-US" sz="1762" b="true">
                <a:solidFill>
                  <a:srgbClr val="245B9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Saba abu Al-own</a:t>
            </a:r>
          </a:p>
          <a:p>
            <a:pPr algn="l">
              <a:lnSpc>
                <a:spcPts val="2643"/>
              </a:lnSpc>
            </a:pPr>
            <a:r>
              <a:rPr lang="en-US" sz="1762" b="true">
                <a:solidFill>
                  <a:srgbClr val="245B9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Mohammad Abdelfattah</a:t>
            </a:r>
          </a:p>
          <a:p>
            <a:pPr algn="l">
              <a:lnSpc>
                <a:spcPts val="2643"/>
              </a:lnSpc>
            </a:pPr>
            <a:r>
              <a:rPr lang="en-US" sz="1762" b="true">
                <a:solidFill>
                  <a:srgbClr val="245B9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Mostafa alnatshe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75104" y="9036641"/>
            <a:ext cx="1291971" cy="282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584" b="true">
                <a:solidFill>
                  <a:srgbClr val="163A6B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2026/2027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04925" y="6814504"/>
            <a:ext cx="179732" cy="262571"/>
          </a:xfrm>
          <a:custGeom>
            <a:avLst/>
            <a:gdLst/>
            <a:ahLst/>
            <a:cxnLst/>
            <a:rect r="r" b="b" t="t" l="l"/>
            <a:pathLst>
              <a:path h="262571" w="179732">
                <a:moveTo>
                  <a:pt x="0" y="0"/>
                </a:moveTo>
                <a:lnTo>
                  <a:pt x="179732" y="0"/>
                </a:lnTo>
                <a:lnTo>
                  <a:pt x="179732" y="262571"/>
                </a:lnTo>
                <a:lnTo>
                  <a:pt x="0" y="2625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21889" b="-473158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857625"/>
            <a:ext cx="1095375" cy="3219450"/>
          </a:xfrm>
          <a:custGeom>
            <a:avLst/>
            <a:gdLst/>
            <a:ahLst/>
            <a:cxnLst/>
            <a:rect r="r" b="b" t="t" l="l"/>
            <a:pathLst>
              <a:path h="3219450" w="1095375">
                <a:moveTo>
                  <a:pt x="0" y="0"/>
                </a:moveTo>
                <a:lnTo>
                  <a:pt x="1095375" y="0"/>
                </a:lnTo>
                <a:lnTo>
                  <a:pt x="10953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96925" y="857250"/>
            <a:ext cx="4581525" cy="7286625"/>
          </a:xfrm>
          <a:custGeom>
            <a:avLst/>
            <a:gdLst/>
            <a:ahLst/>
            <a:cxnLst/>
            <a:rect r="r" b="b" t="t" l="l"/>
            <a:pathLst>
              <a:path h="7286625" w="4581525">
                <a:moveTo>
                  <a:pt x="0" y="0"/>
                </a:moveTo>
                <a:lnTo>
                  <a:pt x="4581525" y="0"/>
                </a:lnTo>
                <a:lnTo>
                  <a:pt x="4581525" y="7286625"/>
                </a:lnTo>
                <a:lnTo>
                  <a:pt x="0" y="7286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9536" y="933892"/>
            <a:ext cx="8010144" cy="71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5350" b="true">
                <a:solidFill>
                  <a:srgbClr val="001C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Introducing ScaleFlow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9536" y="1801454"/>
            <a:ext cx="6455664" cy="423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466" b="true">
                <a:solidFill>
                  <a:srgbClr val="2289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Enterprise Project Intelligence Platform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2571750"/>
            <a:ext cx="12201525" cy="1714500"/>
          </a:xfrm>
          <a:custGeom>
            <a:avLst/>
            <a:gdLst/>
            <a:ahLst/>
            <a:cxnLst/>
            <a:rect r="r" b="b" t="t" l="l"/>
            <a:pathLst>
              <a:path h="1714500" w="12201525">
                <a:moveTo>
                  <a:pt x="0" y="0"/>
                </a:moveTo>
                <a:lnTo>
                  <a:pt x="12201525" y="0"/>
                </a:lnTo>
                <a:lnTo>
                  <a:pt x="122015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4925" y="2781300"/>
            <a:ext cx="876300" cy="1076325"/>
          </a:xfrm>
          <a:custGeom>
            <a:avLst/>
            <a:gdLst/>
            <a:ahLst/>
            <a:cxnLst/>
            <a:rect r="r" b="b" t="t" l="l"/>
            <a:pathLst>
              <a:path h="1076325" w="876300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42032" y="2773609"/>
            <a:ext cx="2212848" cy="340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3"/>
              </a:lnSpc>
            </a:pPr>
            <a:r>
              <a:rPr lang="en-US" sz="1959" b="true">
                <a:solidFill>
                  <a:srgbClr val="001C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 ScaleFlow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42032" y="3271838"/>
            <a:ext cx="8540496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01C4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ScaleFlow is an intelligent project management platform that helps teams plan, monitor, and manage projects more efficiently using AI-powered insights.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7700" y="4286250"/>
            <a:ext cx="15468600" cy="3648075"/>
          </a:xfrm>
          <a:custGeom>
            <a:avLst/>
            <a:gdLst/>
            <a:ahLst/>
            <a:cxnLst/>
            <a:rect r="r" b="b" t="t" l="l"/>
            <a:pathLst>
              <a:path h="3648075" w="15468600">
                <a:moveTo>
                  <a:pt x="0" y="0"/>
                </a:moveTo>
                <a:lnTo>
                  <a:pt x="15468600" y="0"/>
                </a:lnTo>
                <a:lnTo>
                  <a:pt x="1546860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35024" y="4558573"/>
            <a:ext cx="2249424" cy="33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sz="2002" b="true">
                <a:solidFill>
                  <a:srgbClr val="001C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Capabilities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3695700" y="4714875"/>
            <a:ext cx="11982450" cy="219075"/>
          </a:xfrm>
          <a:custGeom>
            <a:avLst/>
            <a:gdLst/>
            <a:ahLst/>
            <a:cxnLst/>
            <a:rect r="r" b="b" t="t" l="l"/>
            <a:pathLst>
              <a:path h="219075" w="11982450">
                <a:moveTo>
                  <a:pt x="0" y="0"/>
                </a:moveTo>
                <a:lnTo>
                  <a:pt x="11982450" y="0"/>
                </a:lnTo>
                <a:lnTo>
                  <a:pt x="11982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04925" y="514350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24000" y="535305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724912" y="5362289"/>
            <a:ext cx="1920240" cy="593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762" b="true">
                <a:solidFill>
                  <a:srgbClr val="001C4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Project and task management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096000" y="5143500"/>
            <a:ext cx="219075" cy="1076325"/>
          </a:xfrm>
          <a:custGeom>
            <a:avLst/>
            <a:gdLst/>
            <a:ahLst/>
            <a:cxnLst/>
            <a:rect r="r" b="b" t="t" l="l"/>
            <a:pathLst>
              <a:path h="1076325" w="219075">
                <a:moveTo>
                  <a:pt x="0" y="0"/>
                </a:moveTo>
                <a:lnTo>
                  <a:pt x="219075" y="0"/>
                </a:lnTo>
                <a:lnTo>
                  <a:pt x="2190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524625" y="514350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743700" y="535305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845552" y="5370862"/>
            <a:ext cx="1353312" cy="576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true">
                <a:solidFill>
                  <a:srgbClr val="001C4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AI-powered risk analysis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877550" y="5143500"/>
            <a:ext cx="228600" cy="1076325"/>
          </a:xfrm>
          <a:custGeom>
            <a:avLst/>
            <a:gdLst/>
            <a:ahLst/>
            <a:cxnLst/>
            <a:rect r="r" b="b" t="t" l="l"/>
            <a:pathLst>
              <a:path h="1076325" w="228600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315700" y="514350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534775" y="535305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508992" y="5497830"/>
            <a:ext cx="1810512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01C4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Delay prediction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04925" y="642937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24000" y="66389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724912" y="6658451"/>
            <a:ext cx="1316736" cy="593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762" b="true">
                <a:solidFill>
                  <a:srgbClr val="001C4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Bottleneck detection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6096000" y="6429375"/>
            <a:ext cx="219075" cy="1076325"/>
          </a:xfrm>
          <a:custGeom>
            <a:avLst/>
            <a:gdLst/>
            <a:ahLst/>
            <a:cxnLst/>
            <a:rect r="r" b="b" t="t" l="l"/>
            <a:pathLst>
              <a:path h="1076325" w="219075">
                <a:moveTo>
                  <a:pt x="0" y="0"/>
                </a:moveTo>
                <a:lnTo>
                  <a:pt x="219075" y="0"/>
                </a:lnTo>
                <a:lnTo>
                  <a:pt x="2190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524625" y="642937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743700" y="66389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845552" y="6648450"/>
            <a:ext cx="1609344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001C4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Project health analysis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0877550" y="6429375"/>
            <a:ext cx="228600" cy="1076325"/>
          </a:xfrm>
          <a:custGeom>
            <a:avLst/>
            <a:gdLst/>
            <a:ahLst/>
            <a:cxnLst/>
            <a:rect r="r" b="b" t="t" l="l"/>
            <a:pathLst>
              <a:path h="1076325" w="228600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1315700" y="642937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1534775" y="66389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2508992" y="6666548"/>
            <a:ext cx="2523744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01C4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AI-generated insights and recommendations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647700" y="7924800"/>
            <a:ext cx="7629525" cy="1933575"/>
          </a:xfrm>
          <a:custGeom>
            <a:avLst/>
            <a:gdLst/>
            <a:ahLst/>
            <a:cxnLst/>
            <a:rect r="r" b="b" t="t" l="l"/>
            <a:pathLst>
              <a:path h="1933575" w="7629525">
                <a:moveTo>
                  <a:pt x="0" y="0"/>
                </a:moveTo>
                <a:lnTo>
                  <a:pt x="7629525" y="0"/>
                </a:lnTo>
                <a:lnTo>
                  <a:pt x="76295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47700" y="7924800"/>
            <a:ext cx="447675" cy="1933575"/>
          </a:xfrm>
          <a:custGeom>
            <a:avLst/>
            <a:gdLst/>
            <a:ahLst/>
            <a:cxnLst/>
            <a:rect r="r" b="b" t="t" l="l"/>
            <a:pathLst>
              <a:path h="1933575" w="447675">
                <a:moveTo>
                  <a:pt x="0" y="0"/>
                </a:moveTo>
                <a:lnTo>
                  <a:pt x="447675" y="0"/>
                </a:lnTo>
                <a:lnTo>
                  <a:pt x="447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304925" y="835342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524000" y="85725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798064" y="8292798"/>
            <a:ext cx="1682496" cy="33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006" b="true">
                <a:solidFill>
                  <a:srgbClr val="001C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Target Users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798064" y="8781097"/>
            <a:ext cx="3803904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0"/>
              </a:lnSpc>
            </a:pPr>
            <a:r>
              <a:rPr lang="en-US" sz="1762" b="true">
                <a:solidFill>
                  <a:srgbClr val="001C4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Managers, Team Leaders, Team Members, and Clients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8267700" y="7924800"/>
            <a:ext cx="7848600" cy="1933575"/>
          </a:xfrm>
          <a:custGeom>
            <a:avLst/>
            <a:gdLst/>
            <a:ahLst/>
            <a:cxnLst/>
            <a:rect r="r" b="b" t="t" l="l"/>
            <a:pathLst>
              <a:path h="1933575" w="7848600">
                <a:moveTo>
                  <a:pt x="0" y="0"/>
                </a:moveTo>
                <a:lnTo>
                  <a:pt x="7848600" y="0"/>
                </a:lnTo>
                <a:lnTo>
                  <a:pt x="7848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8267700" y="7924800"/>
            <a:ext cx="228600" cy="1933575"/>
          </a:xfrm>
          <a:custGeom>
            <a:avLst/>
            <a:gdLst/>
            <a:ahLst/>
            <a:cxnLst/>
            <a:rect r="r" b="b" t="t" l="l"/>
            <a:pathLst>
              <a:path h="1933575" w="228600">
                <a:moveTo>
                  <a:pt x="0" y="0"/>
                </a:moveTo>
                <a:lnTo>
                  <a:pt x="228600" y="0"/>
                </a:lnTo>
                <a:lnTo>
                  <a:pt x="228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8705850" y="8353425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8924925" y="85725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0204704" y="8301133"/>
            <a:ext cx="1481328" cy="322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1912" b="true">
                <a:solidFill>
                  <a:srgbClr val="001C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204704" y="8781097"/>
            <a:ext cx="4882896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0"/>
              </a:lnSpc>
            </a:pPr>
            <a:r>
              <a:rPr lang="en-US" sz="1762" b="true">
                <a:solidFill>
                  <a:srgbClr val="001C4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Flutter, ASP.NET Core (.NET 8), SQL Server, Python FastAPI, and Machine Learning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59536" y="507599"/>
            <a:ext cx="2724912" cy="23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b="true" sz="1373" spc="137">
                <a:solidFill>
                  <a:srgbClr val="2289FF">
                    <a:alpha val="69804"/>
                  </a:srgbClr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INTRODUCTION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7190720" y="507599"/>
            <a:ext cx="329184" cy="23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22"/>
              </a:lnSpc>
            </a:pPr>
            <a:r>
              <a:rPr lang="en-US" b="true" sz="1373" spc="137">
                <a:solidFill>
                  <a:srgbClr val="228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76262"/>
            <a:ext cx="6667500" cy="23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 spc="162">
                <a:solidFill>
                  <a:srgbClr val="4F6BF6"/>
                </a:solidFill>
                <a:latin typeface="DM Sans Bold"/>
                <a:ea typeface="DM Sans Bold"/>
                <a:cs typeface="DM Sans Bold"/>
                <a:sym typeface="DM Sans Bold"/>
              </a:rPr>
              <a:t>CHALLENGE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071562"/>
            <a:ext cx="13525500" cy="556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E2A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97250" y="600075"/>
            <a:ext cx="114300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b="true" sz="1500" spc="178">
                <a:solidFill>
                  <a:srgbClr val="4F6BF6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47902" y="1828800"/>
            <a:ext cx="16188538" cy="457200"/>
            <a:chOff x="0" y="0"/>
            <a:chExt cx="21584717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84718" cy="609600"/>
            </a:xfrm>
            <a:custGeom>
              <a:avLst/>
              <a:gdLst/>
              <a:ahLst/>
              <a:cxnLst/>
              <a:rect r="r" b="b" t="t" l="l"/>
              <a:pathLst>
                <a:path h="609600" w="21584718">
                  <a:moveTo>
                    <a:pt x="0" y="0"/>
                  </a:moveTo>
                  <a:lnTo>
                    <a:pt x="21584718" y="0"/>
                  </a:lnTo>
                  <a:lnTo>
                    <a:pt x="2158471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9926" r="0" b="-63992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84717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B6478"/>
                  </a:solidFill>
                  <a:latin typeface="Arial"/>
                  <a:ea typeface="Arial"/>
                  <a:cs typeface="Arial"/>
                  <a:sym typeface="Arial"/>
                </a:rPr>
                <a:t>Large and complex projects often face challenges that make effective management difficult.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7902" y="2514600"/>
            <a:ext cx="5486400" cy="274320"/>
            <a:chOff x="0" y="0"/>
            <a:chExt cx="7315200" cy="365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00" cy="365760"/>
            </a:xfrm>
            <a:custGeom>
              <a:avLst/>
              <a:gdLst/>
              <a:ahLst/>
              <a:cxnLst/>
              <a:rect r="r" b="b" t="t" l="l"/>
              <a:pathLst>
                <a:path h="3657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31520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9"/>
                </a:lnSpc>
              </a:pPr>
              <a:r>
                <a:rPr lang="en-US" b="true" sz="1299" spc="199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PROBLEMS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43140" y="2875598"/>
            <a:ext cx="10433685" cy="814197"/>
            <a:chOff x="0" y="0"/>
            <a:chExt cx="13911580" cy="10855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911580" cy="1085596"/>
            </a:xfrm>
            <a:custGeom>
              <a:avLst/>
              <a:gdLst/>
              <a:ahLst/>
              <a:cxnLst/>
              <a:rect r="r" b="b" t="t" l="l"/>
              <a:pathLst>
                <a:path h="1085596" w="1391158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13738861" y="0"/>
                  </a:lnTo>
                  <a:cubicBezTo>
                    <a:pt x="13834238" y="0"/>
                    <a:pt x="13911580" y="77343"/>
                    <a:pt x="13911580" y="172720"/>
                  </a:cubicBezTo>
                  <a:lnTo>
                    <a:pt x="13911580" y="912876"/>
                  </a:lnTo>
                  <a:cubicBezTo>
                    <a:pt x="13911580" y="1008253"/>
                    <a:pt x="13834238" y="1085596"/>
                    <a:pt x="13738861" y="1085596"/>
                  </a:cubicBezTo>
                  <a:lnTo>
                    <a:pt x="172720" y="1085596"/>
                  </a:lnTo>
                  <a:cubicBezTo>
                    <a:pt x="77343" y="1085596"/>
                    <a:pt x="0" y="1008253"/>
                    <a:pt x="0" y="912876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03934" y="3035808"/>
            <a:ext cx="493776" cy="493776"/>
            <a:chOff x="0" y="0"/>
            <a:chExt cx="658368" cy="6583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4F6BF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99462" y="2880360"/>
            <a:ext cx="9144000" cy="804672"/>
            <a:chOff x="0" y="0"/>
            <a:chExt cx="12192000" cy="10728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920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219200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A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Tasks and responsibilities are fragmented</a:t>
              </a:r>
              <a:r>
                <a:rPr lang="en-US" sz="1800">
                  <a:solidFill>
                    <a:srgbClr val="5B6478"/>
                  </a:solidFill>
                  <a:latin typeface="Arial"/>
                  <a:ea typeface="Arial"/>
                  <a:cs typeface="Arial"/>
                  <a:sym typeface="Arial"/>
                </a:rPr>
                <a:t> across different tools and team members.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43140" y="3854006"/>
            <a:ext cx="10433685" cy="814197"/>
            <a:chOff x="0" y="0"/>
            <a:chExt cx="13911580" cy="10855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911580" cy="1085596"/>
            </a:xfrm>
            <a:custGeom>
              <a:avLst/>
              <a:gdLst/>
              <a:ahLst/>
              <a:cxnLst/>
              <a:rect r="r" b="b" t="t" l="l"/>
              <a:pathLst>
                <a:path h="1085596" w="1391158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13738861" y="0"/>
                  </a:lnTo>
                  <a:cubicBezTo>
                    <a:pt x="13834238" y="0"/>
                    <a:pt x="13911580" y="77343"/>
                    <a:pt x="13911580" y="172720"/>
                  </a:cubicBezTo>
                  <a:lnTo>
                    <a:pt x="13911580" y="912876"/>
                  </a:lnTo>
                  <a:cubicBezTo>
                    <a:pt x="13911580" y="1008253"/>
                    <a:pt x="13834238" y="1085596"/>
                    <a:pt x="13738861" y="1085596"/>
                  </a:cubicBezTo>
                  <a:lnTo>
                    <a:pt x="172720" y="1085596"/>
                  </a:lnTo>
                  <a:cubicBezTo>
                    <a:pt x="77343" y="1085596"/>
                    <a:pt x="0" y="1008253"/>
                    <a:pt x="0" y="912876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03934" y="4014216"/>
            <a:ext cx="493776" cy="493776"/>
            <a:chOff x="0" y="0"/>
            <a:chExt cx="658368" cy="6583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099462" y="3858768"/>
            <a:ext cx="9144000" cy="804672"/>
            <a:chOff x="0" y="0"/>
            <a:chExt cx="12192000" cy="10728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1920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219200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A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Dependencies between tasks</a:t>
              </a:r>
              <a:r>
                <a:rPr lang="en-US" sz="1800">
                  <a:solidFill>
                    <a:srgbClr val="5B6478"/>
                  </a:solidFill>
                  <a:latin typeface="Arial"/>
                  <a:ea typeface="Arial"/>
                  <a:cs typeface="Arial"/>
                  <a:sym typeface="Arial"/>
                </a:rPr>
                <a:t> are difficult to track.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43140" y="4832414"/>
            <a:ext cx="10433685" cy="814197"/>
            <a:chOff x="0" y="0"/>
            <a:chExt cx="13911580" cy="10855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911580" cy="1085596"/>
            </a:xfrm>
            <a:custGeom>
              <a:avLst/>
              <a:gdLst/>
              <a:ahLst/>
              <a:cxnLst/>
              <a:rect r="r" b="b" t="t" l="l"/>
              <a:pathLst>
                <a:path h="1085596" w="1391158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13738861" y="0"/>
                  </a:lnTo>
                  <a:cubicBezTo>
                    <a:pt x="13834238" y="0"/>
                    <a:pt x="13911580" y="77343"/>
                    <a:pt x="13911580" y="172720"/>
                  </a:cubicBezTo>
                  <a:lnTo>
                    <a:pt x="13911580" y="912876"/>
                  </a:lnTo>
                  <a:cubicBezTo>
                    <a:pt x="13911580" y="1008253"/>
                    <a:pt x="13834238" y="1085596"/>
                    <a:pt x="13738861" y="1085596"/>
                  </a:cubicBezTo>
                  <a:lnTo>
                    <a:pt x="172720" y="1085596"/>
                  </a:lnTo>
                  <a:cubicBezTo>
                    <a:pt x="77343" y="1085596"/>
                    <a:pt x="0" y="1008253"/>
                    <a:pt x="0" y="912876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303934" y="4992624"/>
            <a:ext cx="493776" cy="493776"/>
            <a:chOff x="0" y="0"/>
            <a:chExt cx="658368" cy="6583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E0468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099462" y="4837176"/>
            <a:ext cx="9144000" cy="804672"/>
            <a:chOff x="0" y="0"/>
            <a:chExt cx="12192000" cy="10728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1920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219200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A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managers may lack real-time visibility</a:t>
              </a:r>
              <a:r>
                <a:rPr lang="en-US" sz="1800">
                  <a:solidFill>
                    <a:srgbClr val="5B6478"/>
                  </a:solidFill>
                  <a:latin typeface="Arial"/>
                  <a:ea typeface="Arial"/>
                  <a:cs typeface="Arial"/>
                  <a:sym typeface="Arial"/>
                </a:rPr>
                <a:t> into project progress.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43140" y="5810821"/>
            <a:ext cx="10433685" cy="814197"/>
            <a:chOff x="0" y="0"/>
            <a:chExt cx="13911580" cy="10855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911580" cy="1085596"/>
            </a:xfrm>
            <a:custGeom>
              <a:avLst/>
              <a:gdLst/>
              <a:ahLst/>
              <a:cxnLst/>
              <a:rect r="r" b="b" t="t" l="l"/>
              <a:pathLst>
                <a:path h="1085596" w="1391158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13738861" y="0"/>
                  </a:lnTo>
                  <a:cubicBezTo>
                    <a:pt x="13834238" y="0"/>
                    <a:pt x="13911580" y="77343"/>
                    <a:pt x="13911580" y="172720"/>
                  </a:cubicBezTo>
                  <a:lnTo>
                    <a:pt x="13911580" y="912876"/>
                  </a:lnTo>
                  <a:cubicBezTo>
                    <a:pt x="13911580" y="1008253"/>
                    <a:pt x="13834238" y="1085596"/>
                    <a:pt x="13738861" y="1085596"/>
                  </a:cubicBezTo>
                  <a:lnTo>
                    <a:pt x="172720" y="1085596"/>
                  </a:lnTo>
                  <a:cubicBezTo>
                    <a:pt x="77343" y="1085596"/>
                    <a:pt x="0" y="1008253"/>
                    <a:pt x="0" y="912876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303934" y="5971032"/>
            <a:ext cx="493776" cy="493776"/>
            <a:chOff x="0" y="0"/>
            <a:chExt cx="658368" cy="6583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4F6BF6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099462" y="5815584"/>
            <a:ext cx="9144000" cy="804672"/>
            <a:chOff x="0" y="0"/>
            <a:chExt cx="12192000" cy="10728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1920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219200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A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Risks and potential delays</a:t>
              </a:r>
              <a:r>
                <a:rPr lang="en-US" sz="1800">
                  <a:solidFill>
                    <a:srgbClr val="5B6478"/>
                  </a:solidFill>
                  <a:latin typeface="Arial"/>
                  <a:ea typeface="Arial"/>
                  <a:cs typeface="Arial"/>
                  <a:sym typeface="Arial"/>
                </a:rPr>
                <a:t> are often identified too late.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43140" y="6789230"/>
            <a:ext cx="10433685" cy="814197"/>
            <a:chOff x="0" y="0"/>
            <a:chExt cx="13911580" cy="10855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911580" cy="1085596"/>
            </a:xfrm>
            <a:custGeom>
              <a:avLst/>
              <a:gdLst/>
              <a:ahLst/>
              <a:cxnLst/>
              <a:rect r="r" b="b" t="t" l="l"/>
              <a:pathLst>
                <a:path h="1085596" w="1391158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13738861" y="0"/>
                  </a:lnTo>
                  <a:cubicBezTo>
                    <a:pt x="13834238" y="0"/>
                    <a:pt x="13911580" y="77343"/>
                    <a:pt x="13911580" y="172720"/>
                  </a:cubicBezTo>
                  <a:lnTo>
                    <a:pt x="13911580" y="912876"/>
                  </a:lnTo>
                  <a:cubicBezTo>
                    <a:pt x="13911580" y="1008253"/>
                    <a:pt x="13834238" y="1085596"/>
                    <a:pt x="13738861" y="1085596"/>
                  </a:cubicBezTo>
                  <a:lnTo>
                    <a:pt x="172720" y="1085596"/>
                  </a:lnTo>
                  <a:cubicBezTo>
                    <a:pt x="77343" y="1085596"/>
                    <a:pt x="0" y="1008253"/>
                    <a:pt x="0" y="912876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303934" y="6949440"/>
            <a:ext cx="493776" cy="493776"/>
            <a:chOff x="0" y="0"/>
            <a:chExt cx="658368" cy="65836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099462" y="6793992"/>
            <a:ext cx="9144000" cy="804672"/>
            <a:chOff x="0" y="0"/>
            <a:chExt cx="12192000" cy="10728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1920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1219200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A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Creating progress reports is time-consuming</a:t>
              </a:r>
              <a:r>
                <a:rPr lang="en-US" sz="1800">
                  <a:solidFill>
                    <a:srgbClr val="5B6478"/>
                  </a:solidFill>
                  <a:latin typeface="Arial"/>
                  <a:ea typeface="Arial"/>
                  <a:cs typeface="Arial"/>
                  <a:sym typeface="Arial"/>
                </a:rPr>
                <a:t> and often manual.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43140" y="7767638"/>
            <a:ext cx="10433685" cy="814197"/>
            <a:chOff x="0" y="0"/>
            <a:chExt cx="13911580" cy="108559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911580" cy="1085596"/>
            </a:xfrm>
            <a:custGeom>
              <a:avLst/>
              <a:gdLst/>
              <a:ahLst/>
              <a:cxnLst/>
              <a:rect r="r" b="b" t="t" l="l"/>
              <a:pathLst>
                <a:path h="1085596" w="1391158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13738861" y="0"/>
                  </a:lnTo>
                  <a:cubicBezTo>
                    <a:pt x="13834238" y="0"/>
                    <a:pt x="13911580" y="77343"/>
                    <a:pt x="13911580" y="172720"/>
                  </a:cubicBezTo>
                  <a:lnTo>
                    <a:pt x="13911580" y="912876"/>
                  </a:lnTo>
                  <a:cubicBezTo>
                    <a:pt x="13911580" y="1008253"/>
                    <a:pt x="13834238" y="1085596"/>
                    <a:pt x="13738861" y="1085596"/>
                  </a:cubicBezTo>
                  <a:lnTo>
                    <a:pt x="172720" y="1085596"/>
                  </a:lnTo>
                  <a:cubicBezTo>
                    <a:pt x="77343" y="1085596"/>
                    <a:pt x="0" y="1008253"/>
                    <a:pt x="0" y="912876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303934" y="7927848"/>
            <a:ext cx="493776" cy="493776"/>
            <a:chOff x="0" y="0"/>
            <a:chExt cx="658368" cy="65836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E0468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099462" y="7772400"/>
            <a:ext cx="9144000" cy="804672"/>
            <a:chOff x="0" y="0"/>
            <a:chExt cx="12192000" cy="107289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1920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219200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A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Bottlenecks can remain hidden</a:t>
              </a:r>
              <a:r>
                <a:rPr lang="en-US" sz="1800">
                  <a:solidFill>
                    <a:srgbClr val="5B6478"/>
                  </a:solidFill>
                  <a:latin typeface="Arial"/>
                  <a:ea typeface="Arial"/>
                  <a:cs typeface="Arial"/>
                  <a:sym typeface="Arial"/>
                </a:rPr>
                <a:t> until they affect the project timeline.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43140" y="8746046"/>
            <a:ext cx="10433685" cy="814197"/>
            <a:chOff x="0" y="0"/>
            <a:chExt cx="13911580" cy="108559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911580" cy="1085596"/>
            </a:xfrm>
            <a:custGeom>
              <a:avLst/>
              <a:gdLst/>
              <a:ahLst/>
              <a:cxnLst/>
              <a:rect r="r" b="b" t="t" l="l"/>
              <a:pathLst>
                <a:path h="1085596" w="1391158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13738861" y="0"/>
                  </a:lnTo>
                  <a:cubicBezTo>
                    <a:pt x="13834238" y="0"/>
                    <a:pt x="13911580" y="77343"/>
                    <a:pt x="13911580" y="172720"/>
                  </a:cubicBezTo>
                  <a:lnTo>
                    <a:pt x="13911580" y="912876"/>
                  </a:lnTo>
                  <a:cubicBezTo>
                    <a:pt x="13911580" y="1008253"/>
                    <a:pt x="13834238" y="1085596"/>
                    <a:pt x="13738861" y="1085596"/>
                  </a:cubicBezTo>
                  <a:lnTo>
                    <a:pt x="172720" y="1085596"/>
                  </a:lnTo>
                  <a:cubicBezTo>
                    <a:pt x="77343" y="1085596"/>
                    <a:pt x="0" y="1008253"/>
                    <a:pt x="0" y="912876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303934" y="8906256"/>
            <a:ext cx="493776" cy="493776"/>
            <a:chOff x="0" y="0"/>
            <a:chExt cx="658368" cy="65836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4F6BF6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099462" y="8750808"/>
            <a:ext cx="9144000" cy="804672"/>
            <a:chOff x="0" y="0"/>
            <a:chExt cx="12192000" cy="107289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1920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1219200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A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Uneven workload distribution</a:t>
              </a:r>
              <a:r>
                <a:rPr lang="en-US" sz="1800">
                  <a:solidFill>
                    <a:srgbClr val="5B6478"/>
                  </a:solidFill>
                  <a:latin typeface="Arial"/>
                  <a:ea typeface="Arial"/>
                  <a:cs typeface="Arial"/>
                  <a:sym typeface="Arial"/>
                </a:rPr>
                <a:t> can reduce team efficiency.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929262" y="2880360"/>
            <a:ext cx="5307178" cy="6675120"/>
            <a:chOff x="0" y="0"/>
            <a:chExt cx="7076237" cy="89001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076313" cy="8900160"/>
            </a:xfrm>
            <a:custGeom>
              <a:avLst/>
              <a:gdLst/>
              <a:ahLst/>
              <a:cxnLst/>
              <a:rect r="r" b="b" t="t" l="l"/>
              <a:pathLst>
                <a:path h="8900160" w="7076313">
                  <a:moveTo>
                    <a:pt x="0" y="268224"/>
                  </a:moveTo>
                  <a:cubicBezTo>
                    <a:pt x="0" y="120015"/>
                    <a:pt x="120015" y="0"/>
                    <a:pt x="268224" y="0"/>
                  </a:cubicBezTo>
                  <a:lnTo>
                    <a:pt x="6808089" y="0"/>
                  </a:lnTo>
                  <a:cubicBezTo>
                    <a:pt x="6956171" y="0"/>
                    <a:pt x="7076313" y="120015"/>
                    <a:pt x="7076313" y="268224"/>
                  </a:cubicBezTo>
                  <a:lnTo>
                    <a:pt x="7076313" y="8631936"/>
                  </a:lnTo>
                  <a:cubicBezTo>
                    <a:pt x="7076313" y="8780018"/>
                    <a:pt x="6956298" y="8900160"/>
                    <a:pt x="6808089" y="8900160"/>
                  </a:cubicBezTo>
                  <a:lnTo>
                    <a:pt x="268224" y="8900160"/>
                  </a:lnTo>
                  <a:cubicBezTo>
                    <a:pt x="120015" y="8900160"/>
                    <a:pt x="0" y="8780145"/>
                    <a:pt x="0" y="8631936"/>
                  </a:cubicBezTo>
                  <a:close/>
                </a:path>
              </a:pathLst>
            </a:custGeom>
            <a:solidFill>
              <a:srgbClr val="1E2A4A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2432182" y="3383280"/>
            <a:ext cx="868680" cy="868680"/>
            <a:chOff x="0" y="0"/>
            <a:chExt cx="1158240" cy="11582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58240" cy="1158240"/>
            </a:xfrm>
            <a:custGeom>
              <a:avLst/>
              <a:gdLst/>
              <a:ahLst/>
              <a:cxnLst/>
              <a:rect r="r" b="b" t="t" l="l"/>
              <a:pathLst>
                <a:path h="1158240" w="1158240">
                  <a:moveTo>
                    <a:pt x="0" y="579120"/>
                  </a:moveTo>
                  <a:cubicBezTo>
                    <a:pt x="0" y="259334"/>
                    <a:pt x="259334" y="0"/>
                    <a:pt x="579120" y="0"/>
                  </a:cubicBezTo>
                  <a:cubicBezTo>
                    <a:pt x="898906" y="0"/>
                    <a:pt x="1158240" y="259334"/>
                    <a:pt x="1158240" y="579120"/>
                  </a:cubicBezTo>
                  <a:cubicBezTo>
                    <a:pt x="1158240" y="898906"/>
                    <a:pt x="898906" y="1158240"/>
                    <a:pt x="579120" y="1158240"/>
                  </a:cubicBezTo>
                  <a:cubicBezTo>
                    <a:pt x="259334" y="1158240"/>
                    <a:pt x="0" y="898906"/>
                    <a:pt x="0" y="579120"/>
                  </a:cubicBezTo>
                  <a:close/>
                </a:path>
              </a:pathLst>
            </a:custGeom>
            <a:solidFill>
              <a:srgbClr val="E0468F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1158240" cy="118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!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432182" y="4572000"/>
            <a:ext cx="4301338" cy="320040"/>
            <a:chOff x="0" y="0"/>
            <a:chExt cx="5735117" cy="4267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735117" cy="426720"/>
            </a:xfrm>
            <a:custGeom>
              <a:avLst/>
              <a:gdLst/>
              <a:ahLst/>
              <a:cxnLst/>
              <a:rect r="r" b="b" t="t" l="l"/>
              <a:pathLst>
                <a:path h="426720" w="5735117">
                  <a:moveTo>
                    <a:pt x="0" y="0"/>
                  </a:moveTo>
                  <a:lnTo>
                    <a:pt x="5735117" y="0"/>
                  </a:lnTo>
                  <a:lnTo>
                    <a:pt x="5735117" y="426720"/>
                  </a:lnTo>
                  <a:lnTo>
                    <a:pt x="0" y="426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878" r="0" b="-21187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5735117" cy="445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b="true" sz="1400" spc="200">
                  <a:solidFill>
                    <a:srgbClr val="C4B5F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MAIN CHALLENGE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2432182" y="5036820"/>
            <a:ext cx="4301338" cy="305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4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Teams need a centralized way to understand what is happening in their projects and identify potential problems before they become critical.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2432182" y="8001000"/>
            <a:ext cx="3108960" cy="475488"/>
            <a:chOff x="0" y="0"/>
            <a:chExt cx="4145280" cy="63398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145280" cy="633984"/>
            </a:xfrm>
            <a:custGeom>
              <a:avLst/>
              <a:gdLst/>
              <a:ahLst/>
              <a:cxnLst/>
              <a:rect r="r" b="b" t="t" l="l"/>
              <a:pathLst>
                <a:path h="633984" w="4145280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3828288" y="0"/>
                  </a:lnTo>
                  <a:cubicBezTo>
                    <a:pt x="4003421" y="0"/>
                    <a:pt x="4145280" y="141859"/>
                    <a:pt x="4145280" y="316992"/>
                  </a:cubicBezTo>
                  <a:cubicBezTo>
                    <a:pt x="4145280" y="492125"/>
                    <a:pt x="4003421" y="633984"/>
                    <a:pt x="3828288" y="633984"/>
                  </a:cubicBezTo>
                  <a:lnTo>
                    <a:pt x="316992" y="633984"/>
                  </a:ln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4F6BF6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4145280" cy="653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Centralized visibility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432182" y="8641080"/>
            <a:ext cx="3566160" cy="475488"/>
            <a:chOff x="0" y="0"/>
            <a:chExt cx="4754880" cy="63398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754880" cy="633984"/>
            </a:xfrm>
            <a:custGeom>
              <a:avLst/>
              <a:gdLst/>
              <a:ahLst/>
              <a:cxnLst/>
              <a:rect r="r" b="b" t="t" l="l"/>
              <a:pathLst>
                <a:path h="633984" w="4754880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4437888" y="0"/>
                  </a:lnTo>
                  <a:cubicBezTo>
                    <a:pt x="4613021" y="0"/>
                    <a:pt x="4754880" y="141859"/>
                    <a:pt x="4754880" y="316992"/>
                  </a:cubicBezTo>
                  <a:cubicBezTo>
                    <a:pt x="4754880" y="492125"/>
                    <a:pt x="4613021" y="633984"/>
                    <a:pt x="4437888" y="633984"/>
                  </a:cubicBezTo>
                  <a:lnTo>
                    <a:pt x="316992" y="633984"/>
                  </a:ln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4754880" cy="653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Early problem detection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76262"/>
            <a:ext cx="6667500" cy="23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 spc="162">
                <a:solidFill>
                  <a:srgbClr val="4F6BF6"/>
                </a:solidFill>
                <a:latin typeface="DM Sans Bold"/>
                <a:ea typeface="DM Sans Bold"/>
                <a:cs typeface="DM Sans Bold"/>
                <a:sym typeface="DM Sans Bold"/>
              </a:rPr>
              <a:t>TRANSFORMATION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071562"/>
            <a:ext cx="13525500" cy="556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E2A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Friction to Flow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97250" y="600075"/>
            <a:ext cx="114300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b="true" sz="1500" spc="178">
                <a:solidFill>
                  <a:srgbClr val="4F6BF6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43140" y="1915477"/>
            <a:ext cx="5313045" cy="3529965"/>
            <a:chOff x="0" y="0"/>
            <a:chExt cx="7084060" cy="47066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84060" cy="4706620"/>
            </a:xfrm>
            <a:custGeom>
              <a:avLst/>
              <a:gdLst/>
              <a:ahLst/>
              <a:cxnLst/>
              <a:rect r="r" b="b" t="t" l="l"/>
              <a:pathLst>
                <a:path h="4706620" w="7084060">
                  <a:moveTo>
                    <a:pt x="0" y="171196"/>
                  </a:moveTo>
                  <a:cubicBezTo>
                    <a:pt x="0" y="76581"/>
                    <a:pt x="76581" y="0"/>
                    <a:pt x="171196" y="0"/>
                  </a:cubicBezTo>
                  <a:lnTo>
                    <a:pt x="6912864" y="0"/>
                  </a:lnTo>
                  <a:cubicBezTo>
                    <a:pt x="7007352" y="0"/>
                    <a:pt x="7084060" y="76581"/>
                    <a:pt x="7084060" y="171196"/>
                  </a:cubicBezTo>
                  <a:lnTo>
                    <a:pt x="7084060" y="4535424"/>
                  </a:lnTo>
                  <a:cubicBezTo>
                    <a:pt x="7084060" y="4629912"/>
                    <a:pt x="7007479" y="4706620"/>
                    <a:pt x="6912864" y="4706620"/>
                  </a:cubicBezTo>
                  <a:lnTo>
                    <a:pt x="171196" y="4706620"/>
                  </a:lnTo>
                  <a:cubicBezTo>
                    <a:pt x="76581" y="4706620"/>
                    <a:pt x="0" y="4630039"/>
                    <a:pt x="0" y="4535424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22222" y="2148840"/>
            <a:ext cx="4754880" cy="411480"/>
            <a:chOff x="0" y="0"/>
            <a:chExt cx="633984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39840" cy="548640"/>
            </a:xfrm>
            <a:custGeom>
              <a:avLst/>
              <a:gdLst/>
              <a:ahLst/>
              <a:cxnLst/>
              <a:rect r="r" b="b" t="t" l="l"/>
              <a:pathLst>
                <a:path h="5486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160" r="0" b="-1751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63398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4F6B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Goals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22222" y="2724150"/>
            <a:ext cx="4754880" cy="2625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sz="1500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Centralize project and task management in one platform.</a:t>
            </a:r>
          </a:p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sz="1500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Improve visibility into project progress and team workload.</a:t>
            </a:r>
          </a:p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sz="1500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Identify project risks, delays, and bottlenecks early.</a:t>
            </a:r>
          </a:p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sz="1500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Use AI to transform project data into actionable insights.</a:t>
            </a:r>
          </a:p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sz="1500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Reduce manual project monitoring and reporting.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620980" y="1915477"/>
            <a:ext cx="6593205" cy="3529965"/>
            <a:chOff x="0" y="0"/>
            <a:chExt cx="8790940" cy="47066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790939" cy="4706620"/>
            </a:xfrm>
            <a:custGeom>
              <a:avLst/>
              <a:gdLst/>
              <a:ahLst/>
              <a:cxnLst/>
              <a:rect r="r" b="b" t="t" l="l"/>
              <a:pathLst>
                <a:path h="4706620" w="8790939">
                  <a:moveTo>
                    <a:pt x="0" y="171196"/>
                  </a:moveTo>
                  <a:cubicBezTo>
                    <a:pt x="0" y="76581"/>
                    <a:pt x="76581" y="0"/>
                    <a:pt x="171196" y="0"/>
                  </a:cubicBezTo>
                  <a:lnTo>
                    <a:pt x="8619744" y="0"/>
                  </a:lnTo>
                  <a:cubicBezTo>
                    <a:pt x="8714232" y="0"/>
                    <a:pt x="8790939" y="76581"/>
                    <a:pt x="8790939" y="171196"/>
                  </a:cubicBezTo>
                  <a:lnTo>
                    <a:pt x="8790939" y="4535424"/>
                  </a:lnTo>
                  <a:cubicBezTo>
                    <a:pt x="8790939" y="4629912"/>
                    <a:pt x="8714359" y="4706620"/>
                    <a:pt x="8619744" y="4706620"/>
                  </a:cubicBezTo>
                  <a:lnTo>
                    <a:pt x="171196" y="4706620"/>
                  </a:lnTo>
                  <a:cubicBezTo>
                    <a:pt x="76581" y="4706620"/>
                    <a:pt x="0" y="4630039"/>
                    <a:pt x="0" y="4535424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900062" y="2148840"/>
            <a:ext cx="6035040" cy="411480"/>
            <a:chOff x="0" y="0"/>
            <a:chExt cx="804672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46720" cy="548640"/>
            </a:xfrm>
            <a:custGeom>
              <a:avLst/>
              <a:gdLst/>
              <a:ahLst/>
              <a:cxnLst/>
              <a:rect r="r" b="b" t="t" l="l"/>
              <a:pathLst>
                <a:path h="5486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80467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Main Features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900062" y="2724150"/>
            <a:ext cx="2926080" cy="157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sz="1500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Project and task management</a:t>
            </a:r>
          </a:p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sz="1500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Kanban and Gantt project tracking</a:t>
            </a:r>
          </a:p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sz="1500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Task dependencies</a:t>
            </a:r>
          </a:p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sz="1500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AI Risk Analysis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09022" y="2724150"/>
            <a:ext cx="2926080" cy="157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sz="1500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AI Delay Prediction</a:t>
            </a:r>
          </a:p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sz="1500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AI Bottleneck Detection</a:t>
            </a:r>
          </a:p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sz="1500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AI Project Health Analysis</a:t>
            </a:r>
          </a:p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sz="1500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AI-generated insights and recommendations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900062" y="4434840"/>
            <a:ext cx="6035040" cy="777240"/>
            <a:chOff x="0" y="0"/>
            <a:chExt cx="8046720" cy="1036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46720" cy="1036320"/>
            </a:xfrm>
            <a:custGeom>
              <a:avLst/>
              <a:gdLst/>
              <a:ahLst/>
              <a:cxnLst/>
              <a:rect r="r" b="b" t="t" l="l"/>
              <a:pathLst>
                <a:path h="1036320" w="8046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900416" y="0"/>
                  </a:lnTo>
                  <a:cubicBezTo>
                    <a:pt x="7981188" y="0"/>
                    <a:pt x="8046720" y="65532"/>
                    <a:pt x="8046720" y="146304"/>
                  </a:cubicBezTo>
                  <a:lnTo>
                    <a:pt x="8046720" y="890016"/>
                  </a:lnTo>
                  <a:cubicBezTo>
                    <a:pt x="8046720" y="970788"/>
                    <a:pt x="7981188" y="1036320"/>
                    <a:pt x="7900416" y="1036320"/>
                  </a:cubicBezTo>
                  <a:lnTo>
                    <a:pt x="146304" y="1036320"/>
                  </a:lnTo>
                  <a:cubicBezTo>
                    <a:pt x="65532" y="1036320"/>
                    <a:pt x="0" y="970788"/>
                    <a:pt x="0" y="890016"/>
                  </a:cubicBezTo>
                  <a:close/>
                </a:path>
              </a:pathLst>
            </a:custGeom>
            <a:solidFill>
              <a:srgbClr val="EEF0F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8046720" cy="1055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1E2A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Role-Based Access Control </a:t>
              </a:r>
              <a:r>
                <a:rPr lang="en-US" sz="1400">
                  <a:solidFill>
                    <a:srgbClr val="1E2A4A"/>
                  </a:solidFill>
                  <a:latin typeface="Arial"/>
                  <a:ea typeface="Arial"/>
                  <a:cs typeface="Arial"/>
                  <a:sym typeface="Arial"/>
                </a:rPr>
                <a:t>for Project Manager, Team Leader, Team Member, and Client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478980" y="1915477"/>
            <a:ext cx="3762223" cy="3529965"/>
            <a:chOff x="0" y="0"/>
            <a:chExt cx="5016297" cy="47066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16373" cy="4706620"/>
            </a:xfrm>
            <a:custGeom>
              <a:avLst/>
              <a:gdLst/>
              <a:ahLst/>
              <a:cxnLst/>
              <a:rect r="r" b="b" t="t" l="l"/>
              <a:pathLst>
                <a:path h="4706620" w="5016373">
                  <a:moveTo>
                    <a:pt x="0" y="171196"/>
                  </a:moveTo>
                  <a:cubicBezTo>
                    <a:pt x="0" y="76581"/>
                    <a:pt x="76581" y="0"/>
                    <a:pt x="171196" y="0"/>
                  </a:cubicBezTo>
                  <a:lnTo>
                    <a:pt x="4845177" y="0"/>
                  </a:lnTo>
                  <a:cubicBezTo>
                    <a:pt x="4939665" y="0"/>
                    <a:pt x="5016373" y="76581"/>
                    <a:pt x="5016373" y="171196"/>
                  </a:cubicBezTo>
                  <a:lnTo>
                    <a:pt x="5016373" y="4535424"/>
                  </a:lnTo>
                  <a:cubicBezTo>
                    <a:pt x="5016373" y="4629912"/>
                    <a:pt x="4939792" y="4706620"/>
                    <a:pt x="4845177" y="4706620"/>
                  </a:cubicBezTo>
                  <a:lnTo>
                    <a:pt x="171196" y="4706620"/>
                  </a:lnTo>
                  <a:cubicBezTo>
                    <a:pt x="76581" y="4706620"/>
                    <a:pt x="0" y="4630039"/>
                    <a:pt x="0" y="4535424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758062" y="2148840"/>
            <a:ext cx="3204058" cy="411480"/>
            <a:chOff x="0" y="0"/>
            <a:chExt cx="4272077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72077" cy="548640"/>
            </a:xfrm>
            <a:custGeom>
              <a:avLst/>
              <a:gdLst/>
              <a:ahLst/>
              <a:cxnLst/>
              <a:rect r="r" b="b" t="t" l="l"/>
              <a:pathLst>
                <a:path h="548640" w="4272077">
                  <a:moveTo>
                    <a:pt x="0" y="0"/>
                  </a:moveTo>
                  <a:lnTo>
                    <a:pt x="4272077" y="0"/>
                  </a:lnTo>
                  <a:lnTo>
                    <a:pt x="4272077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23" r="0" b="-10172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4272077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0468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System Architecture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758062" y="2743200"/>
            <a:ext cx="3204058" cy="329184"/>
            <a:chOff x="0" y="0"/>
            <a:chExt cx="4272077" cy="43891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72026" cy="438912"/>
            </a:xfrm>
            <a:custGeom>
              <a:avLst/>
              <a:gdLst/>
              <a:ahLst/>
              <a:cxnLst/>
              <a:rect r="r" b="b" t="t" l="l"/>
              <a:pathLst>
                <a:path h="438912" w="4272026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052570" y="0"/>
                  </a:lnTo>
                  <a:cubicBezTo>
                    <a:pt x="4173728" y="0"/>
                    <a:pt x="4272026" y="98298"/>
                    <a:pt x="4272026" y="219456"/>
                  </a:cubicBezTo>
                  <a:cubicBezTo>
                    <a:pt x="4272026" y="340614"/>
                    <a:pt x="4173728" y="438912"/>
                    <a:pt x="4052570" y="438912"/>
                  </a:cubicBezTo>
                  <a:lnTo>
                    <a:pt x="219456" y="438912"/>
                  </a:ln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4F6BF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4272077" cy="457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Flutter Mobile App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259507" y="3090672"/>
            <a:ext cx="201168" cy="109728"/>
            <a:chOff x="0" y="0"/>
            <a:chExt cx="268224" cy="1463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68224" cy="146304"/>
            </a:xfrm>
            <a:custGeom>
              <a:avLst/>
              <a:gdLst/>
              <a:ahLst/>
              <a:cxnLst/>
              <a:rect r="r" b="b" t="t" l="l"/>
              <a:pathLst>
                <a:path h="146304" w="268224">
                  <a:moveTo>
                    <a:pt x="0" y="73152"/>
                  </a:moveTo>
                  <a:lnTo>
                    <a:pt x="67056" y="73152"/>
                  </a:lnTo>
                  <a:lnTo>
                    <a:pt x="67056" y="0"/>
                  </a:lnTo>
                  <a:lnTo>
                    <a:pt x="201168" y="0"/>
                  </a:lnTo>
                  <a:lnTo>
                    <a:pt x="201168" y="73152"/>
                  </a:lnTo>
                  <a:lnTo>
                    <a:pt x="268224" y="73152"/>
                  </a:lnTo>
                  <a:lnTo>
                    <a:pt x="134112" y="146304"/>
                  </a:lnTo>
                  <a:close/>
                </a:path>
              </a:pathLst>
            </a:custGeom>
            <a:solidFill>
              <a:srgbClr val="5B6478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758062" y="3218688"/>
            <a:ext cx="3204058" cy="329184"/>
            <a:chOff x="0" y="0"/>
            <a:chExt cx="4272077" cy="43891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72026" cy="438912"/>
            </a:xfrm>
            <a:custGeom>
              <a:avLst/>
              <a:gdLst/>
              <a:ahLst/>
              <a:cxnLst/>
              <a:rect r="r" b="b" t="t" l="l"/>
              <a:pathLst>
                <a:path h="438912" w="4272026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052570" y="0"/>
                  </a:lnTo>
                  <a:cubicBezTo>
                    <a:pt x="4173728" y="0"/>
                    <a:pt x="4272026" y="98298"/>
                    <a:pt x="4272026" y="219456"/>
                  </a:cubicBezTo>
                  <a:cubicBezTo>
                    <a:pt x="4272026" y="340614"/>
                    <a:pt x="4173728" y="438912"/>
                    <a:pt x="4052570" y="438912"/>
                  </a:cubicBezTo>
                  <a:lnTo>
                    <a:pt x="219456" y="438912"/>
                  </a:ln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272077" cy="457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ASP.NET Core (.NET 8) Backend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5259507" y="3566160"/>
            <a:ext cx="201168" cy="109728"/>
            <a:chOff x="0" y="0"/>
            <a:chExt cx="268224" cy="14630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68224" cy="146304"/>
            </a:xfrm>
            <a:custGeom>
              <a:avLst/>
              <a:gdLst/>
              <a:ahLst/>
              <a:cxnLst/>
              <a:rect r="r" b="b" t="t" l="l"/>
              <a:pathLst>
                <a:path h="146304" w="268224">
                  <a:moveTo>
                    <a:pt x="0" y="73152"/>
                  </a:moveTo>
                  <a:lnTo>
                    <a:pt x="67056" y="73152"/>
                  </a:lnTo>
                  <a:lnTo>
                    <a:pt x="67056" y="0"/>
                  </a:lnTo>
                  <a:lnTo>
                    <a:pt x="201168" y="0"/>
                  </a:lnTo>
                  <a:lnTo>
                    <a:pt x="201168" y="73152"/>
                  </a:lnTo>
                  <a:lnTo>
                    <a:pt x="268224" y="73152"/>
                  </a:lnTo>
                  <a:lnTo>
                    <a:pt x="134112" y="146304"/>
                  </a:lnTo>
                  <a:close/>
                </a:path>
              </a:pathLst>
            </a:custGeom>
            <a:solidFill>
              <a:srgbClr val="5B6478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758062" y="3694176"/>
            <a:ext cx="3204058" cy="329184"/>
            <a:chOff x="0" y="0"/>
            <a:chExt cx="4272077" cy="43891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72026" cy="438912"/>
            </a:xfrm>
            <a:custGeom>
              <a:avLst/>
              <a:gdLst/>
              <a:ahLst/>
              <a:cxnLst/>
              <a:rect r="r" b="b" t="t" l="l"/>
              <a:pathLst>
                <a:path h="438912" w="4272026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052570" y="0"/>
                  </a:lnTo>
                  <a:cubicBezTo>
                    <a:pt x="4173728" y="0"/>
                    <a:pt x="4272026" y="98298"/>
                    <a:pt x="4272026" y="219456"/>
                  </a:cubicBezTo>
                  <a:cubicBezTo>
                    <a:pt x="4272026" y="340614"/>
                    <a:pt x="4173728" y="438912"/>
                    <a:pt x="4052570" y="438912"/>
                  </a:cubicBezTo>
                  <a:lnTo>
                    <a:pt x="219456" y="438912"/>
                  </a:ln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E0468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4272077" cy="457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SQL Server Database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5259507" y="4041648"/>
            <a:ext cx="201168" cy="109728"/>
            <a:chOff x="0" y="0"/>
            <a:chExt cx="268224" cy="14630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68224" cy="146304"/>
            </a:xfrm>
            <a:custGeom>
              <a:avLst/>
              <a:gdLst/>
              <a:ahLst/>
              <a:cxnLst/>
              <a:rect r="r" b="b" t="t" l="l"/>
              <a:pathLst>
                <a:path h="146304" w="268224">
                  <a:moveTo>
                    <a:pt x="0" y="73152"/>
                  </a:moveTo>
                  <a:lnTo>
                    <a:pt x="67056" y="73152"/>
                  </a:lnTo>
                  <a:lnTo>
                    <a:pt x="67056" y="0"/>
                  </a:lnTo>
                  <a:lnTo>
                    <a:pt x="201168" y="0"/>
                  </a:lnTo>
                  <a:lnTo>
                    <a:pt x="201168" y="73152"/>
                  </a:lnTo>
                  <a:lnTo>
                    <a:pt x="268224" y="73152"/>
                  </a:lnTo>
                  <a:lnTo>
                    <a:pt x="134112" y="146304"/>
                  </a:lnTo>
                  <a:close/>
                </a:path>
              </a:pathLst>
            </a:custGeom>
            <a:solidFill>
              <a:srgbClr val="5B647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758062" y="4169664"/>
            <a:ext cx="3204058" cy="329184"/>
            <a:chOff x="0" y="0"/>
            <a:chExt cx="4272077" cy="43891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272026" cy="438912"/>
            </a:xfrm>
            <a:custGeom>
              <a:avLst/>
              <a:gdLst/>
              <a:ahLst/>
              <a:cxnLst/>
              <a:rect r="r" b="b" t="t" l="l"/>
              <a:pathLst>
                <a:path h="438912" w="4272026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052570" y="0"/>
                  </a:lnTo>
                  <a:cubicBezTo>
                    <a:pt x="4173728" y="0"/>
                    <a:pt x="4272026" y="98298"/>
                    <a:pt x="4272026" y="219456"/>
                  </a:cubicBezTo>
                  <a:cubicBezTo>
                    <a:pt x="4272026" y="340614"/>
                    <a:pt x="4173728" y="438912"/>
                    <a:pt x="4052570" y="438912"/>
                  </a:cubicBezTo>
                  <a:lnTo>
                    <a:pt x="219456" y="438912"/>
                  </a:ln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E2A4A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4272077" cy="457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Python FastAPI AI/ML Services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758062" y="4626864"/>
            <a:ext cx="1556309" cy="274320"/>
            <a:chOff x="0" y="0"/>
            <a:chExt cx="2075078" cy="3657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75053" cy="365760"/>
            </a:xfrm>
            <a:custGeom>
              <a:avLst/>
              <a:gdLst/>
              <a:ahLst/>
              <a:cxnLst/>
              <a:rect r="r" b="b" t="t" l="l"/>
              <a:pathLst>
                <a:path h="365760" w="2075053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892173" y="0"/>
                  </a:lnTo>
                  <a:cubicBezTo>
                    <a:pt x="1993138" y="0"/>
                    <a:pt x="2075053" y="81915"/>
                    <a:pt x="2075053" y="182880"/>
                  </a:cubicBezTo>
                  <a:cubicBezTo>
                    <a:pt x="2075053" y="283845"/>
                    <a:pt x="1993138" y="365760"/>
                    <a:pt x="1892173" y="365760"/>
                  </a:cubicBezTo>
                  <a:lnTo>
                    <a:pt x="182880" y="365760"/>
                  </a:ln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EEF0FE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2075078" cy="384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20"/>
                </a:lnSpc>
              </a:pPr>
              <a:r>
                <a:rPr lang="en-US" sz="1100" b="true">
                  <a:solidFill>
                    <a:srgbClr val="1E2A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Risk Model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5405811" y="4626864"/>
            <a:ext cx="1556309" cy="274320"/>
            <a:chOff x="0" y="0"/>
            <a:chExt cx="2075078" cy="3657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75053" cy="365760"/>
            </a:xfrm>
            <a:custGeom>
              <a:avLst/>
              <a:gdLst/>
              <a:ahLst/>
              <a:cxnLst/>
              <a:rect r="r" b="b" t="t" l="l"/>
              <a:pathLst>
                <a:path h="365760" w="2075053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892173" y="0"/>
                  </a:lnTo>
                  <a:cubicBezTo>
                    <a:pt x="1993138" y="0"/>
                    <a:pt x="2075053" y="81915"/>
                    <a:pt x="2075053" y="182880"/>
                  </a:cubicBezTo>
                  <a:cubicBezTo>
                    <a:pt x="2075053" y="283845"/>
                    <a:pt x="1993138" y="365760"/>
                    <a:pt x="1892173" y="365760"/>
                  </a:cubicBezTo>
                  <a:lnTo>
                    <a:pt x="182880" y="365760"/>
                  </a:ln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EEF0FE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2075078" cy="384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20"/>
                </a:lnSpc>
              </a:pPr>
              <a:r>
                <a:rPr lang="en-US" sz="1100" b="true">
                  <a:solidFill>
                    <a:srgbClr val="1E2A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Delay Model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758062" y="4956048"/>
            <a:ext cx="1556309" cy="274320"/>
            <a:chOff x="0" y="0"/>
            <a:chExt cx="2075078" cy="3657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75053" cy="365760"/>
            </a:xfrm>
            <a:custGeom>
              <a:avLst/>
              <a:gdLst/>
              <a:ahLst/>
              <a:cxnLst/>
              <a:rect r="r" b="b" t="t" l="l"/>
              <a:pathLst>
                <a:path h="365760" w="2075053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892173" y="0"/>
                  </a:lnTo>
                  <a:cubicBezTo>
                    <a:pt x="1993138" y="0"/>
                    <a:pt x="2075053" y="81915"/>
                    <a:pt x="2075053" y="182880"/>
                  </a:cubicBezTo>
                  <a:cubicBezTo>
                    <a:pt x="2075053" y="283845"/>
                    <a:pt x="1993138" y="365760"/>
                    <a:pt x="1892173" y="365760"/>
                  </a:cubicBezTo>
                  <a:lnTo>
                    <a:pt x="182880" y="365760"/>
                  </a:ln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EEF0FE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2075078" cy="384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20"/>
                </a:lnSpc>
              </a:pPr>
              <a:r>
                <a:rPr lang="en-US" sz="1100" b="true">
                  <a:solidFill>
                    <a:srgbClr val="1E2A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Bottleneck Model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405811" y="4956048"/>
            <a:ext cx="1556309" cy="274320"/>
            <a:chOff x="0" y="0"/>
            <a:chExt cx="2075078" cy="3657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75053" cy="365760"/>
            </a:xfrm>
            <a:custGeom>
              <a:avLst/>
              <a:gdLst/>
              <a:ahLst/>
              <a:cxnLst/>
              <a:rect r="r" b="b" t="t" l="l"/>
              <a:pathLst>
                <a:path h="365760" w="2075053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892173" y="0"/>
                  </a:lnTo>
                  <a:cubicBezTo>
                    <a:pt x="1993138" y="0"/>
                    <a:pt x="2075053" y="81915"/>
                    <a:pt x="2075053" y="182880"/>
                  </a:cubicBezTo>
                  <a:cubicBezTo>
                    <a:pt x="2075053" y="283845"/>
                    <a:pt x="1993138" y="365760"/>
                    <a:pt x="1892173" y="365760"/>
                  </a:cubicBezTo>
                  <a:lnTo>
                    <a:pt x="182880" y="365760"/>
                  </a:ln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EEF0FE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2075078" cy="384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20"/>
                </a:lnSpc>
              </a:pPr>
              <a:r>
                <a:rPr lang="en-US" sz="1100" b="true">
                  <a:solidFill>
                    <a:srgbClr val="1E2A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Health Model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43140" y="5618797"/>
            <a:ext cx="5313045" cy="3118485"/>
            <a:chOff x="0" y="0"/>
            <a:chExt cx="7084060" cy="41579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084060" cy="4157980"/>
            </a:xfrm>
            <a:custGeom>
              <a:avLst/>
              <a:gdLst/>
              <a:ahLst/>
              <a:cxnLst/>
              <a:rect r="r" b="b" t="t" l="l"/>
              <a:pathLst>
                <a:path h="4157980" w="7084060">
                  <a:moveTo>
                    <a:pt x="0" y="171196"/>
                  </a:moveTo>
                  <a:cubicBezTo>
                    <a:pt x="0" y="76581"/>
                    <a:pt x="76581" y="0"/>
                    <a:pt x="171196" y="0"/>
                  </a:cubicBezTo>
                  <a:lnTo>
                    <a:pt x="6912864" y="0"/>
                  </a:lnTo>
                  <a:cubicBezTo>
                    <a:pt x="7007352" y="0"/>
                    <a:pt x="7084060" y="76581"/>
                    <a:pt x="7084060" y="171196"/>
                  </a:cubicBezTo>
                  <a:lnTo>
                    <a:pt x="7084060" y="3986784"/>
                  </a:lnTo>
                  <a:cubicBezTo>
                    <a:pt x="7084060" y="4081272"/>
                    <a:pt x="7007479" y="4157980"/>
                    <a:pt x="6912864" y="4157980"/>
                  </a:cubicBezTo>
                  <a:lnTo>
                    <a:pt x="171196" y="4157980"/>
                  </a:lnTo>
                  <a:cubicBezTo>
                    <a:pt x="76581" y="4157980"/>
                    <a:pt x="0" y="4081399"/>
                    <a:pt x="0" y="3986784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322222" y="5852160"/>
            <a:ext cx="4754880" cy="411480"/>
            <a:chOff x="0" y="0"/>
            <a:chExt cx="6339840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339840" cy="548640"/>
            </a:xfrm>
            <a:custGeom>
              <a:avLst/>
              <a:gdLst/>
              <a:ahLst/>
              <a:cxnLst/>
              <a:rect r="r" b="b" t="t" l="l"/>
              <a:pathLst>
                <a:path h="5486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160" r="0" b="-17516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63398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4F6B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Technology Stack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322222" y="6427470"/>
            <a:ext cx="128016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4F6BF6"/>
                </a:solidFill>
                <a:latin typeface="Arial Bold"/>
                <a:ea typeface="Arial Bold"/>
                <a:cs typeface="Arial Bold"/>
                <a:sym typeface="Arial Bold"/>
              </a:rPr>
              <a:t>Frontend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648102" y="6427470"/>
            <a:ext cx="342900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Flutter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22222" y="6811518"/>
            <a:ext cx="128016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4F6BF6"/>
                </a:solidFill>
                <a:latin typeface="Arial Bold"/>
                <a:ea typeface="Arial Bold"/>
                <a:cs typeface="Arial Bold"/>
                <a:sym typeface="Arial Bold"/>
              </a:rPr>
              <a:t>Backend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648102" y="6811518"/>
            <a:ext cx="342900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ASP.NET Core / .NET 8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22222" y="7195566"/>
            <a:ext cx="128016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4F6BF6"/>
                </a:solidFill>
                <a:latin typeface="Arial Bold"/>
                <a:ea typeface="Arial Bold"/>
                <a:cs typeface="Arial Bold"/>
                <a:sym typeface="Arial Bold"/>
              </a:rPr>
              <a:t>Database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648102" y="7195566"/>
            <a:ext cx="342900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SQL Server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22222" y="7579614"/>
            <a:ext cx="128016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4F6BF6"/>
                </a:solidFill>
                <a:latin typeface="Arial Bold"/>
                <a:ea typeface="Arial Bold"/>
                <a:cs typeface="Arial Bold"/>
                <a:sym typeface="Arial Bold"/>
              </a:rPr>
              <a:t>AI/ML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648102" y="7579614"/>
            <a:ext cx="342900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Python, FastAPI, Machine Learning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22222" y="7963662"/>
            <a:ext cx="128016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4F6BF6"/>
                </a:solidFill>
                <a:latin typeface="Arial Bold"/>
                <a:ea typeface="Arial Bold"/>
                <a:cs typeface="Arial Bold"/>
                <a:sym typeface="Arial Bold"/>
              </a:rPr>
              <a:t>AI Services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648102" y="7963662"/>
            <a:ext cx="342900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Risk Analysis, Delay Prediction, Bottleneck Detection, Project Health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6620980" y="5618797"/>
            <a:ext cx="6593205" cy="3118485"/>
            <a:chOff x="0" y="0"/>
            <a:chExt cx="8790940" cy="41579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790939" cy="4157980"/>
            </a:xfrm>
            <a:custGeom>
              <a:avLst/>
              <a:gdLst/>
              <a:ahLst/>
              <a:cxnLst/>
              <a:rect r="r" b="b" t="t" l="l"/>
              <a:pathLst>
                <a:path h="4157980" w="8790939">
                  <a:moveTo>
                    <a:pt x="0" y="171196"/>
                  </a:moveTo>
                  <a:cubicBezTo>
                    <a:pt x="0" y="76581"/>
                    <a:pt x="76581" y="0"/>
                    <a:pt x="171196" y="0"/>
                  </a:cubicBezTo>
                  <a:lnTo>
                    <a:pt x="8619744" y="0"/>
                  </a:lnTo>
                  <a:cubicBezTo>
                    <a:pt x="8714232" y="0"/>
                    <a:pt x="8790939" y="76581"/>
                    <a:pt x="8790939" y="171196"/>
                  </a:cubicBezTo>
                  <a:lnTo>
                    <a:pt x="8790939" y="3986784"/>
                  </a:lnTo>
                  <a:cubicBezTo>
                    <a:pt x="8790939" y="4081272"/>
                    <a:pt x="8714359" y="4157980"/>
                    <a:pt x="8619744" y="4157980"/>
                  </a:cubicBezTo>
                  <a:lnTo>
                    <a:pt x="171196" y="4157980"/>
                  </a:lnTo>
                  <a:cubicBezTo>
                    <a:pt x="76581" y="4157980"/>
                    <a:pt x="0" y="4081399"/>
                    <a:pt x="0" y="3986784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6900062" y="5852160"/>
            <a:ext cx="6035040" cy="411480"/>
            <a:chOff x="0" y="0"/>
            <a:chExt cx="8046720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046720" cy="548640"/>
            </a:xfrm>
            <a:custGeom>
              <a:avLst/>
              <a:gdLst/>
              <a:ahLst/>
              <a:cxnLst/>
              <a:rect r="r" b="b" t="t" l="l"/>
              <a:pathLst>
                <a:path h="5486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80467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 &amp; Responsibilities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6900062" y="6381750"/>
            <a:ext cx="219456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E2A4A"/>
                </a:solidFill>
                <a:latin typeface="Arial Bold"/>
                <a:ea typeface="Arial Bold"/>
                <a:cs typeface="Arial Bold"/>
                <a:sym typeface="Arial Bold"/>
              </a:rPr>
              <a:t>Shimaa Habes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186062" y="6381750"/>
            <a:ext cx="374904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Team Leader, AI/ML, UI &amp; Graphic Design, Flutter Development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6900062" y="6912102"/>
            <a:ext cx="2194560" cy="366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E2A4A"/>
                </a:solidFill>
                <a:latin typeface="Arial Bold"/>
                <a:ea typeface="Arial Bold"/>
                <a:cs typeface="Arial Bold"/>
                <a:sym typeface="Arial Bold"/>
              </a:rPr>
              <a:t>Sadeel Ardah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186062" y="6912102"/>
            <a:ext cx="3749040" cy="366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AI/ML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6900062" y="7287006"/>
            <a:ext cx="2194560" cy="366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E2A4A"/>
                </a:solidFill>
                <a:latin typeface="Arial Bold"/>
                <a:ea typeface="Arial Bold"/>
                <a:cs typeface="Arial Bold"/>
                <a:sym typeface="Arial Bold"/>
              </a:rPr>
              <a:t>Saba abu Al-own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9186062" y="7287006"/>
            <a:ext cx="3749040" cy="366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AI/ML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6900062" y="7661910"/>
            <a:ext cx="2194560" cy="366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E2A4A"/>
                </a:solidFill>
                <a:latin typeface="Arial Bold"/>
                <a:ea typeface="Arial Bold"/>
                <a:cs typeface="Arial Bold"/>
                <a:sym typeface="Arial Bold"/>
              </a:rPr>
              <a:t>Mohammad Abdelfattah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186062" y="7661910"/>
            <a:ext cx="3749040" cy="366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Backend .NET Development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6900062" y="8036814"/>
            <a:ext cx="219456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E2A4A"/>
                </a:solidFill>
                <a:latin typeface="Arial Bold"/>
                <a:ea typeface="Arial Bold"/>
                <a:cs typeface="Arial Bold"/>
                <a:sym typeface="Arial Bold"/>
              </a:rPr>
              <a:t>Mostafa alnatshe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9186062" y="8036814"/>
            <a:ext cx="374904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Backend .NET, Security Testing, Authentication &amp; Authorization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13478980" y="5618797"/>
            <a:ext cx="3762223" cy="3118485"/>
            <a:chOff x="0" y="0"/>
            <a:chExt cx="5016297" cy="41579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016246" cy="4157980"/>
            </a:xfrm>
            <a:custGeom>
              <a:avLst/>
              <a:gdLst/>
              <a:ahLst/>
              <a:cxnLst/>
              <a:rect r="r" b="b" t="t" l="l"/>
              <a:pathLst>
                <a:path h="4157980" w="5016246">
                  <a:moveTo>
                    <a:pt x="0" y="171196"/>
                  </a:moveTo>
                  <a:cubicBezTo>
                    <a:pt x="0" y="76581"/>
                    <a:pt x="76581" y="0"/>
                    <a:pt x="171196" y="0"/>
                  </a:cubicBezTo>
                  <a:lnTo>
                    <a:pt x="4845050" y="0"/>
                  </a:lnTo>
                  <a:cubicBezTo>
                    <a:pt x="4939538" y="0"/>
                    <a:pt x="5016246" y="76581"/>
                    <a:pt x="5016246" y="171196"/>
                  </a:cubicBezTo>
                  <a:lnTo>
                    <a:pt x="5016246" y="3986784"/>
                  </a:lnTo>
                  <a:cubicBezTo>
                    <a:pt x="5016246" y="4081272"/>
                    <a:pt x="4939665" y="4157980"/>
                    <a:pt x="4845050" y="4157980"/>
                  </a:cubicBezTo>
                  <a:lnTo>
                    <a:pt x="171196" y="4157980"/>
                  </a:lnTo>
                  <a:cubicBezTo>
                    <a:pt x="76581" y="4157980"/>
                    <a:pt x="0" y="4081399"/>
                    <a:pt x="0" y="3986784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3758062" y="5852160"/>
            <a:ext cx="3204058" cy="411480"/>
            <a:chOff x="0" y="0"/>
            <a:chExt cx="4272077" cy="5486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272077" cy="548640"/>
            </a:xfrm>
            <a:custGeom>
              <a:avLst/>
              <a:gdLst/>
              <a:ahLst/>
              <a:cxnLst/>
              <a:rect r="r" b="b" t="t" l="l"/>
              <a:pathLst>
                <a:path h="548640" w="4272077">
                  <a:moveTo>
                    <a:pt x="0" y="0"/>
                  </a:moveTo>
                  <a:lnTo>
                    <a:pt x="4272077" y="0"/>
                  </a:lnTo>
                  <a:lnTo>
                    <a:pt x="4272077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23" r="0" b="-101723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4272077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0468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Management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3758062" y="6446520"/>
            <a:ext cx="3204058" cy="457200"/>
            <a:chOff x="0" y="0"/>
            <a:chExt cx="4272077" cy="6096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272077" cy="609600"/>
            </a:xfrm>
            <a:custGeom>
              <a:avLst/>
              <a:gdLst/>
              <a:ahLst/>
              <a:cxnLst/>
              <a:rect r="r" b="b" t="t" l="l"/>
              <a:pathLst>
                <a:path h="609600" w="4272077">
                  <a:moveTo>
                    <a:pt x="0" y="0"/>
                  </a:moveTo>
                  <a:lnTo>
                    <a:pt x="4272077" y="0"/>
                  </a:lnTo>
                  <a:lnTo>
                    <a:pt x="4272077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551" r="0" b="-86551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4272077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ClickUp</a:t>
              </a:r>
            </a:p>
          </p:txBody>
        </p:sp>
      </p:grpSp>
      <p:sp>
        <p:nvSpPr>
          <p:cNvPr name="TextBox 94" id="94"/>
          <p:cNvSpPr txBox="true"/>
          <p:nvPr/>
        </p:nvSpPr>
        <p:spPr>
          <a:xfrm rot="0">
            <a:off x="13758062" y="7021830"/>
            <a:ext cx="3204058" cy="148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E2A4A"/>
                </a:solidFill>
                <a:latin typeface="Arial Bold"/>
                <a:ea typeface="Arial Bold"/>
                <a:cs typeface="Arial Bold"/>
                <a:sym typeface="Arial Bold"/>
              </a:rPr>
              <a:t>ClickUp</a:t>
            </a:r>
            <a:r>
              <a:rPr lang="en-US" sz="1400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 is used to organize the team workflow, assign tasks, track progress, manage deadlines, and document team work.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1047902" y="8915400"/>
            <a:ext cx="16188538" cy="685800"/>
            <a:chOff x="0" y="0"/>
            <a:chExt cx="21584717" cy="9144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1584665" cy="914400"/>
            </a:xfrm>
            <a:custGeom>
              <a:avLst/>
              <a:gdLst/>
              <a:ahLst/>
              <a:cxnLst/>
              <a:rect r="r" b="b" t="t" l="l"/>
              <a:pathLst>
                <a:path h="914400" w="21584665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21389594" y="0"/>
                  </a:lnTo>
                  <a:cubicBezTo>
                    <a:pt x="21497289" y="0"/>
                    <a:pt x="21584665" y="87376"/>
                    <a:pt x="21584665" y="195072"/>
                  </a:cubicBezTo>
                  <a:lnTo>
                    <a:pt x="21584665" y="719328"/>
                  </a:lnTo>
                  <a:cubicBezTo>
                    <a:pt x="21584665" y="827024"/>
                    <a:pt x="21497289" y="914400"/>
                    <a:pt x="21389594" y="914400"/>
                  </a:cubicBezTo>
                  <a:lnTo>
                    <a:pt x="195072" y="914400"/>
                  </a:lnTo>
                  <a:cubicBezTo>
                    <a:pt x="87376" y="914400"/>
                    <a:pt x="0" y="827024"/>
                    <a:pt x="0" y="719328"/>
                  </a:cubicBezTo>
                  <a:close/>
                </a:path>
              </a:pathLst>
            </a:custGeom>
            <a:solidFill>
              <a:srgbClr val="1E2A4A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413662" y="8915400"/>
            <a:ext cx="4754880" cy="685800"/>
            <a:chOff x="0" y="0"/>
            <a:chExt cx="6339840" cy="9144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339840" cy="914400"/>
            </a:xfrm>
            <a:custGeom>
              <a:avLst/>
              <a:gdLst/>
              <a:ahLst/>
              <a:cxnLst/>
              <a:rect r="r" b="b" t="t" l="l"/>
              <a:pathLst>
                <a:path h="9144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096" r="0" b="-85096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19050"/>
              <a:ext cx="63398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C4B5F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NEXT  </a:t>
              </a:r>
              <a:r>
                <a:rPr lang="en-US" sz="21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Live Demo Roadmap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6625742" y="8915400"/>
            <a:ext cx="10244938" cy="685800"/>
            <a:chOff x="0" y="0"/>
            <a:chExt cx="13659917" cy="9144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3659918" cy="914400"/>
            </a:xfrm>
            <a:custGeom>
              <a:avLst/>
              <a:gdLst/>
              <a:ahLst/>
              <a:cxnLst/>
              <a:rect r="r" b="b" t="t" l="l"/>
              <a:pathLst>
                <a:path h="914400" w="13659918">
                  <a:moveTo>
                    <a:pt x="0" y="0"/>
                  </a:moveTo>
                  <a:lnTo>
                    <a:pt x="13659918" y="0"/>
                  </a:lnTo>
                  <a:lnTo>
                    <a:pt x="1365991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1080" r="0" b="-24108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19050"/>
              <a:ext cx="13659917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We will now demonstrate the main ScaleFlow workflow from project creation to AI-powered project insights.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5486400" cy="457200"/>
            <a:chOff x="0" y="0"/>
            <a:chExt cx="73152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3152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b="true" sz="1599" spc="599">
                  <a:solidFill>
                    <a:srgbClr val="4F6B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SCALEFLOW  ◇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3040" y="3657600"/>
            <a:ext cx="9144000" cy="2158136"/>
            <a:chOff x="0" y="0"/>
            <a:chExt cx="12192000" cy="28775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92000" cy="2877515"/>
            </a:xfrm>
            <a:custGeom>
              <a:avLst/>
              <a:gdLst/>
              <a:ahLst/>
              <a:cxnLst/>
              <a:rect r="r" b="b" t="t" l="l"/>
              <a:pathLst>
                <a:path h="287751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2877515"/>
                  </a:lnTo>
                  <a:lnTo>
                    <a:pt x="0" y="28775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88" r="0" b="-2492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2192000" cy="2877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60"/>
                </a:lnSpc>
              </a:pPr>
              <a:r>
                <a:rPr lang="en-US" sz="10800" b="true">
                  <a:solidFill>
                    <a:srgbClr val="4F6B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Mohamm</a:t>
              </a:r>
              <a:r>
                <a:rPr lang="en-US" sz="10800" b="true">
                  <a:solidFill>
                    <a:srgbClr val="4F6B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3040" y="5486400"/>
            <a:ext cx="9144000" cy="731520"/>
            <a:chOff x="0" y="0"/>
            <a:chExt cx="12192000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920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219200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</a:t>
              </a:r>
              <a:r>
                <a:rPr lang="en-US" sz="3200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ackend Track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668000" y="0"/>
            <a:ext cx="7620000" cy="10287000"/>
          </a:xfrm>
          <a:custGeom>
            <a:avLst/>
            <a:gdLst/>
            <a:ahLst/>
            <a:cxnLst/>
            <a:rect r="r" b="b" t="t" l="l"/>
            <a:pathLst>
              <a:path h="10287000" w="7620000">
                <a:moveTo>
                  <a:pt x="0" y="0"/>
                </a:moveTo>
                <a:lnTo>
                  <a:pt x="7620000" y="0"/>
                </a:lnTo>
                <a:lnTo>
                  <a:pt x="7620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0" t="-50" r="0" b="-5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/>
          <p:nvPr/>
        </p:nvGrpSpPr>
        <p:grpSpPr>
          <a:xfrm rot="0">
            <a:off x="1490484" y="6381542"/>
            <a:ext cx="9144000" cy="1062752"/>
            <a:chOff x="0" y="0"/>
            <a:chExt cx="12192000" cy="14170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192000" cy="1417003"/>
            </a:xfrm>
            <a:custGeom>
              <a:avLst/>
              <a:gdLst/>
              <a:ahLst/>
              <a:cxnLst/>
              <a:rect r="r" b="b" t="t" l="l"/>
              <a:pathLst>
                <a:path h="1417003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417003"/>
                  </a:lnTo>
                  <a:lnTo>
                    <a:pt x="0" y="14170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38" r="0" b="-9346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2192000" cy="1417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B647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System Arc</a:t>
              </a:r>
              <a:r>
                <a:rPr lang="en-US" sz="2000">
                  <a:solidFill>
                    <a:srgbClr val="5B647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hitecture · Database Modeling · Business Logic</a:t>
              </a:r>
            </a:p>
            <a:p>
              <a:pPr algn="l">
                <a:lnSpc>
                  <a:spcPts val="2400"/>
                </a:lnSpc>
              </a:pPr>
            </a:p>
            <a:p>
              <a:pPr algn="l">
                <a:lnSpc>
                  <a:spcPts val="240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03464" y="0"/>
            <a:ext cx="5884536" cy="4296271"/>
          </a:xfrm>
          <a:custGeom>
            <a:avLst/>
            <a:gdLst/>
            <a:ahLst/>
            <a:cxnLst/>
            <a:rect r="r" b="b" t="t" l="l"/>
            <a:pathLst>
              <a:path h="4296271" w="5884536">
                <a:moveTo>
                  <a:pt x="0" y="0"/>
                </a:moveTo>
                <a:lnTo>
                  <a:pt x="5884536" y="0"/>
                </a:lnTo>
                <a:lnTo>
                  <a:pt x="5884536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62500" y="634365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31520" y="1748906"/>
            <a:ext cx="10643616" cy="1219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4799" spc="-239" strike="noStrike" u="none">
                <a:solidFill>
                  <a:srgbClr val="1624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 Architecture &amp; Database Foundation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3038922"/>
            <a:ext cx="9875520" cy="268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9"/>
              </a:lnSpc>
              <a:spcBef>
                <a:spcPct val="0"/>
              </a:spcBef>
            </a:pPr>
            <a:r>
              <a:rPr lang="en-US" b="true" sz="2099" strike="noStrike" u="none">
                <a:solidFill>
                  <a:srgbClr val="1624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Establishing a robust, scalable, and structured core for ScaleFlow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3640352"/>
            <a:ext cx="3281340" cy="4503979"/>
          </a:xfrm>
          <a:custGeom>
            <a:avLst/>
            <a:gdLst/>
            <a:ahLst/>
            <a:cxnLst/>
            <a:rect r="r" b="b" t="t" l="l"/>
            <a:pathLst>
              <a:path h="4503979" w="3281340">
                <a:moveTo>
                  <a:pt x="0" y="0"/>
                </a:moveTo>
                <a:lnTo>
                  <a:pt x="3281340" y="0"/>
                </a:lnTo>
                <a:lnTo>
                  <a:pt x="3281340" y="4503978"/>
                </a:lnTo>
                <a:lnTo>
                  <a:pt x="0" y="4503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4000" y="4067175"/>
            <a:ext cx="1312536" cy="1508614"/>
          </a:xfrm>
          <a:custGeom>
            <a:avLst/>
            <a:gdLst/>
            <a:ahLst/>
            <a:cxnLst/>
            <a:rect r="r" b="b" t="t" l="l"/>
            <a:pathLst>
              <a:path h="1508614" w="1312536">
                <a:moveTo>
                  <a:pt x="0" y="0"/>
                </a:moveTo>
                <a:lnTo>
                  <a:pt x="1312536" y="0"/>
                </a:lnTo>
                <a:lnTo>
                  <a:pt x="131253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5697" t="-7158" r="-15697" b="-7158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52144" y="6365608"/>
            <a:ext cx="2194560" cy="1043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b="true" sz="1400" spc="-28" strike="noStrike" u="none">
                <a:solidFill>
                  <a:srgbClr val="162442">
                    <a:alpha val="80000"/>
                  </a:srgbClr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Organized layers, BaseEntity, EF Core, and FluentValidation configurations.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762500" y="3640455"/>
            <a:ext cx="3489158" cy="4503979"/>
          </a:xfrm>
          <a:custGeom>
            <a:avLst/>
            <a:gdLst/>
            <a:ahLst/>
            <a:cxnLst/>
            <a:rect r="r" b="b" t="t" l="l"/>
            <a:pathLst>
              <a:path h="4503979" w="3489158">
                <a:moveTo>
                  <a:pt x="0" y="0"/>
                </a:moveTo>
                <a:lnTo>
                  <a:pt x="3489158" y="0"/>
                </a:lnTo>
                <a:lnTo>
                  <a:pt x="3489158" y="4503979"/>
                </a:lnTo>
                <a:lnTo>
                  <a:pt x="0" y="45039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848350" y="4067175"/>
            <a:ext cx="1323474" cy="1508614"/>
          </a:xfrm>
          <a:custGeom>
            <a:avLst/>
            <a:gdLst/>
            <a:ahLst/>
            <a:cxnLst/>
            <a:rect r="r" b="b" t="t" l="l"/>
            <a:pathLst>
              <a:path h="1508614" w="1323474">
                <a:moveTo>
                  <a:pt x="0" y="0"/>
                </a:moveTo>
                <a:lnTo>
                  <a:pt x="1323474" y="0"/>
                </a:lnTo>
                <a:lnTo>
                  <a:pt x="132347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5154" t="-7158" r="-15154" b="-7158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400675" y="6318885"/>
            <a:ext cx="2139696" cy="1043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b="true" sz="1400" spc="-28" strike="noStrike" u="none">
                <a:solidFill>
                  <a:srgbClr val="162442">
                    <a:alpha val="80000"/>
                  </a:srgbClr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Engineered schema (36 tables, 62 FKs) supporting complex task relationships.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877300" y="3640455"/>
            <a:ext cx="3500096" cy="4503979"/>
          </a:xfrm>
          <a:custGeom>
            <a:avLst/>
            <a:gdLst/>
            <a:ahLst/>
            <a:cxnLst/>
            <a:rect r="r" b="b" t="t" l="l"/>
            <a:pathLst>
              <a:path h="4503979" w="3500096">
                <a:moveTo>
                  <a:pt x="0" y="0"/>
                </a:moveTo>
                <a:lnTo>
                  <a:pt x="3500096" y="0"/>
                </a:lnTo>
                <a:lnTo>
                  <a:pt x="3500096" y="4503979"/>
                </a:lnTo>
                <a:lnTo>
                  <a:pt x="0" y="45039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534525" y="4285297"/>
            <a:ext cx="1968804" cy="1082267"/>
          </a:xfrm>
          <a:custGeom>
            <a:avLst/>
            <a:gdLst/>
            <a:ahLst/>
            <a:cxnLst/>
            <a:rect r="r" b="b" t="t" l="l"/>
            <a:pathLst>
              <a:path h="1082267" w="1968804">
                <a:moveTo>
                  <a:pt x="0" y="0"/>
                </a:moveTo>
                <a:lnTo>
                  <a:pt x="1968804" y="0"/>
                </a:lnTo>
                <a:lnTo>
                  <a:pt x="196880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5485" t="-50936" r="-5485" b="-50936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401175" y="6364605"/>
            <a:ext cx="2322576" cy="1043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b="true" sz="1400" spc="-28" strike="noStrike" u="none">
                <a:solidFill>
                  <a:srgbClr val="162442">
                    <a:alpha val="80000"/>
                  </a:srgbClr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Mapped DB design to C# models with precise Many-to-Many relations &amp; Enums.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001625" y="3640455"/>
            <a:ext cx="3489158" cy="4503979"/>
          </a:xfrm>
          <a:custGeom>
            <a:avLst/>
            <a:gdLst/>
            <a:ahLst/>
            <a:cxnLst/>
            <a:rect r="r" b="b" t="t" l="l"/>
            <a:pathLst>
              <a:path h="4503979" w="3489158">
                <a:moveTo>
                  <a:pt x="0" y="0"/>
                </a:moveTo>
                <a:lnTo>
                  <a:pt x="3489158" y="0"/>
                </a:lnTo>
                <a:lnTo>
                  <a:pt x="3489158" y="4503979"/>
                </a:lnTo>
                <a:lnTo>
                  <a:pt x="0" y="45039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077950" y="4067175"/>
            <a:ext cx="1542230" cy="1508614"/>
          </a:xfrm>
          <a:custGeom>
            <a:avLst/>
            <a:gdLst/>
            <a:ahLst/>
            <a:cxnLst/>
            <a:rect r="r" b="b" t="t" l="l"/>
            <a:pathLst>
              <a:path h="1508614" w="1542230">
                <a:moveTo>
                  <a:pt x="0" y="0"/>
                </a:moveTo>
                <a:lnTo>
                  <a:pt x="1542230" y="0"/>
                </a:lnTo>
                <a:lnTo>
                  <a:pt x="154223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7002" t="-8273" r="-7002" b="-8273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639800" y="6416993"/>
            <a:ext cx="2450592" cy="781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b="true" sz="1400" spc="-28" strike="noStrike" u="none">
                <a:solidFill>
                  <a:srgbClr val="162442">
                    <a:alpha val="80000"/>
                  </a:srgbClr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Implemented soft deletion, status tracking, and robust error handling.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39696" y="8959064"/>
            <a:ext cx="11466576" cy="25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9"/>
              </a:lnSpc>
              <a:spcBef>
                <a:spcPct val="0"/>
              </a:spcBef>
            </a:pPr>
            <a:r>
              <a:rPr lang="en-US" b="true" sz="1999" strike="noStrike" u="none">
                <a:solidFill>
                  <a:srgbClr val="1624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Established a highly scalable database foundation and clean project architecture.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8448" y="5805310"/>
            <a:ext cx="1901952" cy="45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1624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Architecture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219700" y="5799772"/>
            <a:ext cx="2560320" cy="23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1624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Complex ERD Design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77400" y="5799772"/>
            <a:ext cx="1905000" cy="208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00"/>
              </a:lnSpc>
              <a:spcBef>
                <a:spcPct val="0"/>
              </a:spcBef>
            </a:pPr>
            <a:r>
              <a:rPr lang="en-US" b="true" sz="1600" strike="noStrike" u="none">
                <a:solidFill>
                  <a:srgbClr val="1624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Domain Models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63650" y="5799772"/>
            <a:ext cx="1737360" cy="23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1624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Integrity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1520" y="763613"/>
            <a:ext cx="1664208" cy="20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6"/>
              </a:lnSpc>
            </a:pPr>
            <a:r>
              <a:rPr lang="en-US" b="true" sz="1606" spc="160">
                <a:solidFill>
                  <a:srgbClr val="5271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SCALEFLOW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38175"/>
            <a:ext cx="209550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527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ScaleFlow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81050" y="1466850"/>
            <a:ext cx="7524750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0"/>
              </a:lnSpc>
            </a:pPr>
            <a:r>
              <a:rPr lang="en-US" sz="3900" b="true">
                <a:solidFill>
                  <a:srgbClr val="1627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APIs &amp; Advanced Business Logic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3450" y="3771900"/>
            <a:ext cx="619125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627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Delivering secure endpoints with intelligent task and workload management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58375" y="2133600"/>
            <a:ext cx="6667500" cy="552450"/>
            <a:chOff x="0" y="0"/>
            <a:chExt cx="8890000" cy="736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90000" cy="736600"/>
            </a:xfrm>
            <a:custGeom>
              <a:avLst/>
              <a:gdLst/>
              <a:ahLst/>
              <a:cxnLst/>
              <a:rect r="r" b="b" t="t" l="l"/>
              <a:pathLst>
                <a:path h="736600" w="8890000">
                  <a:moveTo>
                    <a:pt x="152400" y="0"/>
                  </a:moveTo>
                  <a:lnTo>
                    <a:pt x="8737600" y="0"/>
                  </a:lnTo>
                  <a:cubicBezTo>
                    <a:pt x="8821769" y="0"/>
                    <a:pt x="8890000" y="68232"/>
                    <a:pt x="8890000" y="152400"/>
                  </a:cubicBezTo>
                  <a:lnTo>
                    <a:pt x="8890000" y="584200"/>
                  </a:lnTo>
                  <a:cubicBezTo>
                    <a:pt x="8890000" y="668368"/>
                    <a:pt x="8821769" y="736600"/>
                    <a:pt x="8737600" y="736600"/>
                  </a:cubicBezTo>
                  <a:lnTo>
                    <a:pt x="152400" y="736600"/>
                  </a:lnTo>
                  <a:cubicBezTo>
                    <a:pt x="68232" y="736600"/>
                    <a:pt x="0" y="668368"/>
                    <a:pt x="0" y="5842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BE5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8900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58375" y="2133600"/>
            <a:ext cx="76200" cy="552450"/>
            <a:chOff x="0" y="0"/>
            <a:chExt cx="101600" cy="736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" cy="736600"/>
            </a:xfrm>
            <a:custGeom>
              <a:avLst/>
              <a:gdLst/>
              <a:ahLst/>
              <a:cxnLst/>
              <a:rect r="r" b="b" t="t" l="l"/>
              <a:pathLst>
                <a:path h="736600" w="101600">
                  <a:moveTo>
                    <a:pt x="50800" y="0"/>
                  </a:move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685800"/>
                  </a:lnTo>
                  <a:cubicBezTo>
                    <a:pt x="101600" y="713856"/>
                    <a:pt x="78856" y="736600"/>
                    <a:pt x="50800" y="736600"/>
                  </a:cubicBezTo>
                  <a:cubicBezTo>
                    <a:pt x="22744" y="736600"/>
                    <a:pt x="0" y="713856"/>
                    <a:pt x="0" y="6858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1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125075" y="2257425"/>
            <a:ext cx="615315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1627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API Request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3192125" y="2724150"/>
            <a:ext cx="0" cy="57150"/>
          </a:xfrm>
          <a:prstGeom prst="line">
            <a:avLst/>
          </a:prstGeom>
          <a:ln cap="flat" w="28575">
            <a:solidFill>
              <a:srgbClr val="8B5CF6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9858375" y="2838450"/>
            <a:ext cx="6667500" cy="552450"/>
            <a:chOff x="0" y="0"/>
            <a:chExt cx="8890000" cy="736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890000" cy="736600"/>
            </a:xfrm>
            <a:custGeom>
              <a:avLst/>
              <a:gdLst/>
              <a:ahLst/>
              <a:cxnLst/>
              <a:rect r="r" b="b" t="t" l="l"/>
              <a:pathLst>
                <a:path h="736600" w="8890000">
                  <a:moveTo>
                    <a:pt x="152400" y="0"/>
                  </a:moveTo>
                  <a:lnTo>
                    <a:pt x="8737600" y="0"/>
                  </a:lnTo>
                  <a:cubicBezTo>
                    <a:pt x="8821769" y="0"/>
                    <a:pt x="8890000" y="68232"/>
                    <a:pt x="8890000" y="152400"/>
                  </a:cubicBezTo>
                  <a:lnTo>
                    <a:pt x="8890000" y="584200"/>
                  </a:lnTo>
                  <a:cubicBezTo>
                    <a:pt x="8890000" y="668368"/>
                    <a:pt x="8821769" y="736600"/>
                    <a:pt x="8737600" y="736600"/>
                  </a:cubicBezTo>
                  <a:lnTo>
                    <a:pt x="152400" y="736600"/>
                  </a:lnTo>
                  <a:cubicBezTo>
                    <a:pt x="68232" y="736600"/>
                    <a:pt x="0" y="668368"/>
                    <a:pt x="0" y="5842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BE5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8900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58375" y="2838450"/>
            <a:ext cx="76200" cy="552450"/>
            <a:chOff x="0" y="0"/>
            <a:chExt cx="101600" cy="736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600" cy="736600"/>
            </a:xfrm>
            <a:custGeom>
              <a:avLst/>
              <a:gdLst/>
              <a:ahLst/>
              <a:cxnLst/>
              <a:rect r="r" b="b" t="t" l="l"/>
              <a:pathLst>
                <a:path h="736600" w="101600">
                  <a:moveTo>
                    <a:pt x="50800" y="0"/>
                  </a:move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685800"/>
                  </a:lnTo>
                  <a:cubicBezTo>
                    <a:pt x="101600" y="713856"/>
                    <a:pt x="78856" y="736600"/>
                    <a:pt x="50800" y="736600"/>
                  </a:cubicBezTo>
                  <a:cubicBezTo>
                    <a:pt x="22744" y="736600"/>
                    <a:pt x="0" y="713856"/>
                    <a:pt x="0" y="6858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1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125075" y="2962275"/>
            <a:ext cx="615315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1627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Input Validation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3192125" y="3429000"/>
            <a:ext cx="0" cy="57150"/>
          </a:xfrm>
          <a:prstGeom prst="line">
            <a:avLst/>
          </a:prstGeom>
          <a:ln cap="flat" w="28575">
            <a:solidFill>
              <a:srgbClr val="8B5CF6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9858375" y="3543300"/>
            <a:ext cx="6667500" cy="552450"/>
            <a:chOff x="0" y="0"/>
            <a:chExt cx="8890000" cy="736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890000" cy="736600"/>
            </a:xfrm>
            <a:custGeom>
              <a:avLst/>
              <a:gdLst/>
              <a:ahLst/>
              <a:cxnLst/>
              <a:rect r="r" b="b" t="t" l="l"/>
              <a:pathLst>
                <a:path h="736600" w="8890000">
                  <a:moveTo>
                    <a:pt x="152400" y="0"/>
                  </a:moveTo>
                  <a:lnTo>
                    <a:pt x="8737600" y="0"/>
                  </a:lnTo>
                  <a:cubicBezTo>
                    <a:pt x="8821769" y="0"/>
                    <a:pt x="8890000" y="68232"/>
                    <a:pt x="8890000" y="152400"/>
                  </a:cubicBezTo>
                  <a:lnTo>
                    <a:pt x="8890000" y="584200"/>
                  </a:lnTo>
                  <a:cubicBezTo>
                    <a:pt x="8890000" y="668368"/>
                    <a:pt x="8821769" y="736600"/>
                    <a:pt x="8737600" y="736600"/>
                  </a:cubicBezTo>
                  <a:lnTo>
                    <a:pt x="152400" y="736600"/>
                  </a:lnTo>
                  <a:cubicBezTo>
                    <a:pt x="68232" y="736600"/>
                    <a:pt x="0" y="668368"/>
                    <a:pt x="0" y="5842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BE5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8900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58375" y="3543300"/>
            <a:ext cx="76200" cy="552450"/>
            <a:chOff x="0" y="0"/>
            <a:chExt cx="101600" cy="736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600" cy="736600"/>
            </a:xfrm>
            <a:custGeom>
              <a:avLst/>
              <a:gdLst/>
              <a:ahLst/>
              <a:cxnLst/>
              <a:rect r="r" b="b" t="t" l="l"/>
              <a:pathLst>
                <a:path h="736600" w="101600">
                  <a:moveTo>
                    <a:pt x="50800" y="0"/>
                  </a:move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685800"/>
                  </a:lnTo>
                  <a:cubicBezTo>
                    <a:pt x="101600" y="713856"/>
                    <a:pt x="78856" y="736600"/>
                    <a:pt x="50800" y="736600"/>
                  </a:cubicBezTo>
                  <a:cubicBezTo>
                    <a:pt x="22744" y="736600"/>
                    <a:pt x="0" y="713856"/>
                    <a:pt x="0" y="6858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1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125075" y="3667125"/>
            <a:ext cx="615315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1627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Privacy Check</a:t>
            </a:r>
          </a:p>
        </p:txBody>
      </p:sp>
      <p:sp>
        <p:nvSpPr>
          <p:cNvPr name="AutoShape 28" id="28"/>
          <p:cNvSpPr/>
          <p:nvPr/>
        </p:nvSpPr>
        <p:spPr>
          <a:xfrm>
            <a:off x="13192125" y="4133850"/>
            <a:ext cx="0" cy="57150"/>
          </a:xfrm>
          <a:prstGeom prst="line">
            <a:avLst/>
          </a:prstGeom>
          <a:ln cap="flat" w="28575">
            <a:solidFill>
              <a:srgbClr val="8B5CF6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9" id="29"/>
          <p:cNvGrpSpPr/>
          <p:nvPr/>
        </p:nvGrpSpPr>
        <p:grpSpPr>
          <a:xfrm rot="0">
            <a:off x="9858375" y="4248150"/>
            <a:ext cx="6667500" cy="552450"/>
            <a:chOff x="0" y="0"/>
            <a:chExt cx="8890000" cy="736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890000" cy="736600"/>
            </a:xfrm>
            <a:custGeom>
              <a:avLst/>
              <a:gdLst/>
              <a:ahLst/>
              <a:cxnLst/>
              <a:rect r="r" b="b" t="t" l="l"/>
              <a:pathLst>
                <a:path h="736600" w="8890000">
                  <a:moveTo>
                    <a:pt x="152400" y="0"/>
                  </a:moveTo>
                  <a:lnTo>
                    <a:pt x="8737600" y="0"/>
                  </a:lnTo>
                  <a:cubicBezTo>
                    <a:pt x="8821769" y="0"/>
                    <a:pt x="8890000" y="68232"/>
                    <a:pt x="8890000" y="152400"/>
                  </a:cubicBezTo>
                  <a:lnTo>
                    <a:pt x="8890000" y="584200"/>
                  </a:lnTo>
                  <a:cubicBezTo>
                    <a:pt x="8890000" y="668368"/>
                    <a:pt x="8821769" y="736600"/>
                    <a:pt x="8737600" y="736600"/>
                  </a:cubicBezTo>
                  <a:lnTo>
                    <a:pt x="152400" y="736600"/>
                  </a:lnTo>
                  <a:cubicBezTo>
                    <a:pt x="68232" y="736600"/>
                    <a:pt x="0" y="668368"/>
                    <a:pt x="0" y="5842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BE5F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8900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858375" y="4248150"/>
            <a:ext cx="76200" cy="552450"/>
            <a:chOff x="0" y="0"/>
            <a:chExt cx="101600" cy="736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1600" cy="736600"/>
            </a:xfrm>
            <a:custGeom>
              <a:avLst/>
              <a:gdLst/>
              <a:ahLst/>
              <a:cxnLst/>
              <a:rect r="r" b="b" t="t" l="l"/>
              <a:pathLst>
                <a:path h="736600" w="101600">
                  <a:moveTo>
                    <a:pt x="50800" y="0"/>
                  </a:move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685800"/>
                  </a:lnTo>
                  <a:cubicBezTo>
                    <a:pt x="101600" y="713856"/>
                    <a:pt x="78856" y="736600"/>
                    <a:pt x="50800" y="736600"/>
                  </a:cubicBezTo>
                  <a:cubicBezTo>
                    <a:pt x="22744" y="736600"/>
                    <a:pt x="0" y="713856"/>
                    <a:pt x="0" y="6858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1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0125075" y="4371975"/>
            <a:ext cx="615315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1627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 Engine</a:t>
            </a:r>
          </a:p>
        </p:txBody>
      </p:sp>
      <p:sp>
        <p:nvSpPr>
          <p:cNvPr name="AutoShape 36" id="36"/>
          <p:cNvSpPr/>
          <p:nvPr/>
        </p:nvSpPr>
        <p:spPr>
          <a:xfrm>
            <a:off x="13192125" y="4838700"/>
            <a:ext cx="0" cy="57150"/>
          </a:xfrm>
          <a:prstGeom prst="line">
            <a:avLst/>
          </a:prstGeom>
          <a:ln cap="flat" w="28575">
            <a:solidFill>
              <a:srgbClr val="8B5CF6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7" id="37"/>
          <p:cNvGrpSpPr/>
          <p:nvPr/>
        </p:nvGrpSpPr>
        <p:grpSpPr>
          <a:xfrm rot="0">
            <a:off x="9858375" y="4953000"/>
            <a:ext cx="6667500" cy="552450"/>
            <a:chOff x="0" y="0"/>
            <a:chExt cx="8890000" cy="736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890000" cy="736600"/>
            </a:xfrm>
            <a:custGeom>
              <a:avLst/>
              <a:gdLst/>
              <a:ahLst/>
              <a:cxnLst/>
              <a:rect r="r" b="b" t="t" l="l"/>
              <a:pathLst>
                <a:path h="736600" w="8890000">
                  <a:moveTo>
                    <a:pt x="152400" y="0"/>
                  </a:moveTo>
                  <a:lnTo>
                    <a:pt x="8737600" y="0"/>
                  </a:lnTo>
                  <a:cubicBezTo>
                    <a:pt x="8821769" y="0"/>
                    <a:pt x="8890000" y="68232"/>
                    <a:pt x="8890000" y="152400"/>
                  </a:cubicBezTo>
                  <a:lnTo>
                    <a:pt x="8890000" y="584200"/>
                  </a:lnTo>
                  <a:cubicBezTo>
                    <a:pt x="8890000" y="668368"/>
                    <a:pt x="8821769" y="736600"/>
                    <a:pt x="8737600" y="736600"/>
                  </a:cubicBezTo>
                  <a:lnTo>
                    <a:pt x="152400" y="736600"/>
                  </a:lnTo>
                  <a:cubicBezTo>
                    <a:pt x="68232" y="736600"/>
                    <a:pt x="0" y="668368"/>
                    <a:pt x="0" y="5842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BE5FF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88900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858375" y="4953000"/>
            <a:ext cx="76200" cy="552450"/>
            <a:chOff x="0" y="0"/>
            <a:chExt cx="101600" cy="736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1600" cy="736600"/>
            </a:xfrm>
            <a:custGeom>
              <a:avLst/>
              <a:gdLst/>
              <a:ahLst/>
              <a:cxnLst/>
              <a:rect r="r" b="b" t="t" l="l"/>
              <a:pathLst>
                <a:path h="736600" w="101600">
                  <a:moveTo>
                    <a:pt x="50800" y="0"/>
                  </a:move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685800"/>
                  </a:lnTo>
                  <a:cubicBezTo>
                    <a:pt x="101600" y="713856"/>
                    <a:pt x="78856" y="736600"/>
                    <a:pt x="50800" y="736600"/>
                  </a:cubicBezTo>
                  <a:cubicBezTo>
                    <a:pt x="22744" y="736600"/>
                    <a:pt x="0" y="713856"/>
                    <a:pt x="0" y="6858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01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125075" y="5076825"/>
            <a:ext cx="615315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1627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DB Execution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876300" y="6191250"/>
            <a:ext cx="3714750" cy="2000250"/>
            <a:chOff x="0" y="0"/>
            <a:chExt cx="4953000" cy="2667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953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953000">
                  <a:moveTo>
                    <a:pt x="152400" y="0"/>
                  </a:moveTo>
                  <a:lnTo>
                    <a:pt x="4800600" y="0"/>
                  </a:lnTo>
                  <a:cubicBezTo>
                    <a:pt x="4884768" y="0"/>
                    <a:pt x="4953000" y="68232"/>
                    <a:pt x="4953000" y="152400"/>
                  </a:cubicBezTo>
                  <a:lnTo>
                    <a:pt x="4953000" y="2514600"/>
                  </a:lnTo>
                  <a:cubicBezTo>
                    <a:pt x="4953000" y="2598768"/>
                    <a:pt x="4884768" y="2667000"/>
                    <a:pt x="4800600" y="2667000"/>
                  </a:cubicBezTo>
                  <a:lnTo>
                    <a:pt x="152400" y="2667000"/>
                  </a:lnTo>
                  <a:cubicBezTo>
                    <a:pt x="68232" y="2667000"/>
                    <a:pt x="0" y="2598768"/>
                    <a:pt x="0" y="2514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BE5FF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953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76300" y="6191250"/>
            <a:ext cx="3714750" cy="76200"/>
            <a:chOff x="0" y="0"/>
            <a:chExt cx="4953000" cy="101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953000" cy="101600"/>
            </a:xfrm>
            <a:custGeom>
              <a:avLst/>
              <a:gdLst/>
              <a:ahLst/>
              <a:cxnLst/>
              <a:rect r="r" b="b" t="t" l="l"/>
              <a:pathLst>
                <a:path h="101600" w="4953000">
                  <a:moveTo>
                    <a:pt x="50800" y="0"/>
                  </a:moveTo>
                  <a:lnTo>
                    <a:pt x="4902200" y="0"/>
                  </a:lnTo>
                  <a:cubicBezTo>
                    <a:pt x="4930256" y="0"/>
                    <a:pt x="4953000" y="22744"/>
                    <a:pt x="4953000" y="50800"/>
                  </a:cubicBezTo>
                  <a:cubicBezTo>
                    <a:pt x="4953000" y="78856"/>
                    <a:pt x="4930256" y="101600"/>
                    <a:pt x="4902200" y="101600"/>
                  </a:cubicBezTo>
                  <a:lnTo>
                    <a:pt x="50800" y="101600"/>
                  </a:lnTo>
                  <a:cubicBezTo>
                    <a:pt x="22744" y="101600"/>
                    <a:pt x="0" y="78856"/>
                    <a:pt x="0" y="50800"/>
                  </a:cubicBez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953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23950" y="6477000"/>
            <a:ext cx="400050" cy="400050"/>
            <a:chOff x="0" y="0"/>
            <a:chExt cx="533400" cy="533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413994"/>
                    <a:pt x="119406" y="533400"/>
                    <a:pt x="266700" y="533400"/>
                  </a:cubicBezTo>
                  <a:cubicBezTo>
                    <a:pt x="413994" y="533400"/>
                    <a:pt x="533400" y="413994"/>
                    <a:pt x="533400" y="266700"/>
                  </a:cubicBezTo>
                  <a:cubicBezTo>
                    <a:pt x="533400" y="119406"/>
                    <a:pt x="413994" y="0"/>
                    <a:pt x="266700" y="0"/>
                  </a:cubicBezTo>
                  <a:cubicBezTo>
                    <a:pt x="119406" y="0"/>
                    <a:pt x="0" y="119406"/>
                    <a:pt x="0" y="26670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533400" cy="55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676400" y="6486525"/>
            <a:ext cx="26860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1627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CRUD APIs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23950" y="7115175"/>
            <a:ext cx="3219450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6274D"/>
                </a:solidFill>
                <a:latin typeface="Montserrat"/>
                <a:ea typeface="Montserrat"/>
                <a:cs typeface="Montserrat"/>
                <a:sym typeface="Montserrat"/>
              </a:rPr>
              <a:t>Built unified ApiResponse, DTOs, and resource-level privacy checks.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4819650" y="6191250"/>
            <a:ext cx="3714750" cy="2000250"/>
            <a:chOff x="0" y="0"/>
            <a:chExt cx="4953000" cy="26670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953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953000">
                  <a:moveTo>
                    <a:pt x="152400" y="0"/>
                  </a:moveTo>
                  <a:lnTo>
                    <a:pt x="4800600" y="0"/>
                  </a:lnTo>
                  <a:cubicBezTo>
                    <a:pt x="4884768" y="0"/>
                    <a:pt x="4953000" y="68232"/>
                    <a:pt x="4953000" y="152400"/>
                  </a:cubicBezTo>
                  <a:lnTo>
                    <a:pt x="4953000" y="2514600"/>
                  </a:lnTo>
                  <a:cubicBezTo>
                    <a:pt x="4953000" y="2598768"/>
                    <a:pt x="4884768" y="2667000"/>
                    <a:pt x="4800600" y="2667000"/>
                  </a:cubicBezTo>
                  <a:lnTo>
                    <a:pt x="152400" y="2667000"/>
                  </a:lnTo>
                  <a:cubicBezTo>
                    <a:pt x="68232" y="2667000"/>
                    <a:pt x="0" y="2598768"/>
                    <a:pt x="0" y="2514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BE5FF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953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819650" y="6191250"/>
            <a:ext cx="3714750" cy="76200"/>
            <a:chOff x="0" y="0"/>
            <a:chExt cx="4953000" cy="1016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953000" cy="101600"/>
            </a:xfrm>
            <a:custGeom>
              <a:avLst/>
              <a:gdLst/>
              <a:ahLst/>
              <a:cxnLst/>
              <a:rect r="r" b="b" t="t" l="l"/>
              <a:pathLst>
                <a:path h="101600" w="4953000">
                  <a:moveTo>
                    <a:pt x="50800" y="0"/>
                  </a:moveTo>
                  <a:lnTo>
                    <a:pt x="4902200" y="0"/>
                  </a:lnTo>
                  <a:cubicBezTo>
                    <a:pt x="4930256" y="0"/>
                    <a:pt x="4953000" y="22744"/>
                    <a:pt x="4953000" y="50800"/>
                  </a:cubicBezTo>
                  <a:cubicBezTo>
                    <a:pt x="4953000" y="78856"/>
                    <a:pt x="4930256" y="101600"/>
                    <a:pt x="4902200" y="101600"/>
                  </a:cubicBezTo>
                  <a:lnTo>
                    <a:pt x="50800" y="101600"/>
                  </a:lnTo>
                  <a:cubicBezTo>
                    <a:pt x="22744" y="101600"/>
                    <a:pt x="0" y="78856"/>
                    <a:pt x="0" y="50800"/>
                  </a:cubicBez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4953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5067300" y="6477000"/>
            <a:ext cx="400050" cy="400050"/>
            <a:chOff x="0" y="0"/>
            <a:chExt cx="533400" cy="533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413994"/>
                    <a:pt x="119406" y="533400"/>
                    <a:pt x="266700" y="533400"/>
                  </a:cubicBezTo>
                  <a:cubicBezTo>
                    <a:pt x="413994" y="533400"/>
                    <a:pt x="533400" y="413994"/>
                    <a:pt x="533400" y="266700"/>
                  </a:cubicBezTo>
                  <a:cubicBezTo>
                    <a:pt x="533400" y="119406"/>
                    <a:pt x="413994" y="0"/>
                    <a:pt x="266700" y="0"/>
                  </a:cubicBezTo>
                  <a:cubicBezTo>
                    <a:pt x="119406" y="0"/>
                    <a:pt x="0" y="119406"/>
                    <a:pt x="0" y="26670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533400" cy="55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5619750" y="6486525"/>
            <a:ext cx="26860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1627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 Engine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067300" y="7115175"/>
            <a:ext cx="3219450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6274D"/>
                </a:solidFill>
                <a:latin typeface="Montserrat"/>
                <a:ea typeface="Montserrat"/>
                <a:cs typeface="Montserrat"/>
                <a:sym typeface="Montserrat"/>
              </a:rPr>
              <a:t>Developed algorithmic prevention of invalid and circular task dependencies.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8763000" y="6191250"/>
            <a:ext cx="3714750" cy="2000250"/>
            <a:chOff x="0" y="0"/>
            <a:chExt cx="4953000" cy="26670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953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953000">
                  <a:moveTo>
                    <a:pt x="152400" y="0"/>
                  </a:moveTo>
                  <a:lnTo>
                    <a:pt x="4800600" y="0"/>
                  </a:lnTo>
                  <a:cubicBezTo>
                    <a:pt x="4884768" y="0"/>
                    <a:pt x="4953000" y="68232"/>
                    <a:pt x="4953000" y="152400"/>
                  </a:cubicBezTo>
                  <a:lnTo>
                    <a:pt x="4953000" y="2514600"/>
                  </a:lnTo>
                  <a:cubicBezTo>
                    <a:pt x="4953000" y="2598768"/>
                    <a:pt x="4884768" y="2667000"/>
                    <a:pt x="4800600" y="2667000"/>
                  </a:cubicBezTo>
                  <a:lnTo>
                    <a:pt x="152400" y="2667000"/>
                  </a:lnTo>
                  <a:cubicBezTo>
                    <a:pt x="68232" y="2667000"/>
                    <a:pt x="0" y="2598768"/>
                    <a:pt x="0" y="2514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BE5FF"/>
              </a:solidFill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4953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763000" y="6191250"/>
            <a:ext cx="3714750" cy="76200"/>
            <a:chOff x="0" y="0"/>
            <a:chExt cx="4953000" cy="1016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953000" cy="101600"/>
            </a:xfrm>
            <a:custGeom>
              <a:avLst/>
              <a:gdLst/>
              <a:ahLst/>
              <a:cxnLst/>
              <a:rect r="r" b="b" t="t" l="l"/>
              <a:pathLst>
                <a:path h="101600" w="4953000">
                  <a:moveTo>
                    <a:pt x="50800" y="0"/>
                  </a:moveTo>
                  <a:lnTo>
                    <a:pt x="4902200" y="0"/>
                  </a:lnTo>
                  <a:cubicBezTo>
                    <a:pt x="4930256" y="0"/>
                    <a:pt x="4953000" y="22744"/>
                    <a:pt x="4953000" y="50800"/>
                  </a:cubicBezTo>
                  <a:cubicBezTo>
                    <a:pt x="4953000" y="78856"/>
                    <a:pt x="4930256" y="101600"/>
                    <a:pt x="4902200" y="101600"/>
                  </a:cubicBezTo>
                  <a:lnTo>
                    <a:pt x="50800" y="101600"/>
                  </a:lnTo>
                  <a:cubicBezTo>
                    <a:pt x="22744" y="101600"/>
                    <a:pt x="0" y="78856"/>
                    <a:pt x="0" y="50800"/>
                  </a:cubicBez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4953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010650" y="6477000"/>
            <a:ext cx="400050" cy="400050"/>
            <a:chOff x="0" y="0"/>
            <a:chExt cx="533400" cy="533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413994"/>
                    <a:pt x="119406" y="533400"/>
                    <a:pt x="266700" y="533400"/>
                  </a:cubicBezTo>
                  <a:cubicBezTo>
                    <a:pt x="413994" y="533400"/>
                    <a:pt x="533400" y="413994"/>
                    <a:pt x="533400" y="266700"/>
                  </a:cubicBezTo>
                  <a:cubicBezTo>
                    <a:pt x="533400" y="119406"/>
                    <a:pt x="413994" y="0"/>
                    <a:pt x="266700" y="0"/>
                  </a:cubicBezTo>
                  <a:cubicBezTo>
                    <a:pt x="119406" y="0"/>
                    <a:pt x="0" y="119406"/>
                    <a:pt x="0" y="26670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533400" cy="55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9563100" y="6486525"/>
            <a:ext cx="26860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1627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&amp; ML Integration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010650" y="7115175"/>
            <a:ext cx="3219450" cy="98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6274D"/>
                </a:solidFill>
                <a:latin typeface="Montserrat"/>
                <a:ea typeface="Montserrat"/>
                <a:cs typeface="Montserrat"/>
                <a:sym typeface="Montserrat"/>
              </a:rPr>
              <a:t>Developed </a:t>
            </a:r>
            <a:r>
              <a:rPr lang="en-US" sz="1400">
                <a:solidFill>
                  <a:srgbClr val="16274D"/>
                </a:solidFill>
                <a:latin typeface="Montserrat"/>
                <a:ea typeface="Montserrat"/>
                <a:cs typeface="Montserrat"/>
                <a:sym typeface="Montserrat"/>
              </a:rPr>
              <a:t>APIs integrating external ML models for project delay prediction, risk analysis, and bottleneck detection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2706350" y="6191250"/>
            <a:ext cx="3714750" cy="2000250"/>
            <a:chOff x="0" y="0"/>
            <a:chExt cx="4953000" cy="26670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953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953000">
                  <a:moveTo>
                    <a:pt x="152400" y="0"/>
                  </a:moveTo>
                  <a:lnTo>
                    <a:pt x="4800600" y="0"/>
                  </a:lnTo>
                  <a:cubicBezTo>
                    <a:pt x="4884768" y="0"/>
                    <a:pt x="4953000" y="68232"/>
                    <a:pt x="4953000" y="152400"/>
                  </a:cubicBezTo>
                  <a:lnTo>
                    <a:pt x="4953000" y="2514600"/>
                  </a:lnTo>
                  <a:cubicBezTo>
                    <a:pt x="4953000" y="2598768"/>
                    <a:pt x="4884768" y="2667000"/>
                    <a:pt x="4800600" y="2667000"/>
                  </a:cubicBezTo>
                  <a:lnTo>
                    <a:pt x="152400" y="2667000"/>
                  </a:lnTo>
                  <a:cubicBezTo>
                    <a:pt x="68232" y="2667000"/>
                    <a:pt x="0" y="2598768"/>
                    <a:pt x="0" y="2514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BE5FF"/>
              </a:solidFill>
              <a:prstDash val="solid"/>
              <a:miter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953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706350" y="6191250"/>
            <a:ext cx="3714750" cy="76200"/>
            <a:chOff x="0" y="0"/>
            <a:chExt cx="4953000" cy="1016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953000" cy="101600"/>
            </a:xfrm>
            <a:custGeom>
              <a:avLst/>
              <a:gdLst/>
              <a:ahLst/>
              <a:cxnLst/>
              <a:rect r="r" b="b" t="t" l="l"/>
              <a:pathLst>
                <a:path h="101600" w="4953000">
                  <a:moveTo>
                    <a:pt x="50800" y="0"/>
                  </a:moveTo>
                  <a:lnTo>
                    <a:pt x="4902200" y="0"/>
                  </a:lnTo>
                  <a:cubicBezTo>
                    <a:pt x="4930256" y="0"/>
                    <a:pt x="4953000" y="22744"/>
                    <a:pt x="4953000" y="50800"/>
                  </a:cubicBezTo>
                  <a:cubicBezTo>
                    <a:pt x="4953000" y="78856"/>
                    <a:pt x="4930256" y="101600"/>
                    <a:pt x="4902200" y="101600"/>
                  </a:cubicBezTo>
                  <a:lnTo>
                    <a:pt x="50800" y="101600"/>
                  </a:lnTo>
                  <a:cubicBezTo>
                    <a:pt x="22744" y="101600"/>
                    <a:pt x="0" y="78856"/>
                    <a:pt x="0" y="50800"/>
                  </a:cubicBez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953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954000" y="6477000"/>
            <a:ext cx="400050" cy="400050"/>
            <a:chOff x="0" y="0"/>
            <a:chExt cx="533400" cy="5334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413994"/>
                    <a:pt x="119406" y="533400"/>
                    <a:pt x="266700" y="533400"/>
                  </a:cubicBezTo>
                  <a:cubicBezTo>
                    <a:pt x="413994" y="533400"/>
                    <a:pt x="533400" y="413994"/>
                    <a:pt x="533400" y="266700"/>
                  </a:cubicBezTo>
                  <a:cubicBezTo>
                    <a:pt x="533400" y="119406"/>
                    <a:pt x="413994" y="0"/>
                    <a:pt x="266700" y="0"/>
                  </a:cubicBezTo>
                  <a:cubicBezTo>
                    <a:pt x="119406" y="0"/>
                    <a:pt x="0" y="119406"/>
                    <a:pt x="0" y="26670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533400" cy="55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13506450" y="6486525"/>
            <a:ext cx="26860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1627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Automated Testing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2954000" y="7115175"/>
            <a:ext cx="3219450" cy="98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6274D"/>
                </a:solidFill>
                <a:latin typeface="Montserrat"/>
                <a:ea typeface="Montserrat"/>
                <a:cs typeface="Montserrat"/>
                <a:sym typeface="Montserrat"/>
              </a:rPr>
              <a:t>Executed 71+ tests covering AI integrations, real-time notifications, workload tracking, reporting, and secure core APIs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876300" y="8667750"/>
            <a:ext cx="16535400" cy="1066800"/>
            <a:chOff x="0" y="0"/>
            <a:chExt cx="22047200" cy="14224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20472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22047200">
                  <a:moveTo>
                    <a:pt x="152400" y="0"/>
                  </a:moveTo>
                  <a:lnTo>
                    <a:pt x="21894800" y="0"/>
                  </a:lnTo>
                  <a:cubicBezTo>
                    <a:pt x="21978969" y="0"/>
                    <a:pt x="22047200" y="68232"/>
                    <a:pt x="22047200" y="152400"/>
                  </a:cubicBezTo>
                  <a:lnTo>
                    <a:pt x="22047200" y="1270000"/>
                  </a:lnTo>
                  <a:cubicBezTo>
                    <a:pt x="22047200" y="1354168"/>
                    <a:pt x="21978969" y="1422400"/>
                    <a:pt x="21894800" y="1422400"/>
                  </a:cubicBezTo>
                  <a:lnTo>
                    <a:pt x="152400" y="1422400"/>
                  </a:lnTo>
                  <a:cubicBezTo>
                    <a:pt x="68232" y="1422400"/>
                    <a:pt x="0" y="1354168"/>
                    <a:pt x="0" y="1270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EF3FF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220472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43000" y="8934450"/>
            <a:ext cx="533400" cy="533400"/>
            <a:chOff x="0" y="0"/>
            <a:chExt cx="711200" cy="7112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0" y="355600"/>
                  </a:move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ubicBezTo>
                    <a:pt x="159208" y="0"/>
                    <a:pt x="0" y="159208"/>
                    <a:pt x="0" y="35560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✓</a:t>
              </a:r>
            </a:p>
          </p:txBody>
        </p:sp>
      </p:grpSp>
      <p:sp>
        <p:nvSpPr>
          <p:cNvPr name="TextBox 94" id="94"/>
          <p:cNvSpPr txBox="true"/>
          <p:nvPr/>
        </p:nvSpPr>
        <p:spPr>
          <a:xfrm rot="0">
            <a:off x="2019300" y="8972550"/>
            <a:ext cx="1466850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1627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Delivered secure, rigorously tested APIs powering advanced project management capabilities.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14350"/>
            <a:ext cx="12573000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1627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Real-Time Systems &amp; AI Infrastructure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5350" y="1341120"/>
            <a:ext cx="1381125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Empowering ScaleFlow with instant updates and AI integration bridges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811625" y="742950"/>
            <a:ext cx="514350" cy="514350"/>
            <a:chOff x="0" y="0"/>
            <a:chExt cx="685800" cy="685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342900"/>
                  </a:moveTo>
                  <a:cubicBezTo>
                    <a:pt x="0" y="532278"/>
                    <a:pt x="153522" y="685800"/>
                    <a:pt x="342900" y="685800"/>
                  </a:cubicBezTo>
                  <a:cubicBezTo>
                    <a:pt x="532278" y="685800"/>
                    <a:pt x="685800" y="532278"/>
                    <a:pt x="685800" y="342900"/>
                  </a:cubicBezTo>
                  <a:cubicBezTo>
                    <a:pt x="685800" y="153522"/>
                    <a:pt x="532278" y="0"/>
                    <a:pt x="342900" y="0"/>
                  </a:cubicBezTo>
                  <a:cubicBezTo>
                    <a:pt x="153522" y="0"/>
                    <a:pt x="0" y="153522"/>
                    <a:pt x="0" y="342900"/>
                  </a:cubicBezTo>
                  <a:close/>
                </a:path>
              </a:pathLst>
            </a:custGeom>
            <a:ln w="38100" cap="sq">
              <a:solidFill>
                <a:srgbClr val="5271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54500" y="885825"/>
            <a:ext cx="228600" cy="228600"/>
            <a:chOff x="0" y="0"/>
            <a:chExt cx="304800" cy="304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152400"/>
                  </a:moveTo>
                  <a:cubicBezTo>
                    <a:pt x="0" y="236568"/>
                    <a:pt x="68232" y="304800"/>
                    <a:pt x="152400" y="304800"/>
                  </a:cubicBezTo>
                  <a:cubicBezTo>
                    <a:pt x="236568" y="304800"/>
                    <a:pt x="304800" y="236568"/>
                    <a:pt x="304800" y="152400"/>
                  </a:cubicBezTo>
                  <a:cubicBezTo>
                    <a:pt x="304800" y="68232"/>
                    <a:pt x="236568" y="0"/>
                    <a:pt x="152400" y="0"/>
                  </a:cubicBezTo>
                  <a:cubicBezTo>
                    <a:pt x="68232" y="0"/>
                    <a:pt x="0" y="68232"/>
                    <a:pt x="0" y="152400"/>
                  </a:cubicBezTo>
                  <a:close/>
                </a:path>
              </a:pathLst>
            </a:custGeom>
            <a:ln w="28575" cap="sq">
              <a:solidFill>
                <a:srgbClr val="8B5CF6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191250" y="2171700"/>
            <a:ext cx="10477500" cy="571500"/>
            <a:chOff x="0" y="0"/>
            <a:chExt cx="13970000" cy="76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97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3970000">
                  <a:moveTo>
                    <a:pt x="177800" y="0"/>
                  </a:moveTo>
                  <a:lnTo>
                    <a:pt x="13792200" y="0"/>
                  </a:lnTo>
                  <a:cubicBezTo>
                    <a:pt x="13890396" y="0"/>
                    <a:pt x="13970000" y="79604"/>
                    <a:pt x="13970000" y="177800"/>
                  </a:cubicBezTo>
                  <a:lnTo>
                    <a:pt x="13970000" y="584200"/>
                  </a:lnTo>
                  <a:cubicBezTo>
                    <a:pt x="13970000" y="682396"/>
                    <a:pt x="13890396" y="762000"/>
                    <a:pt x="13792200" y="762000"/>
                  </a:cubicBezTo>
                  <a:lnTo>
                    <a:pt x="177800" y="762000"/>
                  </a:lnTo>
                  <a:cubicBezTo>
                    <a:pt x="79604" y="762000"/>
                    <a:pt x="0" y="682396"/>
                    <a:pt x="0" y="584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8B5CF6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97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457950" y="2295525"/>
            <a:ext cx="994410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1627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Report Generation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191250" y="2971800"/>
            <a:ext cx="10477500" cy="571500"/>
            <a:chOff x="0" y="0"/>
            <a:chExt cx="13970000" cy="762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97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3970000">
                  <a:moveTo>
                    <a:pt x="177800" y="0"/>
                  </a:moveTo>
                  <a:lnTo>
                    <a:pt x="13792200" y="0"/>
                  </a:lnTo>
                  <a:cubicBezTo>
                    <a:pt x="13890396" y="0"/>
                    <a:pt x="13970000" y="79604"/>
                    <a:pt x="13970000" y="177800"/>
                  </a:cubicBezTo>
                  <a:lnTo>
                    <a:pt x="13970000" y="584200"/>
                  </a:lnTo>
                  <a:cubicBezTo>
                    <a:pt x="13970000" y="682396"/>
                    <a:pt x="13890396" y="762000"/>
                    <a:pt x="13792200" y="762000"/>
                  </a:cubicBezTo>
                  <a:lnTo>
                    <a:pt x="177800" y="762000"/>
                  </a:lnTo>
                  <a:cubicBezTo>
                    <a:pt x="79604" y="762000"/>
                    <a:pt x="0" y="682396"/>
                    <a:pt x="0" y="584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5271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97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457950" y="3095625"/>
            <a:ext cx="994410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1627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Integration API (JSON)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91250" y="3771900"/>
            <a:ext cx="10477500" cy="571500"/>
            <a:chOff x="0" y="0"/>
            <a:chExt cx="13970000" cy="762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97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3970000">
                  <a:moveTo>
                    <a:pt x="177800" y="0"/>
                  </a:moveTo>
                  <a:lnTo>
                    <a:pt x="13792200" y="0"/>
                  </a:lnTo>
                  <a:cubicBezTo>
                    <a:pt x="13890396" y="0"/>
                    <a:pt x="13970000" y="79604"/>
                    <a:pt x="13970000" y="177800"/>
                  </a:cubicBezTo>
                  <a:lnTo>
                    <a:pt x="13970000" y="584200"/>
                  </a:lnTo>
                  <a:cubicBezTo>
                    <a:pt x="13970000" y="682396"/>
                    <a:pt x="13890396" y="762000"/>
                    <a:pt x="13792200" y="762000"/>
                  </a:cubicBezTo>
                  <a:lnTo>
                    <a:pt x="177800" y="762000"/>
                  </a:lnTo>
                  <a:cubicBezTo>
                    <a:pt x="79604" y="762000"/>
                    <a:pt x="0" y="682396"/>
                    <a:pt x="0" y="584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8B5CF6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397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457950" y="3895725"/>
            <a:ext cx="994410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1627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 Storage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191250" y="4572000"/>
            <a:ext cx="10477500" cy="571500"/>
            <a:chOff x="0" y="0"/>
            <a:chExt cx="13970000" cy="762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97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3970000">
                  <a:moveTo>
                    <a:pt x="177800" y="0"/>
                  </a:moveTo>
                  <a:lnTo>
                    <a:pt x="13792200" y="0"/>
                  </a:lnTo>
                  <a:cubicBezTo>
                    <a:pt x="13890396" y="0"/>
                    <a:pt x="13970000" y="79604"/>
                    <a:pt x="13970000" y="177800"/>
                  </a:cubicBezTo>
                  <a:lnTo>
                    <a:pt x="13970000" y="584200"/>
                  </a:lnTo>
                  <a:cubicBezTo>
                    <a:pt x="13970000" y="682396"/>
                    <a:pt x="13890396" y="762000"/>
                    <a:pt x="13792200" y="762000"/>
                  </a:cubicBezTo>
                  <a:lnTo>
                    <a:pt x="177800" y="762000"/>
                  </a:lnTo>
                  <a:cubicBezTo>
                    <a:pt x="79604" y="762000"/>
                    <a:pt x="0" y="682396"/>
                    <a:pt x="0" y="584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5271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397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457950" y="4695825"/>
            <a:ext cx="994410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1627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Notifications Engine Trigger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191250" y="5372100"/>
            <a:ext cx="10477500" cy="571500"/>
            <a:chOff x="0" y="0"/>
            <a:chExt cx="13970000" cy="762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97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3970000">
                  <a:moveTo>
                    <a:pt x="177800" y="0"/>
                  </a:moveTo>
                  <a:lnTo>
                    <a:pt x="13792200" y="0"/>
                  </a:lnTo>
                  <a:cubicBezTo>
                    <a:pt x="13890396" y="0"/>
                    <a:pt x="13970000" y="79604"/>
                    <a:pt x="13970000" y="177800"/>
                  </a:cubicBezTo>
                  <a:lnTo>
                    <a:pt x="13970000" y="584200"/>
                  </a:lnTo>
                  <a:cubicBezTo>
                    <a:pt x="13970000" y="682396"/>
                    <a:pt x="13890396" y="762000"/>
                    <a:pt x="13792200" y="762000"/>
                  </a:cubicBezTo>
                  <a:lnTo>
                    <a:pt x="177800" y="762000"/>
                  </a:lnTo>
                  <a:cubicBezTo>
                    <a:pt x="79604" y="762000"/>
                    <a:pt x="0" y="682396"/>
                    <a:pt x="0" y="584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8B5CF6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397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6457950" y="5495925"/>
            <a:ext cx="994410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1627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SignalR Live Broadcasting</a:t>
            </a:r>
          </a:p>
        </p:txBody>
      </p:sp>
      <p:sp>
        <p:nvSpPr>
          <p:cNvPr name="AutoShape 30" id="30"/>
          <p:cNvSpPr/>
          <p:nvPr/>
        </p:nvSpPr>
        <p:spPr>
          <a:xfrm>
            <a:off x="11430000" y="2743200"/>
            <a:ext cx="0" cy="228600"/>
          </a:xfrm>
          <a:prstGeom prst="line">
            <a:avLst/>
          </a:prstGeom>
          <a:ln cap="flat" w="28575">
            <a:solidFill>
              <a:srgbClr val="8B5CF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1" id="31"/>
          <p:cNvSpPr/>
          <p:nvPr/>
        </p:nvSpPr>
        <p:spPr>
          <a:xfrm>
            <a:off x="11430000" y="3543300"/>
            <a:ext cx="0" cy="228600"/>
          </a:xfrm>
          <a:prstGeom prst="line">
            <a:avLst/>
          </a:prstGeom>
          <a:ln cap="flat" w="28575">
            <a:solidFill>
              <a:srgbClr val="5271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2" id="32"/>
          <p:cNvSpPr/>
          <p:nvPr/>
        </p:nvSpPr>
        <p:spPr>
          <a:xfrm>
            <a:off x="11430000" y="4343400"/>
            <a:ext cx="0" cy="228600"/>
          </a:xfrm>
          <a:prstGeom prst="line">
            <a:avLst/>
          </a:prstGeom>
          <a:ln cap="flat" w="28575">
            <a:solidFill>
              <a:srgbClr val="8B5CF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>
            <a:off x="11430000" y="5143500"/>
            <a:ext cx="0" cy="228600"/>
          </a:xfrm>
          <a:prstGeom prst="line">
            <a:avLst/>
          </a:prstGeom>
          <a:ln cap="flat" w="28575">
            <a:solidFill>
              <a:srgbClr val="5271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4" id="34"/>
          <p:cNvGrpSpPr/>
          <p:nvPr/>
        </p:nvGrpSpPr>
        <p:grpSpPr>
          <a:xfrm rot="0">
            <a:off x="876300" y="6667500"/>
            <a:ext cx="4000500" cy="2038350"/>
            <a:chOff x="0" y="0"/>
            <a:chExt cx="5334000" cy="2717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34000" cy="2717800"/>
            </a:xfrm>
            <a:custGeom>
              <a:avLst/>
              <a:gdLst/>
              <a:ahLst/>
              <a:cxnLst/>
              <a:rect r="r" b="b" t="t" l="l"/>
              <a:pathLst>
                <a:path h="2717800" w="5334000">
                  <a:moveTo>
                    <a:pt x="177800" y="0"/>
                  </a:moveTo>
                  <a:lnTo>
                    <a:pt x="5156200" y="0"/>
                  </a:lnTo>
                  <a:cubicBezTo>
                    <a:pt x="5254396" y="0"/>
                    <a:pt x="5334000" y="79604"/>
                    <a:pt x="5334000" y="177800"/>
                  </a:cubicBezTo>
                  <a:lnTo>
                    <a:pt x="5334000" y="2540000"/>
                  </a:lnTo>
                  <a:cubicBezTo>
                    <a:pt x="5334000" y="2638196"/>
                    <a:pt x="5254396" y="2717800"/>
                    <a:pt x="5156200" y="2717800"/>
                  </a:cubicBezTo>
                  <a:lnTo>
                    <a:pt x="177800" y="2717800"/>
                  </a:lnTo>
                  <a:cubicBezTo>
                    <a:pt x="79604" y="2717800"/>
                    <a:pt x="0" y="2638196"/>
                    <a:pt x="0" y="25400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BE4F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334000" cy="275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76300" y="6667500"/>
            <a:ext cx="4000500" cy="76200"/>
            <a:chOff x="0" y="0"/>
            <a:chExt cx="5334000" cy="101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3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5334000">
                  <a:moveTo>
                    <a:pt x="50800" y="0"/>
                  </a:moveTo>
                  <a:lnTo>
                    <a:pt x="5283200" y="0"/>
                  </a:lnTo>
                  <a:cubicBezTo>
                    <a:pt x="5311256" y="0"/>
                    <a:pt x="5334000" y="22744"/>
                    <a:pt x="5334000" y="50800"/>
                  </a:cubicBezTo>
                  <a:cubicBezTo>
                    <a:pt x="5334000" y="78856"/>
                    <a:pt x="5311256" y="101600"/>
                    <a:pt x="5283200" y="101600"/>
                  </a:cubicBezTo>
                  <a:lnTo>
                    <a:pt x="50800" y="101600"/>
                  </a:lnTo>
                  <a:cubicBezTo>
                    <a:pt x="22744" y="101600"/>
                    <a:pt x="0" y="78856"/>
                    <a:pt x="0" y="50800"/>
                  </a:cubicBez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33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104900" y="6915150"/>
            <a:ext cx="35433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1627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Real-Time SignalR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04900" y="7419975"/>
            <a:ext cx="354330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16274D"/>
                </a:solidFill>
                <a:latin typeface="Montserrat"/>
                <a:ea typeface="Montserrat"/>
                <a:cs typeface="Montserrat"/>
                <a:sym typeface="Montserrat"/>
              </a:rPr>
              <a:t>WebSockets broadcasting for instant UI updates via authenticated ScaleFlowHub.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5086350" y="6667500"/>
            <a:ext cx="4000500" cy="2038350"/>
            <a:chOff x="0" y="0"/>
            <a:chExt cx="5334000" cy="2717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34000" cy="2717800"/>
            </a:xfrm>
            <a:custGeom>
              <a:avLst/>
              <a:gdLst/>
              <a:ahLst/>
              <a:cxnLst/>
              <a:rect r="r" b="b" t="t" l="l"/>
              <a:pathLst>
                <a:path h="2717800" w="5334000">
                  <a:moveTo>
                    <a:pt x="177800" y="0"/>
                  </a:moveTo>
                  <a:lnTo>
                    <a:pt x="5156200" y="0"/>
                  </a:lnTo>
                  <a:cubicBezTo>
                    <a:pt x="5254396" y="0"/>
                    <a:pt x="5334000" y="79604"/>
                    <a:pt x="5334000" y="177800"/>
                  </a:cubicBezTo>
                  <a:lnTo>
                    <a:pt x="5334000" y="2540000"/>
                  </a:lnTo>
                  <a:cubicBezTo>
                    <a:pt x="5334000" y="2638196"/>
                    <a:pt x="5254396" y="2717800"/>
                    <a:pt x="5156200" y="2717800"/>
                  </a:cubicBezTo>
                  <a:lnTo>
                    <a:pt x="177800" y="2717800"/>
                  </a:lnTo>
                  <a:cubicBezTo>
                    <a:pt x="79604" y="2717800"/>
                    <a:pt x="0" y="2638196"/>
                    <a:pt x="0" y="25400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BE4FF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5334000" cy="275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086350" y="6667500"/>
            <a:ext cx="4000500" cy="76200"/>
            <a:chOff x="0" y="0"/>
            <a:chExt cx="5334000" cy="101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3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5334000">
                  <a:moveTo>
                    <a:pt x="50800" y="0"/>
                  </a:moveTo>
                  <a:lnTo>
                    <a:pt x="5283200" y="0"/>
                  </a:lnTo>
                  <a:cubicBezTo>
                    <a:pt x="5311256" y="0"/>
                    <a:pt x="5334000" y="22744"/>
                    <a:pt x="5334000" y="50800"/>
                  </a:cubicBezTo>
                  <a:cubicBezTo>
                    <a:pt x="5334000" y="78856"/>
                    <a:pt x="5311256" y="101600"/>
                    <a:pt x="5283200" y="101600"/>
                  </a:cubicBezTo>
                  <a:lnTo>
                    <a:pt x="50800" y="101600"/>
                  </a:lnTo>
                  <a:cubicBezTo>
                    <a:pt x="22744" y="101600"/>
                    <a:pt x="0" y="78856"/>
                    <a:pt x="0" y="50800"/>
                  </a:cubicBez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533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5314950" y="6915150"/>
            <a:ext cx="35433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1627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AI/ML Infrastructure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314950" y="7419975"/>
            <a:ext cx="3543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16274D"/>
                </a:solidFill>
                <a:latin typeface="Montserrat"/>
                <a:ea typeface="Montserrat"/>
                <a:cs typeface="Montserrat"/>
                <a:sym typeface="Montserrat"/>
              </a:rPr>
              <a:t>Prepared tables and logic for project health, risk, and delay predictions.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296400" y="6667500"/>
            <a:ext cx="4000500" cy="2038350"/>
            <a:chOff x="0" y="0"/>
            <a:chExt cx="5334000" cy="2717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34000" cy="2717800"/>
            </a:xfrm>
            <a:custGeom>
              <a:avLst/>
              <a:gdLst/>
              <a:ahLst/>
              <a:cxnLst/>
              <a:rect r="r" b="b" t="t" l="l"/>
              <a:pathLst>
                <a:path h="2717800" w="5334000">
                  <a:moveTo>
                    <a:pt x="177800" y="0"/>
                  </a:moveTo>
                  <a:lnTo>
                    <a:pt x="5156200" y="0"/>
                  </a:lnTo>
                  <a:cubicBezTo>
                    <a:pt x="5254396" y="0"/>
                    <a:pt x="5334000" y="79604"/>
                    <a:pt x="5334000" y="177800"/>
                  </a:cubicBezTo>
                  <a:lnTo>
                    <a:pt x="5334000" y="2540000"/>
                  </a:lnTo>
                  <a:cubicBezTo>
                    <a:pt x="5334000" y="2638196"/>
                    <a:pt x="5254396" y="2717800"/>
                    <a:pt x="5156200" y="2717800"/>
                  </a:cubicBezTo>
                  <a:lnTo>
                    <a:pt x="177800" y="2717800"/>
                  </a:lnTo>
                  <a:cubicBezTo>
                    <a:pt x="79604" y="2717800"/>
                    <a:pt x="0" y="2638196"/>
                    <a:pt x="0" y="25400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BE4FF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334000" cy="275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296400" y="6667500"/>
            <a:ext cx="4000500" cy="76200"/>
            <a:chOff x="0" y="0"/>
            <a:chExt cx="5334000" cy="101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3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5334000">
                  <a:moveTo>
                    <a:pt x="50800" y="0"/>
                  </a:moveTo>
                  <a:lnTo>
                    <a:pt x="5283200" y="0"/>
                  </a:lnTo>
                  <a:cubicBezTo>
                    <a:pt x="5311256" y="0"/>
                    <a:pt x="5334000" y="22744"/>
                    <a:pt x="5334000" y="50800"/>
                  </a:cubicBezTo>
                  <a:cubicBezTo>
                    <a:pt x="5334000" y="78856"/>
                    <a:pt x="5311256" y="101600"/>
                    <a:pt x="5283200" y="101600"/>
                  </a:cubicBezTo>
                  <a:lnTo>
                    <a:pt x="50800" y="101600"/>
                  </a:lnTo>
                  <a:cubicBezTo>
                    <a:pt x="22744" y="101600"/>
                    <a:pt x="0" y="78856"/>
                    <a:pt x="0" y="50800"/>
                  </a:cubicBez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533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9525000" y="6915150"/>
            <a:ext cx="35433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1627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Integration API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525000" y="7419975"/>
            <a:ext cx="354330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16274D"/>
                </a:solidFill>
                <a:latin typeface="Montserrat"/>
                <a:ea typeface="Montserrat"/>
                <a:cs typeface="Montserrat"/>
                <a:sym typeface="Montserrat"/>
              </a:rPr>
              <a:t>Built endpoints to receive and store AI-generated reports as structured JSON.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3506450" y="6667500"/>
            <a:ext cx="4000500" cy="2038350"/>
            <a:chOff x="0" y="0"/>
            <a:chExt cx="5334000" cy="2717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334000" cy="2717800"/>
            </a:xfrm>
            <a:custGeom>
              <a:avLst/>
              <a:gdLst/>
              <a:ahLst/>
              <a:cxnLst/>
              <a:rect r="r" b="b" t="t" l="l"/>
              <a:pathLst>
                <a:path h="2717800" w="5334000">
                  <a:moveTo>
                    <a:pt x="177800" y="0"/>
                  </a:moveTo>
                  <a:lnTo>
                    <a:pt x="5156200" y="0"/>
                  </a:lnTo>
                  <a:cubicBezTo>
                    <a:pt x="5254396" y="0"/>
                    <a:pt x="5334000" y="79604"/>
                    <a:pt x="5334000" y="177800"/>
                  </a:cubicBezTo>
                  <a:lnTo>
                    <a:pt x="5334000" y="2540000"/>
                  </a:lnTo>
                  <a:cubicBezTo>
                    <a:pt x="5334000" y="2638196"/>
                    <a:pt x="5254396" y="2717800"/>
                    <a:pt x="5156200" y="2717800"/>
                  </a:cubicBezTo>
                  <a:lnTo>
                    <a:pt x="177800" y="2717800"/>
                  </a:lnTo>
                  <a:cubicBezTo>
                    <a:pt x="79604" y="2717800"/>
                    <a:pt x="0" y="2638196"/>
                    <a:pt x="0" y="25400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BE4FF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5334000" cy="275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506450" y="6667500"/>
            <a:ext cx="4000500" cy="76200"/>
            <a:chOff x="0" y="0"/>
            <a:chExt cx="5334000" cy="1016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33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5334000">
                  <a:moveTo>
                    <a:pt x="50800" y="0"/>
                  </a:moveTo>
                  <a:lnTo>
                    <a:pt x="5283200" y="0"/>
                  </a:lnTo>
                  <a:cubicBezTo>
                    <a:pt x="5311256" y="0"/>
                    <a:pt x="5334000" y="22744"/>
                    <a:pt x="5334000" y="50800"/>
                  </a:cubicBezTo>
                  <a:cubicBezTo>
                    <a:pt x="5334000" y="78856"/>
                    <a:pt x="5311256" y="101600"/>
                    <a:pt x="5283200" y="101600"/>
                  </a:cubicBezTo>
                  <a:lnTo>
                    <a:pt x="50800" y="101600"/>
                  </a:lnTo>
                  <a:cubicBezTo>
                    <a:pt x="22744" y="101600"/>
                    <a:pt x="0" y="78856"/>
                    <a:pt x="0" y="50800"/>
                  </a:cubicBez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533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3735050" y="6915150"/>
            <a:ext cx="35433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1627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Notifications Engine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735050" y="7419975"/>
            <a:ext cx="354330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16274D"/>
                </a:solidFill>
                <a:latin typeface="Montserrat"/>
                <a:ea typeface="Montserrat"/>
                <a:cs typeface="Montserrat"/>
                <a:sym typeface="Montserrat"/>
              </a:rPr>
              <a:t>Centralized endpoints for fetching system events and AI-triggered alerts.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876300" y="9067800"/>
            <a:ext cx="16535400" cy="781050"/>
            <a:chOff x="0" y="0"/>
            <a:chExt cx="22047200" cy="10414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20472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22047200">
                  <a:moveTo>
                    <a:pt x="177800" y="0"/>
                  </a:moveTo>
                  <a:lnTo>
                    <a:pt x="21869400" y="0"/>
                  </a:lnTo>
                  <a:cubicBezTo>
                    <a:pt x="21967596" y="0"/>
                    <a:pt x="22047200" y="79604"/>
                    <a:pt x="22047200" y="177800"/>
                  </a:cubicBezTo>
                  <a:lnTo>
                    <a:pt x="22047200" y="863600"/>
                  </a:lnTo>
                  <a:cubicBezTo>
                    <a:pt x="22047200" y="961796"/>
                    <a:pt x="21967596" y="1041400"/>
                    <a:pt x="21869400" y="1041400"/>
                  </a:cubicBezTo>
                  <a:lnTo>
                    <a:pt x="177800" y="1041400"/>
                  </a:lnTo>
                  <a:cubicBezTo>
                    <a:pt x="79604" y="1041400"/>
                    <a:pt x="0" y="961796"/>
                    <a:pt x="0" y="8636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EEF3FF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220472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62050" y="9372600"/>
            <a:ext cx="171450" cy="171450"/>
            <a:chOff x="0" y="0"/>
            <a:chExt cx="228600" cy="2286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114300"/>
                  </a:moveTo>
                  <a:cubicBezTo>
                    <a:pt x="0" y="177426"/>
                    <a:pt x="51174" y="228600"/>
                    <a:pt x="114300" y="228600"/>
                  </a:cubicBez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ubicBezTo>
                    <a:pt x="51174" y="0"/>
                    <a:pt x="0" y="51174"/>
                    <a:pt x="0" y="11430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2286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1619250" y="9258300"/>
            <a:ext cx="1533525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1627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Transformed ScaleFlow into a live, reactive platform fully prepared for AI integration.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35000" y="0"/>
            <a:ext cx="4953000" cy="10287000"/>
          </a:xfrm>
          <a:custGeom>
            <a:avLst/>
            <a:gdLst/>
            <a:ahLst/>
            <a:cxnLst/>
            <a:rect r="r" b="b" t="t" l="l"/>
            <a:pathLst>
              <a:path h="10287000" w="4953000">
                <a:moveTo>
                  <a:pt x="0" y="0"/>
                </a:moveTo>
                <a:lnTo>
                  <a:pt x="4953000" y="0"/>
                </a:lnTo>
                <a:lnTo>
                  <a:pt x="4953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" r="0" b="-24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47750" y="676275"/>
            <a:ext cx="4762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15" b="true">
                <a:solidFill>
                  <a:srgbClr val="4F7CFF"/>
                </a:solidFill>
                <a:latin typeface="DM Sans Bold"/>
                <a:ea typeface="DM Sans Bold"/>
                <a:cs typeface="DM Sans Bold"/>
                <a:sym typeface="DM Sans Bold"/>
              </a:rPr>
              <a:t>SCALEFLOW  ◇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763803" y="4510125"/>
            <a:ext cx="9048750" cy="13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9"/>
              </a:lnSpc>
            </a:pPr>
            <a:r>
              <a:rPr lang="en-US" b="true" sz="9999">
                <a:solidFill>
                  <a:srgbClr val="527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Mostafa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47750" y="6157833"/>
            <a:ext cx="9144000" cy="731520"/>
            <a:chOff x="0" y="0"/>
            <a:chExt cx="1219200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920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219200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Backend</a:t>
              </a:r>
              <a:r>
                <a:rPr lang="en-US" sz="3200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Track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7750" y="6980535"/>
            <a:ext cx="9144000" cy="1010443"/>
            <a:chOff x="0" y="0"/>
            <a:chExt cx="12192000" cy="13472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92000" cy="1347257"/>
            </a:xfrm>
            <a:custGeom>
              <a:avLst/>
              <a:gdLst/>
              <a:ahLst/>
              <a:cxnLst/>
              <a:rect r="r" b="b" t="t" l="l"/>
              <a:pathLst>
                <a:path h="1347257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347257"/>
                  </a:lnTo>
                  <a:lnTo>
                    <a:pt x="0" y="13472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181" r="0" b="-1034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2192000" cy="1347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B647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</a:t>
              </a:r>
              <a:r>
                <a:rPr lang="en-US" sz="2000">
                  <a:solidFill>
                    <a:srgbClr val="5B647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thentication &amp; RBAC · API Security · Security Testing</a:t>
              </a:r>
            </a:p>
            <a:p>
              <a:pPr algn="l">
                <a:lnSpc>
                  <a:spcPts val="2400"/>
                </a:lnSpc>
              </a:pPr>
            </a:p>
            <a:p>
              <a:pPr algn="l">
                <a:lnSpc>
                  <a:spcPts val="2400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42574" y="0"/>
            <a:ext cx="4145426" cy="9007957"/>
          </a:xfrm>
          <a:custGeom>
            <a:avLst/>
            <a:gdLst/>
            <a:ahLst/>
            <a:cxnLst/>
            <a:rect r="r" b="b" t="t" l="l"/>
            <a:pathLst>
              <a:path h="9007957" w="4145426">
                <a:moveTo>
                  <a:pt x="0" y="0"/>
                </a:moveTo>
                <a:lnTo>
                  <a:pt x="4145426" y="0"/>
                </a:lnTo>
                <a:lnTo>
                  <a:pt x="4145426" y="9007957"/>
                </a:lnTo>
                <a:lnTo>
                  <a:pt x="0" y="90079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03196" y="634055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87552" y="2930136"/>
            <a:ext cx="5522976" cy="1646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9"/>
              </a:lnSpc>
            </a:pPr>
            <a:r>
              <a:rPr lang="en-US" sz="6694" spc="-267" b="true">
                <a:solidFill>
                  <a:srgbClr val="112244"/>
                </a:solidFill>
                <a:latin typeface="Lato Heavy"/>
                <a:ea typeface="Lato Heavy"/>
                <a:cs typeface="Lato Heavy"/>
                <a:sym typeface="Lato Heavy"/>
              </a:rPr>
              <a:t>Authentication</a:t>
            </a:r>
          </a:p>
          <a:p>
            <a:pPr algn="l">
              <a:lnSpc>
                <a:spcPts val="6359"/>
              </a:lnSpc>
            </a:pPr>
            <a:r>
              <a:rPr lang="en-US" sz="6694" spc="-267" b="true">
                <a:solidFill>
                  <a:srgbClr val="112244"/>
                </a:solidFill>
                <a:latin typeface="Lato Heavy"/>
                <a:ea typeface="Lato Heavy"/>
                <a:cs typeface="Lato Heavy"/>
                <a:sym typeface="Lato Heavy"/>
              </a:rPr>
              <a:t>&amp; RBAC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7552" y="4727514"/>
            <a:ext cx="5065776" cy="86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4"/>
              </a:lnSpc>
            </a:pPr>
            <a:r>
              <a:rPr lang="en-US" sz="2978" b="true">
                <a:solidFill>
                  <a:srgbClr val="112244"/>
                </a:solidFill>
                <a:latin typeface="Lato Bold"/>
                <a:ea typeface="Lato Bold"/>
                <a:cs typeface="Lato Bold"/>
                <a:sym typeface="Lato Bold"/>
              </a:rPr>
              <a:t>Complete, secure, and verify the authentication flow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956440" y="634055"/>
            <a:ext cx="3500096" cy="1519546"/>
          </a:xfrm>
          <a:custGeom>
            <a:avLst/>
            <a:gdLst/>
            <a:ahLst/>
            <a:cxnLst/>
            <a:rect r="r" b="b" t="t" l="l"/>
            <a:pathLst>
              <a:path h="1519546" w="3500096">
                <a:moveTo>
                  <a:pt x="0" y="0"/>
                </a:moveTo>
                <a:lnTo>
                  <a:pt x="3500096" y="0"/>
                </a:lnTo>
                <a:lnTo>
                  <a:pt x="350009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393952" y="1071335"/>
            <a:ext cx="667206" cy="863627"/>
          </a:xfrm>
          <a:custGeom>
            <a:avLst/>
            <a:gdLst/>
            <a:ahLst/>
            <a:cxnLst/>
            <a:rect r="r" b="b" t="t" l="l"/>
            <a:pathLst>
              <a:path h="863627" w="667206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503920" y="1312041"/>
            <a:ext cx="1005840" cy="276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1"/>
              </a:lnSpc>
            </a:pPr>
            <a:r>
              <a:rPr lang="en-US" sz="1940" b="true">
                <a:solidFill>
                  <a:srgbClr val="112244"/>
                </a:solidFill>
                <a:latin typeface="Lato Bold"/>
                <a:ea typeface="Lato Bold"/>
                <a:cs typeface="Lato Bold"/>
                <a:sym typeface="Lato Bold"/>
              </a:rPr>
              <a:t>Register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487732" y="1924030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956440" y="2142670"/>
            <a:ext cx="3500096" cy="1508614"/>
          </a:xfrm>
          <a:custGeom>
            <a:avLst/>
            <a:gdLst/>
            <a:ahLst/>
            <a:cxnLst/>
            <a:rect r="r" b="b" t="t" l="l"/>
            <a:pathLst>
              <a:path h="1508614" w="3500096">
                <a:moveTo>
                  <a:pt x="0" y="0"/>
                </a:moveTo>
                <a:lnTo>
                  <a:pt x="3500096" y="0"/>
                </a:lnTo>
                <a:lnTo>
                  <a:pt x="350009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393952" y="2569017"/>
            <a:ext cx="667206" cy="863627"/>
          </a:xfrm>
          <a:custGeom>
            <a:avLst/>
            <a:gdLst/>
            <a:ahLst/>
            <a:cxnLst/>
            <a:rect r="r" b="b" t="t" l="l"/>
            <a:pathLst>
              <a:path h="863627" w="667206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503920" y="2824230"/>
            <a:ext cx="676656" cy="276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1"/>
              </a:lnSpc>
            </a:pPr>
            <a:r>
              <a:rPr lang="en-US" sz="1940" b="true">
                <a:solidFill>
                  <a:srgbClr val="112244"/>
                </a:solidFill>
                <a:latin typeface="Lato Bold"/>
                <a:ea typeface="Lato Bold"/>
                <a:cs typeface="Lato Bold"/>
                <a:sym typeface="Lato Bold"/>
              </a:rPr>
              <a:t>Login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487732" y="342171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956440" y="3640352"/>
            <a:ext cx="3500096" cy="1508614"/>
          </a:xfrm>
          <a:custGeom>
            <a:avLst/>
            <a:gdLst/>
            <a:ahLst/>
            <a:cxnLst/>
            <a:rect r="r" b="b" t="t" l="l"/>
            <a:pathLst>
              <a:path h="1508614" w="3500096">
                <a:moveTo>
                  <a:pt x="0" y="0"/>
                </a:moveTo>
                <a:lnTo>
                  <a:pt x="3500096" y="0"/>
                </a:lnTo>
                <a:lnTo>
                  <a:pt x="350009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393952" y="4066699"/>
            <a:ext cx="667206" cy="863627"/>
          </a:xfrm>
          <a:custGeom>
            <a:avLst/>
            <a:gdLst/>
            <a:ahLst/>
            <a:cxnLst/>
            <a:rect r="r" b="b" t="t" l="l"/>
            <a:pathLst>
              <a:path h="863627" w="667206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503920" y="4367280"/>
            <a:ext cx="530352" cy="276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1"/>
              </a:lnSpc>
            </a:pPr>
            <a:r>
              <a:rPr lang="en-US" sz="1940" b="true">
                <a:solidFill>
                  <a:srgbClr val="112244"/>
                </a:solidFill>
                <a:latin typeface="Lato Bold"/>
                <a:ea typeface="Lato Bold"/>
                <a:cs typeface="Lato Bold"/>
                <a:sym typeface="Lato Bold"/>
              </a:rPr>
              <a:t>JWT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487732" y="4919394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956440" y="5356674"/>
            <a:ext cx="3500096" cy="1289974"/>
          </a:xfrm>
          <a:custGeom>
            <a:avLst/>
            <a:gdLst/>
            <a:ahLst/>
            <a:cxnLst/>
            <a:rect r="r" b="b" t="t" l="l"/>
            <a:pathLst>
              <a:path h="1289974" w="3500096">
                <a:moveTo>
                  <a:pt x="0" y="0"/>
                </a:moveTo>
                <a:lnTo>
                  <a:pt x="3500096" y="0"/>
                </a:lnTo>
                <a:lnTo>
                  <a:pt x="350009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175196" y="5564382"/>
            <a:ext cx="885962" cy="874559"/>
          </a:xfrm>
          <a:custGeom>
            <a:avLst/>
            <a:gdLst/>
            <a:ahLst/>
            <a:cxnLst/>
            <a:rect r="r" b="b" t="t" l="l"/>
            <a:pathLst>
              <a:path h="874559" w="885962">
                <a:moveTo>
                  <a:pt x="0" y="0"/>
                </a:moveTo>
                <a:lnTo>
                  <a:pt x="885962" y="0"/>
                </a:lnTo>
                <a:lnTo>
                  <a:pt x="885962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503920" y="5889756"/>
            <a:ext cx="1389888" cy="276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1"/>
              </a:lnSpc>
            </a:pPr>
            <a:r>
              <a:rPr lang="en-US" sz="1940" b="true">
                <a:solidFill>
                  <a:srgbClr val="112244"/>
                </a:solidFill>
                <a:latin typeface="Lato Bold"/>
                <a:ea typeface="Lato Bold"/>
                <a:cs typeface="Lato Bold"/>
                <a:sym typeface="Lato Bold"/>
              </a:rPr>
              <a:t>Role Claims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487732" y="6635716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956440" y="6854356"/>
            <a:ext cx="3500096" cy="1508614"/>
          </a:xfrm>
          <a:custGeom>
            <a:avLst/>
            <a:gdLst/>
            <a:ahLst/>
            <a:cxnLst/>
            <a:rect r="r" b="b" t="t" l="l"/>
            <a:pathLst>
              <a:path h="1508614" w="3500096">
                <a:moveTo>
                  <a:pt x="0" y="0"/>
                </a:moveTo>
                <a:lnTo>
                  <a:pt x="3500096" y="0"/>
                </a:lnTo>
                <a:lnTo>
                  <a:pt x="350009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393952" y="7062064"/>
            <a:ext cx="667206" cy="874559"/>
          </a:xfrm>
          <a:custGeom>
            <a:avLst/>
            <a:gdLst/>
            <a:ahLst/>
            <a:cxnLst/>
            <a:rect r="r" b="b" t="t" l="l"/>
            <a:pathLst>
              <a:path h="874559" w="667206">
                <a:moveTo>
                  <a:pt x="0" y="0"/>
                </a:moveTo>
                <a:lnTo>
                  <a:pt x="667206" y="0"/>
                </a:lnTo>
                <a:lnTo>
                  <a:pt x="66720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503920" y="7463667"/>
            <a:ext cx="1609344" cy="276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1"/>
              </a:lnSpc>
            </a:pPr>
            <a:r>
              <a:rPr lang="en-US" sz="1940" b="true">
                <a:solidFill>
                  <a:srgbClr val="112244"/>
                </a:solidFill>
                <a:latin typeface="Lato Bold"/>
                <a:ea typeface="Lato Bold"/>
                <a:cs typeface="Lato Bold"/>
                <a:sym typeface="Lato Bold"/>
              </a:rPr>
              <a:t>Protected API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0445598" y="634055"/>
            <a:ext cx="5457962" cy="1945894"/>
          </a:xfrm>
          <a:custGeom>
            <a:avLst/>
            <a:gdLst/>
            <a:ahLst/>
            <a:cxnLst/>
            <a:rect r="r" b="b" t="t" l="l"/>
            <a:pathLst>
              <a:path h="1945894" w="5457962">
                <a:moveTo>
                  <a:pt x="0" y="0"/>
                </a:moveTo>
                <a:lnTo>
                  <a:pt x="5457962" y="0"/>
                </a:lnTo>
                <a:lnTo>
                  <a:pt x="5457962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883110" y="1071335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2527280" y="1129347"/>
            <a:ext cx="1975104" cy="25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2"/>
              </a:lnSpc>
            </a:pPr>
            <a:r>
              <a:rPr lang="en-US" sz="1706" b="true">
                <a:solidFill>
                  <a:srgbClr val="3B62F4"/>
                </a:solidFill>
                <a:latin typeface="Lato Heavy"/>
                <a:ea typeface="Lato Heavy"/>
                <a:cs typeface="Lato Heavy"/>
                <a:sym typeface="Lato Heavy"/>
              </a:rPr>
              <a:t>AUTHENTICATION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27280" y="1523693"/>
            <a:ext cx="2761488" cy="710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8914" indent="-139457" lvl="1">
              <a:lnSpc>
                <a:spcPts val="1937"/>
              </a:lnSpc>
              <a:buFont typeface="Arial"/>
              <a:buChar char="•"/>
            </a:pPr>
            <a:r>
              <a:rPr lang="en-US" b="true" sz="1291">
                <a:solidFill>
                  <a:srgbClr val="112244"/>
                </a:solidFill>
                <a:latin typeface="DM Sans Bold"/>
                <a:ea typeface="DM Sans Bold"/>
                <a:cs typeface="DM Sans Bold"/>
                <a:sym typeface="DM Sans Bold"/>
              </a:rPr>
              <a:t>Valid &amp; invalid registration</a:t>
            </a:r>
          </a:p>
          <a:p>
            <a:pPr algn="l" marL="278914" indent="-139457" lvl="1">
              <a:lnSpc>
                <a:spcPts val="1937"/>
              </a:lnSpc>
              <a:buFont typeface="Arial"/>
              <a:buChar char="•"/>
            </a:pPr>
            <a:r>
              <a:rPr lang="en-US" b="true" sz="1291">
                <a:solidFill>
                  <a:srgbClr val="112244"/>
                </a:solidFill>
                <a:latin typeface="DM Sans Bold"/>
                <a:ea typeface="DM Sans Bold"/>
                <a:cs typeface="DM Sans Bold"/>
                <a:sym typeface="DM Sans Bold"/>
              </a:rPr>
              <a:t>Correct &amp; incorrect login</a:t>
            </a:r>
          </a:p>
          <a:p>
            <a:pPr algn="l" marL="278914" indent="-139457" lvl="1">
              <a:lnSpc>
                <a:spcPts val="1937"/>
              </a:lnSpc>
              <a:buFont typeface="Arial"/>
              <a:buChar char="•"/>
            </a:pPr>
            <a:r>
              <a:rPr lang="en-US" b="true" sz="1291">
                <a:solidFill>
                  <a:srgbClr val="112244"/>
                </a:solidFill>
                <a:latin typeface="DM Sans Bold"/>
                <a:ea typeface="DM Sans Bold"/>
                <a:cs typeface="DM Sans Bold"/>
                <a:sym typeface="DM Sans Bold"/>
              </a:rPr>
              <a:t>Password hashing &amp; validation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0445598" y="2569017"/>
            <a:ext cx="5457962" cy="1934962"/>
          </a:xfrm>
          <a:custGeom>
            <a:avLst/>
            <a:gdLst/>
            <a:ahLst/>
            <a:cxnLst/>
            <a:rect r="r" b="b" t="t" l="l"/>
            <a:pathLst>
              <a:path h="1934962" w="5457962">
                <a:moveTo>
                  <a:pt x="0" y="0"/>
                </a:moveTo>
                <a:lnTo>
                  <a:pt x="5457962" y="0"/>
                </a:lnTo>
                <a:lnTo>
                  <a:pt x="5457962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883110" y="2995365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2527280" y="3370062"/>
            <a:ext cx="2761488" cy="741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8211" indent="-144106" lvl="1">
              <a:lnSpc>
                <a:spcPts val="2002"/>
              </a:lnSpc>
              <a:buFont typeface="Arial"/>
              <a:buChar char="•"/>
            </a:pPr>
            <a:r>
              <a:rPr lang="en-US" b="true" sz="1334">
                <a:solidFill>
                  <a:srgbClr val="112244"/>
                </a:solidFill>
                <a:latin typeface="DM Sans Bold"/>
                <a:ea typeface="DM Sans Bold"/>
                <a:cs typeface="DM Sans Bold"/>
                <a:sym typeface="DM Sans Bold"/>
              </a:rPr>
              <a:t>JWT generation</a:t>
            </a:r>
          </a:p>
          <a:p>
            <a:pPr algn="l" marL="288211" indent="-144106" lvl="1">
              <a:lnSpc>
                <a:spcPts val="2002"/>
              </a:lnSpc>
              <a:buFont typeface="Arial"/>
              <a:buChar char="•"/>
            </a:pPr>
            <a:r>
              <a:rPr lang="en-US" b="true" sz="1334">
                <a:solidFill>
                  <a:srgbClr val="112244"/>
                </a:solidFill>
                <a:latin typeface="DM Sans Bold"/>
                <a:ea typeface="DM Sans Bold"/>
                <a:cs typeface="DM Sans Bold"/>
                <a:sym typeface="DM Sans Bold"/>
              </a:rPr>
              <a:t>Token validation</a:t>
            </a:r>
          </a:p>
          <a:p>
            <a:pPr algn="l" marL="288211" indent="-144106" lvl="1">
              <a:lnSpc>
                <a:spcPts val="2002"/>
              </a:lnSpc>
              <a:buFont typeface="Arial"/>
              <a:buChar char="•"/>
            </a:pPr>
            <a:r>
              <a:rPr lang="en-US" b="true" sz="1334">
                <a:solidFill>
                  <a:srgbClr val="112244"/>
                </a:solidFill>
                <a:latin typeface="DM Sans Bold"/>
                <a:ea typeface="DM Sans Bold"/>
                <a:cs typeface="DM Sans Bold"/>
                <a:sym typeface="DM Sans Bold"/>
              </a:rPr>
              <a:t>Token expiration testing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0445598" y="4493047"/>
            <a:ext cx="5457962" cy="2153601"/>
          </a:xfrm>
          <a:custGeom>
            <a:avLst/>
            <a:gdLst/>
            <a:ahLst/>
            <a:cxnLst/>
            <a:rect r="r" b="b" t="t" l="l"/>
            <a:pathLst>
              <a:path h="2153601" w="5457962">
                <a:moveTo>
                  <a:pt x="0" y="0"/>
                </a:moveTo>
                <a:lnTo>
                  <a:pt x="5457962" y="0"/>
                </a:lnTo>
                <a:lnTo>
                  <a:pt x="545796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883110" y="5138034"/>
            <a:ext cx="1093780" cy="863627"/>
          </a:xfrm>
          <a:custGeom>
            <a:avLst/>
            <a:gdLst/>
            <a:ahLst/>
            <a:cxnLst/>
            <a:rect r="r" b="b" t="t" l="l"/>
            <a:pathLst>
              <a:path h="863627" w="1093780">
                <a:moveTo>
                  <a:pt x="0" y="0"/>
                </a:moveTo>
                <a:lnTo>
                  <a:pt x="1093780" y="0"/>
                </a:lnTo>
                <a:lnTo>
                  <a:pt x="109378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2527280" y="5240022"/>
            <a:ext cx="2761488" cy="993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8211" indent="-144106" lvl="1">
              <a:lnSpc>
                <a:spcPts val="2002"/>
              </a:lnSpc>
              <a:buFont typeface="Arial"/>
              <a:buChar char="•"/>
            </a:pPr>
            <a:r>
              <a:rPr lang="en-US" b="true" sz="1334">
                <a:solidFill>
                  <a:srgbClr val="112244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ProjectManager</a:t>
            </a:r>
          </a:p>
          <a:p>
            <a:pPr algn="l" marL="288211" indent="-144106" lvl="1">
              <a:lnSpc>
                <a:spcPts val="2002"/>
              </a:lnSpc>
              <a:buFont typeface="Arial"/>
              <a:buChar char="•"/>
            </a:pPr>
            <a:r>
              <a:rPr lang="en-US" b="true" sz="1334">
                <a:solidFill>
                  <a:srgbClr val="112244"/>
                </a:solidFill>
                <a:latin typeface="DM Sans Bold"/>
                <a:ea typeface="DM Sans Bold"/>
                <a:cs typeface="DM Sans Bold"/>
                <a:sym typeface="DM Sans Bold"/>
              </a:rPr>
              <a:t>TeamLeader</a:t>
            </a:r>
          </a:p>
          <a:p>
            <a:pPr algn="l" marL="288211" indent="-144106" lvl="1">
              <a:lnSpc>
                <a:spcPts val="2002"/>
              </a:lnSpc>
              <a:buFont typeface="Arial"/>
              <a:buChar char="•"/>
            </a:pPr>
            <a:r>
              <a:rPr lang="en-US" b="true" sz="1334">
                <a:solidFill>
                  <a:srgbClr val="112244"/>
                </a:solidFill>
                <a:latin typeface="DM Sans Bold"/>
                <a:ea typeface="DM Sans Bold"/>
                <a:cs typeface="DM Sans Bold"/>
                <a:sym typeface="DM Sans Bold"/>
              </a:rPr>
              <a:t>TeamMember</a:t>
            </a:r>
          </a:p>
          <a:p>
            <a:pPr algn="l" marL="288211" indent="-144106" lvl="1">
              <a:lnSpc>
                <a:spcPts val="2002"/>
              </a:lnSpc>
              <a:buFont typeface="Arial"/>
              <a:buChar char="•"/>
            </a:pPr>
            <a:r>
              <a:rPr lang="en-US" b="true" sz="1334">
                <a:solidFill>
                  <a:srgbClr val="112244"/>
                </a:solidFill>
                <a:latin typeface="DM Sans Bold"/>
                <a:ea typeface="DM Sans Bold"/>
                <a:cs typeface="DM Sans Bold"/>
                <a:sym typeface="DM Sans Bold"/>
              </a:rPr>
              <a:t>Client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0445598" y="6428009"/>
            <a:ext cx="5457962" cy="2153601"/>
          </a:xfrm>
          <a:custGeom>
            <a:avLst/>
            <a:gdLst/>
            <a:ahLst/>
            <a:cxnLst/>
            <a:rect r="r" b="b" t="t" l="l"/>
            <a:pathLst>
              <a:path h="2153601" w="5457962">
                <a:moveTo>
                  <a:pt x="0" y="0"/>
                </a:moveTo>
                <a:lnTo>
                  <a:pt x="5457962" y="0"/>
                </a:lnTo>
                <a:lnTo>
                  <a:pt x="545796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0883110" y="6854356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2527280" y="6962076"/>
            <a:ext cx="1865376" cy="25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2"/>
              </a:lnSpc>
            </a:pPr>
            <a:r>
              <a:rPr lang="en-US" sz="1706" b="true">
                <a:solidFill>
                  <a:srgbClr val="3B62F4"/>
                </a:solidFill>
                <a:latin typeface="Lato Heavy"/>
                <a:ea typeface="Lato Heavy"/>
                <a:cs typeface="Lato Heavy"/>
                <a:sym typeface="Lato Heavy"/>
              </a:rPr>
              <a:t>AUTHORIZATION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527280" y="7351368"/>
            <a:ext cx="2761488" cy="69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0320" indent="-130160" lvl="1">
              <a:lnSpc>
                <a:spcPts val="1808"/>
              </a:lnSpc>
              <a:buFont typeface="Arial"/>
              <a:buChar char="•"/>
            </a:pPr>
            <a:r>
              <a:rPr lang="en-US" b="true" sz="1205">
                <a:solidFill>
                  <a:srgbClr val="112244"/>
                </a:solidFill>
                <a:latin typeface="DM Sans Bold"/>
                <a:ea typeface="DM Sans Bold"/>
                <a:cs typeface="DM Sans Bold"/>
                <a:sym typeface="DM Sans Bold"/>
              </a:rPr>
              <a:t>Protected [Authorize] endpoints</a:t>
            </a:r>
          </a:p>
          <a:p>
            <a:pPr algn="l" marL="260320" indent="-130160" lvl="1">
              <a:lnSpc>
                <a:spcPts val="1808"/>
              </a:lnSpc>
              <a:buFont typeface="Arial"/>
              <a:buChar char="•"/>
            </a:pPr>
            <a:r>
              <a:rPr lang="en-US" b="true" sz="1205">
                <a:solidFill>
                  <a:srgbClr val="112244"/>
                </a:solidFill>
                <a:latin typeface="DM Sans Bold"/>
                <a:ea typeface="DM Sans Bold"/>
                <a:cs typeface="DM Sans Bold"/>
                <a:sym typeface="DM Sans Bold"/>
              </a:rPr>
              <a:t>Role-based access</a:t>
            </a:r>
          </a:p>
          <a:p>
            <a:pPr algn="l" marL="260320" indent="-130160" lvl="1">
              <a:lnSpc>
                <a:spcPts val="1808"/>
              </a:lnSpc>
              <a:buFont typeface="Arial"/>
              <a:buChar char="•"/>
            </a:pPr>
            <a:r>
              <a:rPr lang="en-US" b="true" sz="1205">
                <a:solidFill>
                  <a:srgbClr val="112244"/>
                </a:solidFill>
                <a:latin typeface="DM Sans Bold"/>
                <a:ea typeface="DM Sans Bold"/>
                <a:cs typeface="DM Sans Bold"/>
                <a:sym typeface="DM Sans Bold"/>
              </a:rPr>
              <a:t>Verified 200 / 401 / 403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3259464" y="8570678"/>
            <a:ext cx="12644096" cy="1289974"/>
          </a:xfrm>
          <a:custGeom>
            <a:avLst/>
            <a:gdLst/>
            <a:ahLst/>
            <a:cxnLst/>
            <a:rect r="r" b="b" t="t" l="l"/>
            <a:pathLst>
              <a:path h="1289974" w="12644096">
                <a:moveTo>
                  <a:pt x="0" y="0"/>
                </a:moveTo>
                <a:lnTo>
                  <a:pt x="12644096" y="0"/>
                </a:lnTo>
                <a:lnTo>
                  <a:pt x="1264409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3478220" y="8778386"/>
            <a:ext cx="885962" cy="874559"/>
          </a:xfrm>
          <a:custGeom>
            <a:avLst/>
            <a:gdLst/>
            <a:ahLst/>
            <a:cxnLst/>
            <a:rect r="r" b="b" t="t" l="l"/>
            <a:pathLst>
              <a:path h="874559" w="885962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4498848" y="9078726"/>
            <a:ext cx="10954512" cy="276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1"/>
              </a:lnSpc>
            </a:pPr>
            <a:r>
              <a:rPr lang="en-US" sz="1940" b="true">
                <a:solidFill>
                  <a:srgbClr val="112244"/>
                </a:solidFill>
                <a:latin typeface="Lato Bold"/>
                <a:ea typeface="Lato Bold"/>
                <a:cs typeface="Lato Bold"/>
                <a:sym typeface="Lato Bold"/>
              </a:rPr>
              <a:t>Authentication and role-based access flow verified and ready for protected API integration.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527280" y="2995876"/>
            <a:ext cx="512064" cy="26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781" b="true">
                <a:solidFill>
                  <a:srgbClr val="3B62F4"/>
                </a:solidFill>
                <a:latin typeface="Lato Heavy"/>
                <a:ea typeface="Lato Heavy"/>
                <a:cs typeface="Lato Heavy"/>
                <a:sym typeface="Lato Heavy"/>
              </a:rPr>
              <a:t>JWT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527280" y="4837249"/>
            <a:ext cx="621792" cy="26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781" b="true">
                <a:solidFill>
                  <a:srgbClr val="3B62F4"/>
                </a:solidFill>
                <a:latin typeface="Lato Heavy"/>
                <a:ea typeface="Lato Heavy"/>
                <a:cs typeface="Lato Heavy"/>
                <a:sym typeface="Lato Heavy"/>
              </a:rPr>
              <a:t>RBAC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527280" y="2995876"/>
            <a:ext cx="512064" cy="26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781" b="true">
                <a:solidFill>
                  <a:srgbClr val="3B62F4"/>
                </a:solidFill>
                <a:latin typeface="Lato Heavy"/>
                <a:ea typeface="Lato Heavy"/>
                <a:cs typeface="Lato Heavy"/>
                <a:sym typeface="Lato Heavy"/>
              </a:rPr>
              <a:t>JWT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527280" y="2995876"/>
            <a:ext cx="512064" cy="26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781" b="true">
                <a:solidFill>
                  <a:srgbClr val="3B62F4"/>
                </a:solidFill>
                <a:latin typeface="Lato Heavy"/>
                <a:ea typeface="Lato Heavy"/>
                <a:cs typeface="Lato Heavy"/>
                <a:sym typeface="Lato Heavy"/>
              </a:rPr>
              <a:t>JWT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42416" y="732736"/>
            <a:ext cx="1609344" cy="26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b="true" sz="1781" spc="178">
                <a:solidFill>
                  <a:srgbClr val="3B62F4"/>
                </a:solidFill>
                <a:latin typeface="Lato Bold"/>
                <a:ea typeface="Lato Bold"/>
                <a:cs typeface="Lato Bold"/>
                <a:sym typeface="Lato Bold"/>
              </a:rPr>
              <a:t>SCALEFLOW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17598" y="0"/>
            <a:ext cx="3270402" cy="8144330"/>
          </a:xfrm>
          <a:custGeom>
            <a:avLst/>
            <a:gdLst/>
            <a:ahLst/>
            <a:cxnLst/>
            <a:rect r="r" b="b" t="t" l="l"/>
            <a:pathLst>
              <a:path h="8144330" w="3270402">
                <a:moveTo>
                  <a:pt x="0" y="0"/>
                </a:moveTo>
                <a:lnTo>
                  <a:pt x="3270402" y="0"/>
                </a:lnTo>
                <a:lnTo>
                  <a:pt x="3270402" y="8144330"/>
                </a:lnTo>
                <a:lnTo>
                  <a:pt x="0" y="8144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96112" y="599021"/>
            <a:ext cx="2048256" cy="20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6"/>
              </a:lnSpc>
            </a:pPr>
            <a:r>
              <a:rPr lang="en-US" b="true" sz="1606" spc="160">
                <a:solidFill>
                  <a:srgbClr val="5271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SCALEFLOW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603196" y="426348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96112" y="1198640"/>
            <a:ext cx="12966192" cy="751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0"/>
              </a:lnSpc>
            </a:pPr>
            <a:r>
              <a:rPr lang="en-US" sz="5690" b="true">
                <a:solidFill>
                  <a:srgbClr val="11224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Securing Core Project &amp; Task APIs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6112" y="2082925"/>
            <a:ext cx="8759952" cy="316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0"/>
              </a:lnSpc>
            </a:pPr>
            <a:r>
              <a:rPr lang="en-US" sz="2330" b="true">
                <a:solidFill>
                  <a:srgbClr val="1122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Applying JWT authentication and RBAC to core resources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2569017"/>
            <a:ext cx="5239206" cy="2579949"/>
          </a:xfrm>
          <a:custGeom>
            <a:avLst/>
            <a:gdLst/>
            <a:ahLst/>
            <a:cxnLst/>
            <a:rect r="r" b="b" t="t" l="l"/>
            <a:pathLst>
              <a:path h="2579949" w="5239206">
                <a:moveTo>
                  <a:pt x="0" y="0"/>
                </a:moveTo>
                <a:lnTo>
                  <a:pt x="5239206" y="0"/>
                </a:lnTo>
                <a:lnTo>
                  <a:pt x="523920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4086" y="2995365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1598" y="3421712"/>
            <a:ext cx="885962" cy="874559"/>
          </a:xfrm>
          <a:custGeom>
            <a:avLst/>
            <a:gdLst/>
            <a:ahLst/>
            <a:cxnLst/>
            <a:rect r="r" b="b" t="t" l="l"/>
            <a:pathLst>
              <a:path h="874559" w="885962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633472" y="3417659"/>
            <a:ext cx="2011680" cy="20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6"/>
              </a:lnSpc>
            </a:pPr>
            <a:r>
              <a:rPr lang="en-US" sz="1606" b="true">
                <a:solidFill>
                  <a:srgbClr val="527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JWT PROTECTION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33472" y="3717832"/>
            <a:ext cx="2816352" cy="635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9"/>
              </a:lnSpc>
            </a:pPr>
            <a:r>
              <a:rPr lang="en-US" sz="1523" b="true">
                <a:solidFill>
                  <a:srgbClr val="1122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Protected Project and Task endpoints using JWT.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5330" y="4919394"/>
            <a:ext cx="5239206" cy="3224936"/>
          </a:xfrm>
          <a:custGeom>
            <a:avLst/>
            <a:gdLst/>
            <a:ahLst/>
            <a:cxnLst/>
            <a:rect r="r" b="b" t="t" l="l"/>
            <a:pathLst>
              <a:path h="3224936" w="5239206">
                <a:moveTo>
                  <a:pt x="0" y="0"/>
                </a:moveTo>
                <a:lnTo>
                  <a:pt x="5239206" y="0"/>
                </a:lnTo>
                <a:lnTo>
                  <a:pt x="5239206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64086" y="5564382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82842" y="5990729"/>
            <a:ext cx="1104718" cy="874559"/>
          </a:xfrm>
          <a:custGeom>
            <a:avLst/>
            <a:gdLst/>
            <a:ahLst/>
            <a:cxnLst/>
            <a:rect r="r" b="b" t="t" l="l"/>
            <a:pathLst>
              <a:path h="874559" w="1104718">
                <a:moveTo>
                  <a:pt x="0" y="0"/>
                </a:moveTo>
                <a:lnTo>
                  <a:pt x="1104718" y="0"/>
                </a:lnTo>
                <a:lnTo>
                  <a:pt x="110471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633472" y="5485346"/>
            <a:ext cx="2414016" cy="20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6"/>
              </a:lnSpc>
            </a:pPr>
            <a:r>
              <a:rPr lang="en-US" sz="1606" b="true">
                <a:solidFill>
                  <a:srgbClr val="527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ROLE-BASED ACCESS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33472" y="5866341"/>
            <a:ext cx="2468880" cy="20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7"/>
              </a:lnSpc>
            </a:pPr>
            <a:r>
              <a:rPr lang="en-US" sz="1577" b="true">
                <a:solidFill>
                  <a:srgbClr val="1122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Applied permissions for: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05456" y="6187937"/>
            <a:ext cx="2816352" cy="1291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8886" indent="-164443" lvl="1">
              <a:lnSpc>
                <a:spcPts val="2589"/>
              </a:lnSpc>
              <a:buFont typeface="Arial"/>
              <a:buChar char="•"/>
            </a:pPr>
            <a:r>
              <a:rPr lang="en-US" b="true" sz="1523">
                <a:solidFill>
                  <a:srgbClr val="1122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ProjectManager</a:t>
            </a:r>
          </a:p>
          <a:p>
            <a:pPr algn="l" marL="328886" indent="-164443" lvl="1">
              <a:lnSpc>
                <a:spcPts val="2589"/>
              </a:lnSpc>
              <a:buFont typeface="Arial"/>
              <a:buChar char="•"/>
            </a:pPr>
            <a:r>
              <a:rPr lang="en-US" b="true" sz="1523">
                <a:solidFill>
                  <a:srgbClr val="1122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TeamLeader</a:t>
            </a:r>
          </a:p>
          <a:p>
            <a:pPr algn="l" marL="328886" indent="-164443" lvl="1">
              <a:lnSpc>
                <a:spcPts val="2589"/>
              </a:lnSpc>
              <a:buFont typeface="Arial"/>
              <a:buChar char="•"/>
            </a:pPr>
            <a:r>
              <a:rPr lang="en-US" b="true" sz="1523">
                <a:solidFill>
                  <a:srgbClr val="1122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TeamMember</a:t>
            </a:r>
          </a:p>
          <a:p>
            <a:pPr algn="l" marL="328886" indent="-164443" lvl="1">
              <a:lnSpc>
                <a:spcPts val="2589"/>
              </a:lnSpc>
              <a:buFont typeface="Arial"/>
              <a:buChar char="•"/>
            </a:pPr>
            <a:r>
              <a:rPr lang="en-US" b="true" sz="1523">
                <a:solidFill>
                  <a:srgbClr val="1122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Client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311110" y="2776725"/>
            <a:ext cx="4582938" cy="874559"/>
          </a:xfrm>
          <a:custGeom>
            <a:avLst/>
            <a:gdLst/>
            <a:ahLst/>
            <a:cxnLst/>
            <a:rect r="r" b="b" t="t" l="l"/>
            <a:pathLst>
              <a:path h="874559" w="4582938">
                <a:moveTo>
                  <a:pt x="0" y="0"/>
                </a:moveTo>
                <a:lnTo>
                  <a:pt x="4582938" y="0"/>
                </a:lnTo>
                <a:lnTo>
                  <a:pt x="458293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529866" y="2776725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487732" y="342171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311110" y="3640352"/>
            <a:ext cx="4582938" cy="1082267"/>
          </a:xfrm>
          <a:custGeom>
            <a:avLst/>
            <a:gdLst/>
            <a:ahLst/>
            <a:cxnLst/>
            <a:rect r="r" b="b" t="t" l="l"/>
            <a:pathLst>
              <a:path h="1082267" w="4582938">
                <a:moveTo>
                  <a:pt x="0" y="0"/>
                </a:moveTo>
                <a:lnTo>
                  <a:pt x="4582938" y="0"/>
                </a:lnTo>
                <a:lnTo>
                  <a:pt x="458293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529866" y="3848060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7754112" y="4105577"/>
            <a:ext cx="1426464" cy="191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5"/>
              </a:lnSpc>
            </a:pPr>
            <a:r>
              <a:rPr lang="en-US" sz="1415" b="true">
                <a:solidFill>
                  <a:srgbClr val="11224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Role Validation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8487732" y="4493047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311110" y="4711687"/>
            <a:ext cx="4582938" cy="1082267"/>
          </a:xfrm>
          <a:custGeom>
            <a:avLst/>
            <a:gdLst/>
            <a:ahLst/>
            <a:cxnLst/>
            <a:rect r="r" b="b" t="t" l="l"/>
            <a:pathLst>
              <a:path h="1082267" w="4582938">
                <a:moveTo>
                  <a:pt x="0" y="0"/>
                </a:moveTo>
                <a:lnTo>
                  <a:pt x="4582938" y="0"/>
                </a:lnTo>
                <a:lnTo>
                  <a:pt x="458293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529866" y="4919394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487732" y="556438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311110" y="5783021"/>
            <a:ext cx="4582938" cy="863627"/>
          </a:xfrm>
          <a:custGeom>
            <a:avLst/>
            <a:gdLst/>
            <a:ahLst/>
            <a:cxnLst/>
            <a:rect r="r" b="b" t="t" l="l"/>
            <a:pathLst>
              <a:path h="863627" w="4582938">
                <a:moveTo>
                  <a:pt x="0" y="0"/>
                </a:moveTo>
                <a:lnTo>
                  <a:pt x="4582938" y="0"/>
                </a:lnTo>
                <a:lnTo>
                  <a:pt x="458293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529866" y="5990729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487732" y="6428009"/>
            <a:ext cx="448450" cy="644987"/>
          </a:xfrm>
          <a:custGeom>
            <a:avLst/>
            <a:gdLst/>
            <a:ahLst/>
            <a:cxnLst/>
            <a:rect r="r" b="b" t="t" l="l"/>
            <a:pathLst>
              <a:path h="644987" w="448450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092354" y="6854356"/>
            <a:ext cx="5020450" cy="1082267"/>
          </a:xfrm>
          <a:custGeom>
            <a:avLst/>
            <a:gdLst/>
            <a:ahLst/>
            <a:cxnLst/>
            <a:rect r="r" b="b" t="t" l="l"/>
            <a:pathLst>
              <a:path h="1082267" w="5020450">
                <a:moveTo>
                  <a:pt x="0" y="0"/>
                </a:moveTo>
                <a:lnTo>
                  <a:pt x="5020450" y="0"/>
                </a:lnTo>
                <a:lnTo>
                  <a:pt x="5020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6529866" y="7062064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7607808" y="7285947"/>
            <a:ext cx="3072384" cy="20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7"/>
              </a:lnSpc>
            </a:pPr>
            <a:r>
              <a:rPr lang="en-US" sz="1577" b="true">
                <a:solidFill>
                  <a:srgbClr val="11224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Protected Project &amp; Task APIs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1320622" y="2569017"/>
            <a:ext cx="5228268" cy="3006296"/>
          </a:xfrm>
          <a:custGeom>
            <a:avLst/>
            <a:gdLst/>
            <a:ahLst/>
            <a:cxnLst/>
            <a:rect r="r" b="b" t="t" l="l"/>
            <a:pathLst>
              <a:path h="3006296" w="5228268">
                <a:moveTo>
                  <a:pt x="0" y="0"/>
                </a:moveTo>
                <a:lnTo>
                  <a:pt x="5228268" y="0"/>
                </a:lnTo>
                <a:lnTo>
                  <a:pt x="5228268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1528440" y="2995365"/>
            <a:ext cx="1542230" cy="1727254"/>
          </a:xfrm>
          <a:custGeom>
            <a:avLst/>
            <a:gdLst/>
            <a:ahLst/>
            <a:cxnLst/>
            <a:rect r="r" b="b" t="t" l="l"/>
            <a:pathLst>
              <a:path h="1727254" w="1542230">
                <a:moveTo>
                  <a:pt x="0" y="0"/>
                </a:moveTo>
                <a:lnTo>
                  <a:pt x="1542230" y="0"/>
                </a:lnTo>
                <a:lnTo>
                  <a:pt x="154223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1747196" y="3421712"/>
            <a:ext cx="885962" cy="874559"/>
          </a:xfrm>
          <a:custGeom>
            <a:avLst/>
            <a:gdLst/>
            <a:ahLst/>
            <a:cxnLst/>
            <a:rect r="r" b="b" t="t" l="l"/>
            <a:pathLst>
              <a:path h="874559" w="885962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1320622" y="5564382"/>
            <a:ext cx="5228268" cy="2579949"/>
          </a:xfrm>
          <a:custGeom>
            <a:avLst/>
            <a:gdLst/>
            <a:ahLst/>
            <a:cxnLst/>
            <a:rect r="r" b="b" t="t" l="l"/>
            <a:pathLst>
              <a:path h="2579949" w="5228268">
                <a:moveTo>
                  <a:pt x="0" y="0"/>
                </a:moveTo>
                <a:lnTo>
                  <a:pt x="5228268" y="0"/>
                </a:lnTo>
                <a:lnTo>
                  <a:pt x="5228268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1528440" y="5990729"/>
            <a:ext cx="1542230" cy="1519546"/>
          </a:xfrm>
          <a:custGeom>
            <a:avLst/>
            <a:gdLst/>
            <a:ahLst/>
            <a:cxnLst/>
            <a:rect r="r" b="b" t="t" l="l"/>
            <a:pathLst>
              <a:path h="1519546" w="1542230">
                <a:moveTo>
                  <a:pt x="0" y="0"/>
                </a:moveTo>
                <a:lnTo>
                  <a:pt x="1542230" y="0"/>
                </a:lnTo>
                <a:lnTo>
                  <a:pt x="154223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1747196" y="6209369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3185648" y="6009983"/>
            <a:ext cx="2706624" cy="20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6"/>
              </a:lnSpc>
            </a:pPr>
            <a:r>
              <a:rPr lang="en-US" sz="1606" b="true">
                <a:solidFill>
                  <a:srgbClr val="527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SECURITY VERIFICATION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185648" y="6301094"/>
            <a:ext cx="2011680" cy="1291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9"/>
              </a:lnSpc>
            </a:pPr>
            <a:r>
              <a:rPr lang="en-US" sz="1523" b="true">
                <a:solidFill>
                  <a:srgbClr val="1122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Verified:</a:t>
            </a:r>
          </a:p>
          <a:p>
            <a:pPr algn="l">
              <a:lnSpc>
                <a:spcPts val="2589"/>
              </a:lnSpc>
            </a:pPr>
            <a:r>
              <a:rPr lang="en-US" sz="1523" b="true">
                <a:solidFill>
                  <a:srgbClr val="1122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200 OK</a:t>
            </a:r>
          </a:p>
          <a:p>
            <a:pPr algn="l">
              <a:lnSpc>
                <a:spcPts val="2589"/>
              </a:lnSpc>
            </a:pPr>
            <a:r>
              <a:rPr lang="en-US" sz="1523" b="true">
                <a:solidFill>
                  <a:srgbClr val="1122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401 Unauthorized</a:t>
            </a:r>
          </a:p>
          <a:p>
            <a:pPr algn="l">
              <a:lnSpc>
                <a:spcPts val="2589"/>
              </a:lnSpc>
            </a:pPr>
            <a:r>
              <a:rPr lang="en-US" sz="1523" b="true">
                <a:solidFill>
                  <a:srgbClr val="1122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403 Forbidden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3915732" y="8133399"/>
            <a:ext cx="10456536" cy="1519546"/>
          </a:xfrm>
          <a:custGeom>
            <a:avLst/>
            <a:gdLst/>
            <a:ahLst/>
            <a:cxnLst/>
            <a:rect r="r" b="b" t="t" l="l"/>
            <a:pathLst>
              <a:path h="1519546" w="10456536">
                <a:moveTo>
                  <a:pt x="0" y="0"/>
                </a:moveTo>
                <a:lnTo>
                  <a:pt x="10456536" y="0"/>
                </a:lnTo>
                <a:lnTo>
                  <a:pt x="1045653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4353244" y="8570678"/>
            <a:ext cx="1093780" cy="863627"/>
          </a:xfrm>
          <a:custGeom>
            <a:avLst/>
            <a:gdLst/>
            <a:ahLst/>
            <a:cxnLst/>
            <a:rect r="r" b="b" t="t" l="l"/>
            <a:pathLst>
              <a:path h="863627" w="1093780">
                <a:moveTo>
                  <a:pt x="0" y="0"/>
                </a:moveTo>
                <a:lnTo>
                  <a:pt x="1093780" y="0"/>
                </a:lnTo>
                <a:lnTo>
                  <a:pt x="109378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5632704" y="8563218"/>
            <a:ext cx="7461504" cy="695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sz="1940" b="true">
                <a:solidFill>
                  <a:srgbClr val="11224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Project and Task access is controlled by authentication, role, organization, and membership boundaries.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185648" y="3026753"/>
            <a:ext cx="2377440" cy="20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6"/>
              </a:lnSpc>
            </a:pPr>
            <a:r>
              <a:rPr lang="en-US" sz="1606" b="true">
                <a:solidFill>
                  <a:srgbClr val="527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ACCESS BOUNDARIES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185648" y="3276103"/>
            <a:ext cx="2249424" cy="96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9"/>
              </a:lnSpc>
            </a:pPr>
            <a:r>
              <a:rPr lang="en-US" sz="1523" b="true">
                <a:solidFill>
                  <a:srgbClr val="1122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Users can only access resources within their permitted: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094208" y="4273942"/>
            <a:ext cx="2249424" cy="96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8886" indent="-164443" lvl="1">
              <a:lnSpc>
                <a:spcPts val="2589"/>
              </a:lnSpc>
              <a:buFont typeface="Arial"/>
              <a:buChar char="•"/>
            </a:pPr>
            <a:r>
              <a:rPr lang="en-US" b="true" sz="1523">
                <a:solidFill>
                  <a:srgbClr val="1122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Organization</a:t>
            </a:r>
          </a:p>
          <a:p>
            <a:pPr algn="l" marL="328886" indent="-164443" lvl="1">
              <a:lnSpc>
                <a:spcPts val="2589"/>
              </a:lnSpc>
              <a:buFont typeface="Arial"/>
              <a:buChar char="•"/>
            </a:pPr>
            <a:r>
              <a:rPr lang="en-US" b="true" sz="1523">
                <a:solidFill>
                  <a:srgbClr val="1122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</a:t>
            </a:r>
          </a:p>
          <a:p>
            <a:pPr algn="l" marL="328886" indent="-164443" lvl="1">
              <a:lnSpc>
                <a:spcPts val="2589"/>
              </a:lnSpc>
              <a:buFont typeface="Arial"/>
              <a:buChar char="•"/>
            </a:pPr>
            <a:r>
              <a:rPr lang="en-US" b="true" sz="1523">
                <a:solidFill>
                  <a:srgbClr val="1122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Membership scope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754112" y="3086744"/>
            <a:ext cx="1828800" cy="181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8"/>
              </a:lnSpc>
            </a:pPr>
            <a:r>
              <a:rPr lang="en-US" sz="1388" b="true">
                <a:solidFill>
                  <a:srgbClr val="11224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JWT Authentication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754112" y="5164718"/>
            <a:ext cx="2157984" cy="181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8"/>
              </a:lnSpc>
            </a:pPr>
            <a:r>
              <a:rPr lang="en-US" sz="1388" b="true">
                <a:solidFill>
                  <a:srgbClr val="11224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Organization Boundary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754112" y="6183210"/>
            <a:ext cx="2706624" cy="192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sz="1442" b="true">
                <a:solidFill>
                  <a:srgbClr val="11224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Project / Membership Check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42574" y="0"/>
            <a:ext cx="4145426" cy="8789318"/>
          </a:xfrm>
          <a:custGeom>
            <a:avLst/>
            <a:gdLst/>
            <a:ahLst/>
            <a:cxnLst/>
            <a:rect r="r" b="b" t="t" l="l"/>
            <a:pathLst>
              <a:path h="8789318" w="4145426">
                <a:moveTo>
                  <a:pt x="0" y="0"/>
                </a:moveTo>
                <a:lnTo>
                  <a:pt x="4145426" y="0"/>
                </a:lnTo>
                <a:lnTo>
                  <a:pt x="4145426" y="8789318"/>
                </a:lnTo>
                <a:lnTo>
                  <a:pt x="0" y="87893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03196" y="634055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42416" y="1245922"/>
            <a:ext cx="10808208" cy="83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0"/>
              </a:lnSpc>
            </a:pPr>
            <a:r>
              <a:rPr lang="en-US" sz="6270" spc="-188" b="true">
                <a:solidFill>
                  <a:srgbClr val="15254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Final API Security &amp; Review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2416" y="2180501"/>
            <a:ext cx="11228832" cy="34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2142" spc="42">
                <a:solidFill>
                  <a:srgbClr val="152544"/>
                </a:solidFill>
                <a:latin typeface="Lexend Deca"/>
                <a:ea typeface="Lexend Deca"/>
                <a:cs typeface="Lexend Deca"/>
                <a:sym typeface="Lexend Deca"/>
              </a:rPr>
              <a:t>Securing Dependency, Team/Member APIs and validating the complete backend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4086" y="2776725"/>
            <a:ext cx="4364182" cy="5367606"/>
          </a:xfrm>
          <a:custGeom>
            <a:avLst/>
            <a:gdLst/>
            <a:ahLst/>
            <a:cxnLst/>
            <a:rect r="r" b="b" t="t" l="l"/>
            <a:pathLst>
              <a:path h="5367606" w="4364182">
                <a:moveTo>
                  <a:pt x="0" y="0"/>
                </a:moveTo>
                <a:lnTo>
                  <a:pt x="4364182" y="0"/>
                </a:lnTo>
                <a:lnTo>
                  <a:pt x="4364182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01598" y="2995365"/>
            <a:ext cx="667206" cy="863627"/>
          </a:xfrm>
          <a:custGeom>
            <a:avLst/>
            <a:gdLst/>
            <a:ahLst/>
            <a:cxnLst/>
            <a:rect r="r" b="b" t="t" l="l"/>
            <a:pathLst>
              <a:path h="863627" w="667206">
                <a:moveTo>
                  <a:pt x="0" y="0"/>
                </a:moveTo>
                <a:lnTo>
                  <a:pt x="667206" y="0"/>
                </a:lnTo>
                <a:lnTo>
                  <a:pt x="667206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04288" y="3184945"/>
            <a:ext cx="2176272" cy="59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b="true" sz="2023" spc="-60">
                <a:solidFill>
                  <a:srgbClr val="2A4FF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DEPENDENCY &amp; TEAM APIS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82842" y="4285339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19072" y="4442769"/>
            <a:ext cx="1956816" cy="25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1"/>
              </a:lnSpc>
            </a:pPr>
            <a:r>
              <a:rPr lang="en-US" sz="1547" spc="30">
                <a:solidFill>
                  <a:srgbClr val="152544"/>
                </a:solidFill>
                <a:latin typeface="Lexend Deca"/>
                <a:ea typeface="Lexend Deca"/>
                <a:cs typeface="Lexend Deca"/>
                <a:sym typeface="Lexend Deca"/>
              </a:rPr>
              <a:t>JWT authentication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82842" y="4711687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82842" y="5138034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19072" y="5348213"/>
            <a:ext cx="2560320" cy="25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0"/>
              </a:lnSpc>
            </a:pPr>
            <a:r>
              <a:rPr lang="en-US" sz="1577" spc="31">
                <a:solidFill>
                  <a:srgbClr val="152544"/>
                </a:solidFill>
                <a:latin typeface="Lexend Deca"/>
                <a:ea typeface="Lexend Deca"/>
                <a:cs typeface="Lexend Deca"/>
                <a:sym typeface="Lexend Deca"/>
              </a:rPr>
              <a:t>Project ownership checks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82842" y="556438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19072" y="5780079"/>
            <a:ext cx="2907792" cy="25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1"/>
              </a:lnSpc>
            </a:pPr>
            <a:r>
              <a:rPr lang="en-US" sz="1547" spc="30">
                <a:solidFill>
                  <a:srgbClr val="152544"/>
                </a:solidFill>
                <a:latin typeface="Lexend Deca"/>
                <a:ea typeface="Lexend Deca"/>
                <a:cs typeface="Lexend Deca"/>
                <a:sym typeface="Lexend Deca"/>
              </a:rPr>
              <a:t>Team membership validation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82842" y="6209369"/>
            <a:ext cx="448450" cy="229572"/>
          </a:xfrm>
          <a:custGeom>
            <a:avLst/>
            <a:gdLst/>
            <a:ahLst/>
            <a:cxnLst/>
            <a:rect r="r" b="b" t="t" l="l"/>
            <a:pathLst>
              <a:path h="229572" w="448450">
                <a:moveTo>
                  <a:pt x="0" y="0"/>
                </a:moveTo>
                <a:lnTo>
                  <a:pt x="448450" y="0"/>
                </a:lnTo>
                <a:lnTo>
                  <a:pt x="448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19072" y="6237223"/>
            <a:ext cx="2157984" cy="2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3"/>
              </a:lnSpc>
            </a:pPr>
            <a:r>
              <a:rPr lang="en-US" sz="1517" spc="30">
                <a:solidFill>
                  <a:srgbClr val="152544"/>
                </a:solidFill>
                <a:latin typeface="Lexend Deca"/>
                <a:ea typeface="Lexend Deca"/>
                <a:cs typeface="Lexend Deca"/>
                <a:sym typeface="Lexend Deca"/>
              </a:rPr>
              <a:t>Organization isolation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436086" y="2776725"/>
            <a:ext cx="4364182" cy="5367606"/>
          </a:xfrm>
          <a:custGeom>
            <a:avLst/>
            <a:gdLst/>
            <a:ahLst/>
            <a:cxnLst/>
            <a:rect r="r" b="b" t="t" l="l"/>
            <a:pathLst>
              <a:path h="5367606" w="4364182">
                <a:moveTo>
                  <a:pt x="0" y="0"/>
                </a:moveTo>
                <a:lnTo>
                  <a:pt x="4364182" y="0"/>
                </a:lnTo>
                <a:lnTo>
                  <a:pt x="4364182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873598" y="2995365"/>
            <a:ext cx="667206" cy="863627"/>
          </a:xfrm>
          <a:custGeom>
            <a:avLst/>
            <a:gdLst/>
            <a:ahLst/>
            <a:cxnLst/>
            <a:rect r="r" b="b" t="t" l="l"/>
            <a:pathLst>
              <a:path h="863627" w="667206">
                <a:moveTo>
                  <a:pt x="0" y="0"/>
                </a:moveTo>
                <a:lnTo>
                  <a:pt x="667206" y="0"/>
                </a:lnTo>
                <a:lnTo>
                  <a:pt x="667206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912864" y="3184945"/>
            <a:ext cx="1792224" cy="59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b="true" sz="2023" spc="-60">
                <a:solidFill>
                  <a:srgbClr val="2A4FF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RESOURCE PROTECTION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5654842" y="4493047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654842" y="4919394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364224" y="5136514"/>
            <a:ext cx="3017520" cy="2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3"/>
              </a:lnSpc>
            </a:pPr>
            <a:r>
              <a:rPr lang="en-US" sz="1517" spc="30">
                <a:solidFill>
                  <a:srgbClr val="152544"/>
                </a:solidFill>
                <a:latin typeface="Lexend Deca"/>
                <a:ea typeface="Lexend Deca"/>
                <a:cs typeface="Lexend Deca"/>
                <a:sym typeface="Lexend Deca"/>
              </a:rPr>
              <a:t>Create unauthorized resources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5654842" y="5564382"/>
            <a:ext cx="448450" cy="229572"/>
          </a:xfrm>
          <a:custGeom>
            <a:avLst/>
            <a:gdLst/>
            <a:ahLst/>
            <a:cxnLst/>
            <a:rect r="r" b="b" t="t" l="l"/>
            <a:pathLst>
              <a:path h="229572" w="448450">
                <a:moveTo>
                  <a:pt x="0" y="0"/>
                </a:moveTo>
                <a:lnTo>
                  <a:pt x="448450" y="0"/>
                </a:lnTo>
                <a:lnTo>
                  <a:pt x="448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6364224" y="5578855"/>
            <a:ext cx="3090672" cy="2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3"/>
              </a:lnSpc>
            </a:pPr>
            <a:r>
              <a:rPr lang="en-US" sz="1517" spc="30">
                <a:solidFill>
                  <a:srgbClr val="152544"/>
                </a:solidFill>
                <a:latin typeface="Lexend Deca"/>
                <a:ea typeface="Lexend Deca"/>
                <a:cs typeface="Lexend Deca"/>
                <a:sym typeface="Lexend Deca"/>
              </a:rPr>
              <a:t>Update unauthorized resources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5654842" y="5990729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5888736" y="7094005"/>
            <a:ext cx="3291840" cy="59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2023" spc="40">
                <a:solidFill>
                  <a:srgbClr val="152544"/>
                </a:solidFill>
                <a:latin typeface="Lexend Deca"/>
                <a:ea typeface="Lexend Deca"/>
                <a:cs typeface="Lexend Deca"/>
                <a:sym typeface="Lexend Deca"/>
              </a:rPr>
              <a:t>Role + Organization + Ownership + Membership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0008086" y="2776725"/>
            <a:ext cx="4145426" cy="5367606"/>
          </a:xfrm>
          <a:custGeom>
            <a:avLst/>
            <a:gdLst/>
            <a:ahLst/>
            <a:cxnLst/>
            <a:rect r="r" b="b" t="t" l="l"/>
            <a:pathLst>
              <a:path h="5367606" w="4145426">
                <a:moveTo>
                  <a:pt x="0" y="0"/>
                </a:moveTo>
                <a:lnTo>
                  <a:pt x="4145426" y="0"/>
                </a:lnTo>
                <a:lnTo>
                  <a:pt x="4145426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445598" y="2995365"/>
            <a:ext cx="667206" cy="863627"/>
          </a:xfrm>
          <a:custGeom>
            <a:avLst/>
            <a:gdLst/>
            <a:ahLst/>
            <a:cxnLst/>
            <a:rect r="r" b="b" t="t" l="l"/>
            <a:pathLst>
              <a:path h="863627" w="667206">
                <a:moveTo>
                  <a:pt x="0" y="0"/>
                </a:moveTo>
                <a:lnTo>
                  <a:pt x="667206" y="0"/>
                </a:lnTo>
                <a:lnTo>
                  <a:pt x="667206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1484864" y="3184945"/>
            <a:ext cx="2267712" cy="59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b="true" sz="2023" spc="-60">
                <a:solidFill>
                  <a:srgbClr val="2A4FF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FINAL SECURITY TESTING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789920" y="4278365"/>
            <a:ext cx="731520" cy="25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0"/>
              </a:lnSpc>
            </a:pPr>
            <a:r>
              <a:rPr lang="en-US" sz="1577" spc="31">
                <a:solidFill>
                  <a:srgbClr val="152544"/>
                </a:solidFill>
                <a:latin typeface="Lexend Deca"/>
                <a:ea typeface="Lexend Deca"/>
                <a:cs typeface="Lexend Deca"/>
                <a:sym typeface="Lexend Deca"/>
              </a:rPr>
              <a:t>Tested: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0664354" y="4493047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664354" y="4919394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0664354" y="5138034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1210544" y="5348025"/>
            <a:ext cx="1261872" cy="25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1"/>
              </a:lnSpc>
            </a:pPr>
            <a:r>
              <a:rPr lang="en-US" sz="1547" spc="30">
                <a:solidFill>
                  <a:srgbClr val="152544"/>
                </a:solidFill>
                <a:latin typeface="Lexend Deca"/>
                <a:ea typeface="Lexend Deca"/>
                <a:cs typeface="Lexend Deca"/>
                <a:sym typeface="Lexend Deca"/>
              </a:rPr>
              <a:t>Expired JWT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0664354" y="556438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0664354" y="5990729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0664354" y="6209369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1210544" y="6376913"/>
            <a:ext cx="2048256" cy="25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0"/>
              </a:lnSpc>
            </a:pPr>
            <a:r>
              <a:rPr lang="en-US" sz="1577" spc="31">
                <a:solidFill>
                  <a:srgbClr val="152544"/>
                </a:solidFill>
                <a:latin typeface="Lexend Deca"/>
                <a:ea typeface="Lexend Deca"/>
                <a:cs typeface="Lexend Deca"/>
                <a:sym typeface="Lexend Deca"/>
              </a:rPr>
              <a:t>Protected endpoints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0664354" y="6635716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0664354" y="6854356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0664354" y="7280704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864086" y="8133399"/>
            <a:ext cx="13289426" cy="1300906"/>
          </a:xfrm>
          <a:custGeom>
            <a:avLst/>
            <a:gdLst/>
            <a:ahLst/>
            <a:cxnLst/>
            <a:rect r="r" b="b" t="t" l="l"/>
            <a:pathLst>
              <a:path h="1300906" w="13289426">
                <a:moveTo>
                  <a:pt x="0" y="0"/>
                </a:moveTo>
                <a:lnTo>
                  <a:pt x="13289426" y="0"/>
                </a:lnTo>
                <a:lnTo>
                  <a:pt x="1328942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301598" y="8352038"/>
            <a:ext cx="667206" cy="863627"/>
          </a:xfrm>
          <a:custGeom>
            <a:avLst/>
            <a:gdLst/>
            <a:ahLst/>
            <a:cxnLst/>
            <a:rect r="r" b="b" t="t" l="l"/>
            <a:pathLst>
              <a:path h="863627" w="667206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2377440" y="8514346"/>
            <a:ext cx="11155680" cy="47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2978" spc="59">
                <a:solidFill>
                  <a:srgbClr val="2A4FF6"/>
                </a:solidFill>
                <a:latin typeface="Lexend Deca"/>
                <a:ea typeface="Lexend Deca"/>
                <a:cs typeface="Lexend Deca"/>
                <a:sym typeface="Lexend Deca"/>
              </a:rPr>
              <a:t>Final security review completed before Flutter integration.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719072" y="4910200"/>
            <a:ext cx="2194560" cy="2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3"/>
              </a:lnSpc>
            </a:pPr>
            <a:r>
              <a:rPr lang="en-US" sz="1517" spc="30">
                <a:solidFill>
                  <a:srgbClr val="152544"/>
                </a:solidFill>
                <a:latin typeface="Lexend Deca"/>
                <a:ea typeface="Lexend Deca"/>
                <a:cs typeface="Lexend Deca"/>
                <a:sym typeface="Lexend Deca"/>
              </a:rPr>
              <a:t>RBAC for all four roles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888736" y="4247504"/>
            <a:ext cx="2048256" cy="25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0"/>
              </a:lnSpc>
            </a:pPr>
            <a:r>
              <a:rPr lang="en-US" sz="1577" spc="31">
                <a:solidFill>
                  <a:srgbClr val="152544"/>
                </a:solidFill>
                <a:latin typeface="Lexend Deca"/>
                <a:ea typeface="Lexend Deca"/>
                <a:cs typeface="Lexend Deca"/>
                <a:sym typeface="Lexend Deca"/>
              </a:rPr>
              <a:t>Verify users cannot: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364224" y="4704460"/>
            <a:ext cx="2834640" cy="2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3"/>
              </a:lnSpc>
            </a:pPr>
            <a:r>
              <a:rPr lang="en-US" sz="1517" spc="30">
                <a:solidFill>
                  <a:srgbClr val="152544"/>
                </a:solidFill>
                <a:latin typeface="Lexend Deca"/>
                <a:ea typeface="Lexend Deca"/>
                <a:cs typeface="Lexend Deca"/>
                <a:sym typeface="Lexend Deca"/>
              </a:rPr>
              <a:t>View unauthorized resources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364224" y="6006393"/>
            <a:ext cx="3035808" cy="25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1"/>
              </a:lnSpc>
            </a:pPr>
            <a:r>
              <a:rPr lang="en-US" sz="1547" spc="30">
                <a:solidFill>
                  <a:srgbClr val="152544"/>
                </a:solidFill>
                <a:latin typeface="Lexend Deca"/>
                <a:ea typeface="Lexend Deca"/>
                <a:cs typeface="Lexend Deca"/>
                <a:sym typeface="Lexend Deca"/>
              </a:rPr>
              <a:t>Delete unauthorized resources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210544" y="4704460"/>
            <a:ext cx="1005840" cy="2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3"/>
              </a:lnSpc>
            </a:pPr>
            <a:r>
              <a:rPr lang="en-US" sz="1517" spc="30">
                <a:solidFill>
                  <a:srgbClr val="152544"/>
                </a:solidFill>
                <a:latin typeface="Lexend Deca"/>
                <a:ea typeface="Lexend Deca"/>
                <a:cs typeface="Lexend Deca"/>
                <a:sym typeface="Lexend Deca"/>
              </a:rPr>
              <a:t>Valid JWT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210544" y="5038546"/>
            <a:ext cx="1133856" cy="22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7"/>
              </a:lnSpc>
            </a:pPr>
            <a:r>
              <a:rPr lang="en-US" sz="1429" spc="28">
                <a:solidFill>
                  <a:srgbClr val="152544"/>
                </a:solidFill>
                <a:latin typeface="Lexend Deca"/>
                <a:ea typeface="Lexend Deca"/>
                <a:cs typeface="Lexend Deca"/>
                <a:sym typeface="Lexend Deca"/>
              </a:rPr>
              <a:t>Invalid JWT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210544" y="5692012"/>
            <a:ext cx="1133856" cy="2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3"/>
              </a:lnSpc>
            </a:pPr>
            <a:r>
              <a:rPr lang="en-US" sz="1517" spc="30">
                <a:solidFill>
                  <a:srgbClr val="152544"/>
                </a:solidFill>
                <a:latin typeface="Lexend Deca"/>
                <a:ea typeface="Lexend Deca"/>
                <a:cs typeface="Lexend Deca"/>
                <a:sym typeface="Lexend Deca"/>
              </a:rPr>
              <a:t>JWT claims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210544" y="6047729"/>
            <a:ext cx="1700784" cy="25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0"/>
              </a:lnSpc>
            </a:pPr>
            <a:r>
              <a:rPr lang="en-US" sz="1577" spc="31">
                <a:solidFill>
                  <a:srgbClr val="152544"/>
                </a:solidFill>
                <a:latin typeface="Lexend Deca"/>
                <a:ea typeface="Lexend Deca"/>
                <a:cs typeface="Lexend Deca"/>
                <a:sym typeface="Lexend Deca"/>
              </a:rPr>
              <a:t>Role permissions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210544" y="6719869"/>
            <a:ext cx="786384" cy="241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606" spc="32">
                <a:solidFill>
                  <a:srgbClr val="152544"/>
                </a:solidFill>
                <a:latin typeface="Lexend Deca"/>
                <a:ea typeface="Lexend Deca"/>
                <a:cs typeface="Lexend Deca"/>
                <a:sym typeface="Lexend Deca"/>
              </a:rPr>
              <a:t>200 OK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210544" y="7055855"/>
            <a:ext cx="1792224" cy="25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0"/>
              </a:lnSpc>
            </a:pPr>
            <a:r>
              <a:rPr lang="en-US" sz="1577" spc="31">
                <a:solidFill>
                  <a:srgbClr val="152544"/>
                </a:solidFill>
                <a:latin typeface="Lexend Deca"/>
                <a:ea typeface="Lexend Deca"/>
                <a:cs typeface="Lexend Deca"/>
                <a:sym typeface="Lexend Deca"/>
              </a:rPr>
              <a:t>401 Unauthorized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210544" y="7419385"/>
            <a:ext cx="1517904" cy="241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606" spc="32">
                <a:solidFill>
                  <a:srgbClr val="152544"/>
                </a:solidFill>
                <a:latin typeface="Lexend Deca"/>
                <a:ea typeface="Lexend Deca"/>
                <a:cs typeface="Lexend Deca"/>
                <a:sym typeface="Lexend Deca"/>
              </a:rPr>
              <a:t>403 Forbidden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888736" y="6808967"/>
            <a:ext cx="2340864" cy="25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0"/>
              </a:lnSpc>
            </a:pPr>
            <a:r>
              <a:rPr lang="en-US" sz="1577" spc="31">
                <a:solidFill>
                  <a:srgbClr val="152544"/>
                </a:solidFill>
                <a:latin typeface="Lexend Deca"/>
                <a:ea typeface="Lexend Deca"/>
                <a:cs typeface="Lexend Deca"/>
                <a:sym typeface="Lexend Deca"/>
              </a:rPr>
              <a:t>Access is restricted by: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42416" y="712261"/>
            <a:ext cx="1572768" cy="241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606" spc="160">
                <a:solidFill>
                  <a:srgbClr val="2A4FF6"/>
                </a:solidFill>
                <a:latin typeface="Lexend Deca"/>
                <a:ea typeface="Lexend Deca"/>
                <a:cs typeface="Lexend Deca"/>
                <a:sym typeface="Lexend Deca"/>
              </a:rPr>
              <a:t>SCALEFLOW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5486400" cy="457200"/>
            <a:chOff x="0" y="0"/>
            <a:chExt cx="73152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3152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b="true" sz="1599" spc="599">
                  <a:solidFill>
                    <a:srgbClr val="4F6B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SCALEFLOW  ◇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3040" y="3657600"/>
            <a:ext cx="9144000" cy="1828800"/>
            <a:chOff x="0" y="0"/>
            <a:chExt cx="12192000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92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2192000" cy="2438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60"/>
                </a:lnSpc>
              </a:pPr>
              <a:r>
                <a:rPr lang="en-US" sz="10800" b="true">
                  <a:solidFill>
                    <a:srgbClr val="4F6B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Sadeel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3040" y="5486400"/>
            <a:ext cx="9144000" cy="731520"/>
            <a:chOff x="0" y="0"/>
            <a:chExt cx="12192000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920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219200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AI / ML Track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3040" y="6217920"/>
            <a:ext cx="9144000" cy="548640"/>
            <a:chOff x="0" y="0"/>
            <a:chExt cx="121920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21920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B647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 Requirements  ·  Data Preparation  ·  Baseline Models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668000" y="0"/>
            <a:ext cx="7620000" cy="10287000"/>
          </a:xfrm>
          <a:custGeom>
            <a:avLst/>
            <a:gdLst/>
            <a:ahLst/>
            <a:cxnLst/>
            <a:rect r="r" b="b" t="t" l="l"/>
            <a:pathLst>
              <a:path h="10287000" w="7620000">
                <a:moveTo>
                  <a:pt x="0" y="0"/>
                </a:moveTo>
                <a:lnTo>
                  <a:pt x="7620000" y="0"/>
                </a:lnTo>
                <a:lnTo>
                  <a:pt x="7620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0" t="-50" r="0" b="-5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02336"/>
            <a:ext cx="5486400" cy="457200"/>
            <a:chOff x="0" y="0"/>
            <a:chExt cx="73152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3152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b="true" sz="1599" spc="599">
                  <a:solidFill>
                    <a:srgbClr val="4F6B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SCALEFLOW  ◇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14400"/>
            <a:ext cx="9144000" cy="402336"/>
            <a:chOff x="0" y="0"/>
            <a:chExt cx="12192000" cy="5364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92000" cy="536448"/>
            </a:xfrm>
            <a:custGeom>
              <a:avLst/>
              <a:gdLst/>
              <a:ahLst/>
              <a:cxnLst/>
              <a:rect r="r" b="b" t="t" l="l"/>
              <a:pathLst>
                <a:path h="536448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841" r="0" b="-3928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219200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b="true" sz="1599" spc="399">
                  <a:solidFill>
                    <a:srgbClr val="8B5C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TASK 01  ·  DATA FOUNDATION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403464" y="0"/>
            <a:ext cx="5884536" cy="4296271"/>
          </a:xfrm>
          <a:custGeom>
            <a:avLst/>
            <a:gdLst/>
            <a:ahLst/>
            <a:cxnLst/>
            <a:rect r="r" b="b" t="t" l="l"/>
            <a:pathLst>
              <a:path h="4296271" w="5884536">
                <a:moveTo>
                  <a:pt x="0" y="0"/>
                </a:moveTo>
                <a:lnTo>
                  <a:pt x="5884536" y="0"/>
                </a:lnTo>
                <a:lnTo>
                  <a:pt x="5884536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22960" y="1316736"/>
            <a:ext cx="13533120" cy="914400"/>
            <a:chOff x="0" y="0"/>
            <a:chExt cx="1804416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44161" cy="1219200"/>
            </a:xfrm>
            <a:custGeom>
              <a:avLst/>
              <a:gdLst/>
              <a:ahLst/>
              <a:cxnLst/>
              <a:rect r="r" b="b" t="t" l="l"/>
              <a:pathLst>
                <a:path h="1219200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378" r="0" b="-23837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8044160" cy="1209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Defining AI/ML Data Requirements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2231136"/>
            <a:ext cx="13533120" cy="548640"/>
            <a:chOff x="0" y="0"/>
            <a:chExt cx="1804416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44161" cy="731520"/>
            </a:xfrm>
            <a:custGeom>
              <a:avLst/>
              <a:gdLst/>
              <a:ahLst/>
              <a:cxnLst/>
              <a:rect r="r" b="b" t="t" l="l"/>
              <a:pathLst>
                <a:path h="731520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630" r="0" b="-43063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80441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5B647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What ScaleFlow must collect to predict delays and risk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13435" y="3398901"/>
            <a:ext cx="8212074" cy="1482090"/>
            <a:chOff x="0" y="0"/>
            <a:chExt cx="10949432" cy="1976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49432" cy="1976120"/>
            </a:xfrm>
            <a:custGeom>
              <a:avLst/>
              <a:gdLst/>
              <a:ahLst/>
              <a:cxnLst/>
              <a:rect r="r" b="b" t="t" l="l"/>
              <a:pathLst>
                <a:path h="1976120" w="10949432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10751820" y="0"/>
                  </a:lnTo>
                  <a:cubicBezTo>
                    <a:pt x="10860913" y="0"/>
                    <a:pt x="10949432" y="88519"/>
                    <a:pt x="10949432" y="197612"/>
                  </a:cubicBezTo>
                  <a:lnTo>
                    <a:pt x="10949432" y="1778508"/>
                  </a:lnTo>
                  <a:cubicBezTo>
                    <a:pt x="10949432" y="1887601"/>
                    <a:pt x="10860913" y="1976120"/>
                    <a:pt x="10751820" y="1976120"/>
                  </a:cubicBezTo>
                  <a:lnTo>
                    <a:pt x="197612" y="1976120"/>
                  </a:lnTo>
                  <a:cubicBezTo>
                    <a:pt x="88519" y="1976120"/>
                    <a:pt x="0" y="1887601"/>
                    <a:pt x="0" y="177850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39447" y="3670049"/>
            <a:ext cx="939803" cy="939803"/>
            <a:chOff x="0" y="0"/>
            <a:chExt cx="1253071" cy="12530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200533"/>
                  </a:moveTo>
                  <a:cubicBezTo>
                    <a:pt x="0" y="89789"/>
                    <a:pt x="89789" y="0"/>
                    <a:pt x="200533" y="0"/>
                  </a:cubicBezTo>
                  <a:lnTo>
                    <a:pt x="1052576" y="0"/>
                  </a:lnTo>
                  <a:cubicBezTo>
                    <a:pt x="1163320" y="0"/>
                    <a:pt x="1253109" y="89789"/>
                    <a:pt x="1253109" y="200533"/>
                  </a:cubicBezTo>
                  <a:lnTo>
                    <a:pt x="1253109" y="1052576"/>
                  </a:lnTo>
                  <a:cubicBezTo>
                    <a:pt x="1253109" y="1163320"/>
                    <a:pt x="1163320" y="1253109"/>
                    <a:pt x="1052576" y="1253109"/>
                  </a:cubicBezTo>
                  <a:lnTo>
                    <a:pt x="200533" y="1253109"/>
                  </a:lnTo>
                  <a:cubicBezTo>
                    <a:pt x="89789" y="1253109"/>
                    <a:pt x="0" y="1163320"/>
                    <a:pt x="0" y="1052576"/>
                  </a:cubicBezTo>
                  <a:close/>
                </a:path>
              </a:pathLst>
            </a:custGeom>
            <a:solidFill>
              <a:srgbClr val="EEF0FE"/>
            </a:solidFill>
            <a:ln w="25400" cap="sq">
              <a:solidFill>
                <a:srgbClr val="EEF0FE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53312" y="3883914"/>
            <a:ext cx="512064" cy="512064"/>
            <a:chOff x="0" y="0"/>
            <a:chExt cx="682752" cy="682752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377440" y="3591306"/>
            <a:ext cx="6400800" cy="548640"/>
            <a:chOff x="0" y="0"/>
            <a:chExt cx="85344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853440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Task Delay Prediction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377440" y="4176522"/>
            <a:ext cx="6492240" cy="457200"/>
            <a:chOff x="0" y="0"/>
            <a:chExt cx="8656320" cy="609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656320" cy="609600"/>
            </a:xfrm>
            <a:custGeom>
              <a:avLst/>
              <a:gdLst/>
              <a:ahLst/>
              <a:cxnLst/>
              <a:rect r="r" b="b" t="t" l="l"/>
              <a:pathLst>
                <a:path h="60960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687" r="0" b="-22668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865632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4F6B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Target: </a:t>
              </a:r>
              <a:r>
                <a:rPr lang="en-US" sz="1899">
                  <a:solidFill>
                    <a:srgbClr val="1E2A4A"/>
                  </a:solidFill>
                  <a:latin typeface="Arial"/>
                  <a:ea typeface="Arial"/>
                  <a:cs typeface="Arial"/>
                  <a:sym typeface="Arial"/>
                </a:rPr>
                <a:t>is_delayed (0/1)  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62491" y="3398901"/>
            <a:ext cx="8212074" cy="1482090"/>
            <a:chOff x="0" y="0"/>
            <a:chExt cx="10949432" cy="19761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49432" cy="1976120"/>
            </a:xfrm>
            <a:custGeom>
              <a:avLst/>
              <a:gdLst/>
              <a:ahLst/>
              <a:cxnLst/>
              <a:rect r="r" b="b" t="t" l="l"/>
              <a:pathLst>
                <a:path h="1976120" w="10949432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10751820" y="0"/>
                  </a:lnTo>
                  <a:cubicBezTo>
                    <a:pt x="10860913" y="0"/>
                    <a:pt x="10949432" y="88519"/>
                    <a:pt x="10949432" y="197612"/>
                  </a:cubicBezTo>
                  <a:lnTo>
                    <a:pt x="10949432" y="1778508"/>
                  </a:lnTo>
                  <a:cubicBezTo>
                    <a:pt x="10949432" y="1887601"/>
                    <a:pt x="10860913" y="1976120"/>
                    <a:pt x="10751820" y="1976120"/>
                  </a:cubicBezTo>
                  <a:lnTo>
                    <a:pt x="197612" y="1976120"/>
                  </a:lnTo>
                  <a:cubicBezTo>
                    <a:pt x="88519" y="1976120"/>
                    <a:pt x="0" y="1887601"/>
                    <a:pt x="0" y="177850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88503" y="3670049"/>
            <a:ext cx="939803" cy="939803"/>
            <a:chOff x="0" y="0"/>
            <a:chExt cx="1253071" cy="12530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200533"/>
                  </a:moveTo>
                  <a:cubicBezTo>
                    <a:pt x="0" y="89789"/>
                    <a:pt x="89789" y="0"/>
                    <a:pt x="200533" y="0"/>
                  </a:cubicBezTo>
                  <a:lnTo>
                    <a:pt x="1052576" y="0"/>
                  </a:lnTo>
                  <a:cubicBezTo>
                    <a:pt x="1163320" y="0"/>
                    <a:pt x="1253109" y="89789"/>
                    <a:pt x="1253109" y="200533"/>
                  </a:cubicBezTo>
                  <a:lnTo>
                    <a:pt x="1253109" y="1052576"/>
                  </a:lnTo>
                  <a:cubicBezTo>
                    <a:pt x="1253109" y="1163320"/>
                    <a:pt x="1163320" y="1253109"/>
                    <a:pt x="1052576" y="1253109"/>
                  </a:cubicBezTo>
                  <a:lnTo>
                    <a:pt x="200533" y="1253109"/>
                  </a:lnTo>
                  <a:cubicBezTo>
                    <a:pt x="89789" y="1253109"/>
                    <a:pt x="0" y="1163320"/>
                    <a:pt x="0" y="1052576"/>
                  </a:cubicBezTo>
                  <a:close/>
                </a:path>
              </a:pathLst>
            </a:custGeom>
            <a:solidFill>
              <a:srgbClr val="EEF0FE"/>
            </a:solidFill>
            <a:ln w="25400" cap="sq">
              <a:solidFill>
                <a:srgbClr val="EEF0FE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802368" y="3883914"/>
            <a:ext cx="512064" cy="512064"/>
            <a:chOff x="0" y="0"/>
            <a:chExt cx="682752" cy="682752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826496" y="3591306"/>
            <a:ext cx="6400800" cy="548640"/>
            <a:chOff x="0" y="0"/>
            <a:chExt cx="853440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853440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Risk Analysis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826496" y="4176522"/>
            <a:ext cx="6492240" cy="457200"/>
            <a:chOff x="0" y="0"/>
            <a:chExt cx="8656320" cy="609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656320" cy="609600"/>
            </a:xfrm>
            <a:custGeom>
              <a:avLst/>
              <a:gdLst/>
              <a:ahLst/>
              <a:cxnLst/>
              <a:rect r="r" b="b" t="t" l="l"/>
              <a:pathLst>
                <a:path h="60960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687" r="0" b="-22668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865632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E0468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Target: </a:t>
              </a:r>
              <a:r>
                <a:rPr lang="en-US" sz="1899">
                  <a:solidFill>
                    <a:srgbClr val="1E2A4A"/>
                  </a:solidFill>
                  <a:latin typeface="Arial"/>
                  <a:ea typeface="Arial"/>
                  <a:cs typeface="Arial"/>
                  <a:sym typeface="Arial"/>
                </a:rPr>
                <a:t>risk_level (Low/Med/High)  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13435" y="5154549"/>
            <a:ext cx="3164586" cy="1847850"/>
            <a:chOff x="0" y="0"/>
            <a:chExt cx="4219448" cy="2463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19448" cy="2463800"/>
            </a:xfrm>
            <a:custGeom>
              <a:avLst/>
              <a:gdLst/>
              <a:ahLst/>
              <a:cxnLst/>
              <a:rect r="r" b="b" t="t" l="l"/>
              <a:pathLst>
                <a:path h="2463800" w="4219448">
                  <a:moveTo>
                    <a:pt x="0" y="197104"/>
                  </a:moveTo>
                  <a:cubicBezTo>
                    <a:pt x="0" y="88265"/>
                    <a:pt x="88265" y="0"/>
                    <a:pt x="197104" y="0"/>
                  </a:cubicBezTo>
                  <a:lnTo>
                    <a:pt x="4022344" y="0"/>
                  </a:lnTo>
                  <a:cubicBezTo>
                    <a:pt x="4131183" y="0"/>
                    <a:pt x="4219448" y="88265"/>
                    <a:pt x="4219448" y="197104"/>
                  </a:cubicBezTo>
                  <a:lnTo>
                    <a:pt x="4219448" y="2266696"/>
                  </a:lnTo>
                  <a:cubicBezTo>
                    <a:pt x="4219448" y="2375535"/>
                    <a:pt x="4131183" y="2463800"/>
                    <a:pt x="4022344" y="2463800"/>
                  </a:cubicBezTo>
                  <a:lnTo>
                    <a:pt x="197104" y="2463800"/>
                  </a:lnTo>
                  <a:cubicBezTo>
                    <a:pt x="88265" y="2463800"/>
                    <a:pt x="0" y="2375535"/>
                    <a:pt x="0" y="226669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998983" y="5297681"/>
            <a:ext cx="793499" cy="793499"/>
            <a:chOff x="0" y="0"/>
            <a:chExt cx="1057999" cy="105799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856488" y="0"/>
                  </a:lnTo>
                  <a:cubicBezTo>
                    <a:pt x="967740" y="0"/>
                    <a:pt x="1058037" y="90170"/>
                    <a:pt x="1058037" y="201549"/>
                  </a:cubicBezTo>
                  <a:lnTo>
                    <a:pt x="1058037" y="856488"/>
                  </a:lnTo>
                  <a:cubicBezTo>
                    <a:pt x="1058037" y="967740"/>
                    <a:pt x="967867" y="1058037"/>
                    <a:pt x="856488" y="1058037"/>
                  </a:cubicBezTo>
                  <a:lnTo>
                    <a:pt x="201549" y="1058037"/>
                  </a:lnTo>
                  <a:cubicBezTo>
                    <a:pt x="90170" y="1058037"/>
                    <a:pt x="0" y="967740"/>
                    <a:pt x="0" y="856488"/>
                  </a:cubicBezTo>
                  <a:close/>
                </a:path>
              </a:pathLst>
            </a:custGeom>
            <a:solidFill>
              <a:srgbClr val="EEF0FE"/>
            </a:solidFill>
            <a:ln w="25400" cap="sq">
              <a:solidFill>
                <a:srgbClr val="EEF0FE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2180663" y="5479361"/>
            <a:ext cx="430130" cy="430130"/>
            <a:chOff x="0" y="0"/>
            <a:chExt cx="573507" cy="57350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573532" cy="573532"/>
            </a:xfrm>
            <a:custGeom>
              <a:avLst/>
              <a:gdLst/>
              <a:ahLst/>
              <a:cxnLst/>
              <a:rect r="r" b="b" t="t" l="l"/>
              <a:pathLst>
                <a:path h="573532" w="573532">
                  <a:moveTo>
                    <a:pt x="0" y="0"/>
                  </a:moveTo>
                  <a:lnTo>
                    <a:pt x="573532" y="0"/>
                  </a:lnTo>
                  <a:lnTo>
                    <a:pt x="573532" y="573532"/>
                  </a:lnTo>
                  <a:lnTo>
                    <a:pt x="0" y="573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4" b="4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14400" y="6151626"/>
            <a:ext cx="2962656" cy="402336"/>
            <a:chOff x="0" y="0"/>
            <a:chExt cx="3950208" cy="53644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950208" cy="536448"/>
            </a:xfrm>
            <a:custGeom>
              <a:avLst/>
              <a:gdLst/>
              <a:ahLst/>
              <a:cxnLst/>
              <a:rect r="r" b="b" t="t" l="l"/>
              <a:pathLst>
                <a:path h="536448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480" r="0" b="-9348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950208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Task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14400" y="6553962"/>
            <a:ext cx="2962656" cy="365760"/>
            <a:chOff x="0" y="0"/>
            <a:chExt cx="3950208" cy="4876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0208" cy="487680"/>
            </a:xfrm>
            <a:custGeom>
              <a:avLst/>
              <a:gdLst/>
              <a:ahLst/>
              <a:cxnLst/>
              <a:rect r="r" b="b" t="t" l="l"/>
              <a:pathLst>
                <a:path h="487680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828" r="0" b="-10782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3950208" cy="50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478"/>
                  </a:solidFill>
                  <a:latin typeface="Arial"/>
                  <a:ea typeface="Arial"/>
                  <a:cs typeface="Arial"/>
                  <a:sym typeface="Arial"/>
                </a:rPr>
                <a:t>status, priority, dates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4187571" y="5154549"/>
            <a:ext cx="3164586" cy="1847850"/>
            <a:chOff x="0" y="0"/>
            <a:chExt cx="4219448" cy="2463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219448" cy="2463800"/>
            </a:xfrm>
            <a:custGeom>
              <a:avLst/>
              <a:gdLst/>
              <a:ahLst/>
              <a:cxnLst/>
              <a:rect r="r" b="b" t="t" l="l"/>
              <a:pathLst>
                <a:path h="2463800" w="4219448">
                  <a:moveTo>
                    <a:pt x="0" y="197104"/>
                  </a:moveTo>
                  <a:cubicBezTo>
                    <a:pt x="0" y="88265"/>
                    <a:pt x="88265" y="0"/>
                    <a:pt x="197104" y="0"/>
                  </a:cubicBezTo>
                  <a:lnTo>
                    <a:pt x="4022344" y="0"/>
                  </a:lnTo>
                  <a:cubicBezTo>
                    <a:pt x="4131183" y="0"/>
                    <a:pt x="4219448" y="88265"/>
                    <a:pt x="4219448" y="197104"/>
                  </a:cubicBezTo>
                  <a:lnTo>
                    <a:pt x="4219448" y="2266696"/>
                  </a:lnTo>
                  <a:cubicBezTo>
                    <a:pt x="4219448" y="2375535"/>
                    <a:pt x="4131183" y="2463800"/>
                    <a:pt x="4022344" y="2463800"/>
                  </a:cubicBezTo>
                  <a:lnTo>
                    <a:pt x="197104" y="2463800"/>
                  </a:lnTo>
                  <a:cubicBezTo>
                    <a:pt x="88265" y="2463800"/>
                    <a:pt x="0" y="2375535"/>
                    <a:pt x="0" y="226669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5373119" y="5297681"/>
            <a:ext cx="793499" cy="793499"/>
            <a:chOff x="0" y="0"/>
            <a:chExt cx="1057999" cy="105799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856488" y="0"/>
                  </a:lnTo>
                  <a:cubicBezTo>
                    <a:pt x="967740" y="0"/>
                    <a:pt x="1058037" y="90170"/>
                    <a:pt x="1058037" y="201549"/>
                  </a:cubicBezTo>
                  <a:lnTo>
                    <a:pt x="1058037" y="856488"/>
                  </a:lnTo>
                  <a:cubicBezTo>
                    <a:pt x="1058037" y="967740"/>
                    <a:pt x="967867" y="1058037"/>
                    <a:pt x="856488" y="1058037"/>
                  </a:cubicBezTo>
                  <a:lnTo>
                    <a:pt x="201549" y="1058037"/>
                  </a:lnTo>
                  <a:cubicBezTo>
                    <a:pt x="90170" y="1058037"/>
                    <a:pt x="0" y="967740"/>
                    <a:pt x="0" y="856488"/>
                  </a:cubicBezTo>
                  <a:close/>
                </a:path>
              </a:pathLst>
            </a:custGeom>
            <a:solidFill>
              <a:srgbClr val="EEF0FE"/>
            </a:solidFill>
            <a:ln w="25400" cap="sq">
              <a:solidFill>
                <a:srgbClr val="EEF0FE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5554799" y="5479361"/>
            <a:ext cx="430130" cy="430130"/>
            <a:chOff x="0" y="0"/>
            <a:chExt cx="573507" cy="573507"/>
          </a:xfrm>
        </p:grpSpPr>
        <p:sp>
          <p:nvSpPr>
            <p:cNvPr name="Freeform 56" id="56" descr="preencoded.png"/>
            <p:cNvSpPr/>
            <p:nvPr/>
          </p:nvSpPr>
          <p:spPr>
            <a:xfrm flipH="false" flipV="false" rot="0">
              <a:off x="0" y="0"/>
              <a:ext cx="573532" cy="573532"/>
            </a:xfrm>
            <a:custGeom>
              <a:avLst/>
              <a:gdLst/>
              <a:ahLst/>
              <a:cxnLst/>
              <a:rect r="r" b="b" t="t" l="l"/>
              <a:pathLst>
                <a:path h="573532" w="573532">
                  <a:moveTo>
                    <a:pt x="0" y="0"/>
                  </a:moveTo>
                  <a:lnTo>
                    <a:pt x="573532" y="0"/>
                  </a:lnTo>
                  <a:lnTo>
                    <a:pt x="573532" y="573532"/>
                  </a:lnTo>
                  <a:lnTo>
                    <a:pt x="0" y="573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4" b="4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4288536" y="6151626"/>
            <a:ext cx="2962656" cy="402336"/>
            <a:chOff x="0" y="0"/>
            <a:chExt cx="3950208" cy="53644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950208" cy="536448"/>
            </a:xfrm>
            <a:custGeom>
              <a:avLst/>
              <a:gdLst/>
              <a:ahLst/>
              <a:cxnLst/>
              <a:rect r="r" b="b" t="t" l="l"/>
              <a:pathLst>
                <a:path h="536448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480" r="0" b="-9348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3950208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Dependencies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288536" y="6553962"/>
            <a:ext cx="2962656" cy="365760"/>
            <a:chOff x="0" y="0"/>
            <a:chExt cx="3950208" cy="4876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950208" cy="487680"/>
            </a:xfrm>
            <a:custGeom>
              <a:avLst/>
              <a:gdLst/>
              <a:ahLst/>
              <a:cxnLst/>
              <a:rect r="r" b="b" t="t" l="l"/>
              <a:pathLst>
                <a:path h="487680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828" r="0" b="-10782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3950208" cy="50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478"/>
                  </a:solidFill>
                  <a:latin typeface="Arial"/>
                  <a:ea typeface="Arial"/>
                  <a:cs typeface="Arial"/>
                  <a:sym typeface="Arial"/>
                </a:rPr>
                <a:t>blocked / delayed links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561707" y="5154549"/>
            <a:ext cx="3164586" cy="1847850"/>
            <a:chOff x="0" y="0"/>
            <a:chExt cx="4219448" cy="2463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219448" cy="2463800"/>
            </a:xfrm>
            <a:custGeom>
              <a:avLst/>
              <a:gdLst/>
              <a:ahLst/>
              <a:cxnLst/>
              <a:rect r="r" b="b" t="t" l="l"/>
              <a:pathLst>
                <a:path h="2463800" w="4219448">
                  <a:moveTo>
                    <a:pt x="0" y="197104"/>
                  </a:moveTo>
                  <a:cubicBezTo>
                    <a:pt x="0" y="88265"/>
                    <a:pt x="88265" y="0"/>
                    <a:pt x="197104" y="0"/>
                  </a:cubicBezTo>
                  <a:lnTo>
                    <a:pt x="4022344" y="0"/>
                  </a:lnTo>
                  <a:cubicBezTo>
                    <a:pt x="4131183" y="0"/>
                    <a:pt x="4219448" y="88265"/>
                    <a:pt x="4219448" y="197104"/>
                  </a:cubicBezTo>
                  <a:lnTo>
                    <a:pt x="4219448" y="2266696"/>
                  </a:lnTo>
                  <a:cubicBezTo>
                    <a:pt x="4219448" y="2375535"/>
                    <a:pt x="4131183" y="2463800"/>
                    <a:pt x="4022344" y="2463800"/>
                  </a:cubicBezTo>
                  <a:lnTo>
                    <a:pt x="197104" y="2463800"/>
                  </a:lnTo>
                  <a:cubicBezTo>
                    <a:pt x="88265" y="2463800"/>
                    <a:pt x="0" y="2375535"/>
                    <a:pt x="0" y="226669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8747255" y="5297681"/>
            <a:ext cx="793499" cy="793499"/>
            <a:chOff x="0" y="0"/>
            <a:chExt cx="1057999" cy="105799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856488" y="0"/>
                  </a:lnTo>
                  <a:cubicBezTo>
                    <a:pt x="967740" y="0"/>
                    <a:pt x="1058037" y="90170"/>
                    <a:pt x="1058037" y="201549"/>
                  </a:cubicBezTo>
                  <a:lnTo>
                    <a:pt x="1058037" y="856488"/>
                  </a:lnTo>
                  <a:cubicBezTo>
                    <a:pt x="1058037" y="967740"/>
                    <a:pt x="967867" y="1058037"/>
                    <a:pt x="856488" y="1058037"/>
                  </a:cubicBezTo>
                  <a:lnTo>
                    <a:pt x="201549" y="1058037"/>
                  </a:lnTo>
                  <a:cubicBezTo>
                    <a:pt x="90170" y="1058037"/>
                    <a:pt x="0" y="967740"/>
                    <a:pt x="0" y="856488"/>
                  </a:cubicBezTo>
                  <a:close/>
                </a:path>
              </a:pathLst>
            </a:custGeom>
            <a:solidFill>
              <a:srgbClr val="EEF0FE"/>
            </a:solidFill>
            <a:ln w="25400" cap="sq">
              <a:solidFill>
                <a:srgbClr val="EEF0FE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8928935" y="5479361"/>
            <a:ext cx="430130" cy="430130"/>
            <a:chOff x="0" y="0"/>
            <a:chExt cx="573507" cy="573507"/>
          </a:xfrm>
        </p:grpSpPr>
        <p:sp>
          <p:nvSpPr>
            <p:cNvPr name="Freeform 68" id="68" descr="preencoded.png"/>
            <p:cNvSpPr/>
            <p:nvPr/>
          </p:nvSpPr>
          <p:spPr>
            <a:xfrm flipH="false" flipV="false" rot="0">
              <a:off x="0" y="0"/>
              <a:ext cx="573532" cy="573532"/>
            </a:xfrm>
            <a:custGeom>
              <a:avLst/>
              <a:gdLst/>
              <a:ahLst/>
              <a:cxnLst/>
              <a:rect r="r" b="b" t="t" l="l"/>
              <a:pathLst>
                <a:path h="573532" w="573532">
                  <a:moveTo>
                    <a:pt x="0" y="0"/>
                  </a:moveTo>
                  <a:lnTo>
                    <a:pt x="573532" y="0"/>
                  </a:lnTo>
                  <a:lnTo>
                    <a:pt x="573532" y="573532"/>
                  </a:lnTo>
                  <a:lnTo>
                    <a:pt x="0" y="573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4" b="4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7662672" y="6151626"/>
            <a:ext cx="2962656" cy="402336"/>
            <a:chOff x="0" y="0"/>
            <a:chExt cx="3950208" cy="53644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950208" cy="536448"/>
            </a:xfrm>
            <a:custGeom>
              <a:avLst/>
              <a:gdLst/>
              <a:ahLst/>
              <a:cxnLst/>
              <a:rect r="r" b="b" t="t" l="l"/>
              <a:pathLst>
                <a:path h="536448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480" r="0" b="-9348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3950208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Workload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662672" y="6553962"/>
            <a:ext cx="2962656" cy="365760"/>
            <a:chOff x="0" y="0"/>
            <a:chExt cx="3950208" cy="4876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950208" cy="487680"/>
            </a:xfrm>
            <a:custGeom>
              <a:avLst/>
              <a:gdLst/>
              <a:ahLst/>
              <a:cxnLst/>
              <a:rect r="r" b="b" t="t" l="l"/>
              <a:pathLst>
                <a:path h="487680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828" r="0" b="-10782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3950208" cy="50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478"/>
                  </a:solidFill>
                  <a:latin typeface="Arial"/>
                  <a:ea typeface="Arial"/>
                  <a:cs typeface="Arial"/>
                  <a:sym typeface="Arial"/>
                </a:rPr>
                <a:t>assigned vs available hours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935843" y="5154549"/>
            <a:ext cx="3164586" cy="1847850"/>
            <a:chOff x="0" y="0"/>
            <a:chExt cx="4219448" cy="24638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219448" cy="2463800"/>
            </a:xfrm>
            <a:custGeom>
              <a:avLst/>
              <a:gdLst/>
              <a:ahLst/>
              <a:cxnLst/>
              <a:rect r="r" b="b" t="t" l="l"/>
              <a:pathLst>
                <a:path h="2463800" w="4219448">
                  <a:moveTo>
                    <a:pt x="0" y="197104"/>
                  </a:moveTo>
                  <a:cubicBezTo>
                    <a:pt x="0" y="88265"/>
                    <a:pt x="88265" y="0"/>
                    <a:pt x="197104" y="0"/>
                  </a:cubicBezTo>
                  <a:lnTo>
                    <a:pt x="4022344" y="0"/>
                  </a:lnTo>
                  <a:cubicBezTo>
                    <a:pt x="4131183" y="0"/>
                    <a:pt x="4219448" y="88265"/>
                    <a:pt x="4219448" y="197104"/>
                  </a:cubicBezTo>
                  <a:lnTo>
                    <a:pt x="4219448" y="2266696"/>
                  </a:lnTo>
                  <a:cubicBezTo>
                    <a:pt x="4219448" y="2375535"/>
                    <a:pt x="4131183" y="2463800"/>
                    <a:pt x="4022344" y="2463800"/>
                  </a:cubicBezTo>
                  <a:lnTo>
                    <a:pt x="197104" y="2463800"/>
                  </a:lnTo>
                  <a:cubicBezTo>
                    <a:pt x="88265" y="2463800"/>
                    <a:pt x="0" y="2375535"/>
                    <a:pt x="0" y="226669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2121391" y="5297681"/>
            <a:ext cx="793499" cy="793499"/>
            <a:chOff x="0" y="0"/>
            <a:chExt cx="1057999" cy="105799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856488" y="0"/>
                  </a:lnTo>
                  <a:cubicBezTo>
                    <a:pt x="967740" y="0"/>
                    <a:pt x="1058037" y="90170"/>
                    <a:pt x="1058037" y="201549"/>
                  </a:cubicBezTo>
                  <a:lnTo>
                    <a:pt x="1058037" y="856488"/>
                  </a:lnTo>
                  <a:cubicBezTo>
                    <a:pt x="1058037" y="967740"/>
                    <a:pt x="967867" y="1058037"/>
                    <a:pt x="856488" y="1058037"/>
                  </a:cubicBezTo>
                  <a:lnTo>
                    <a:pt x="201549" y="1058037"/>
                  </a:lnTo>
                  <a:cubicBezTo>
                    <a:pt x="90170" y="1058037"/>
                    <a:pt x="0" y="967740"/>
                    <a:pt x="0" y="856488"/>
                  </a:cubicBezTo>
                  <a:close/>
                </a:path>
              </a:pathLst>
            </a:custGeom>
            <a:solidFill>
              <a:srgbClr val="EEF0FE"/>
            </a:solidFill>
            <a:ln w="25400" cap="sq">
              <a:solidFill>
                <a:srgbClr val="EEF0FE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2303071" y="5479361"/>
            <a:ext cx="430130" cy="430130"/>
            <a:chOff x="0" y="0"/>
            <a:chExt cx="573507" cy="573507"/>
          </a:xfrm>
        </p:grpSpPr>
        <p:sp>
          <p:nvSpPr>
            <p:cNvPr name="Freeform 80" id="80" descr="preencoded.png"/>
            <p:cNvSpPr/>
            <p:nvPr/>
          </p:nvSpPr>
          <p:spPr>
            <a:xfrm flipH="false" flipV="false" rot="0">
              <a:off x="0" y="0"/>
              <a:ext cx="573532" cy="573532"/>
            </a:xfrm>
            <a:custGeom>
              <a:avLst/>
              <a:gdLst/>
              <a:ahLst/>
              <a:cxnLst/>
              <a:rect r="r" b="b" t="t" l="l"/>
              <a:pathLst>
                <a:path h="573532" w="573532">
                  <a:moveTo>
                    <a:pt x="0" y="0"/>
                  </a:moveTo>
                  <a:lnTo>
                    <a:pt x="573532" y="0"/>
                  </a:lnTo>
                  <a:lnTo>
                    <a:pt x="573532" y="573532"/>
                  </a:lnTo>
                  <a:lnTo>
                    <a:pt x="0" y="573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4" b="4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1036808" y="6151626"/>
            <a:ext cx="2962656" cy="402336"/>
            <a:chOff x="0" y="0"/>
            <a:chExt cx="3950208" cy="53644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950208" cy="536448"/>
            </a:xfrm>
            <a:custGeom>
              <a:avLst/>
              <a:gdLst/>
              <a:ahLst/>
              <a:cxnLst/>
              <a:rect r="r" b="b" t="t" l="l"/>
              <a:pathLst>
                <a:path h="536448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480" r="0" b="-9348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3950208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Project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1036808" y="6553962"/>
            <a:ext cx="2962656" cy="365760"/>
            <a:chOff x="0" y="0"/>
            <a:chExt cx="3950208" cy="48768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950208" cy="487680"/>
            </a:xfrm>
            <a:custGeom>
              <a:avLst/>
              <a:gdLst/>
              <a:ahLst/>
              <a:cxnLst/>
              <a:rect r="r" b="b" t="t" l="l"/>
              <a:pathLst>
                <a:path h="487680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828" r="0" b="-107828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3950208" cy="50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478"/>
                  </a:solidFill>
                  <a:latin typeface="Arial"/>
                  <a:ea typeface="Arial"/>
                  <a:cs typeface="Arial"/>
                  <a:sym typeface="Arial"/>
                </a:rPr>
                <a:t>overdue &amp; blocked tasks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4309979" y="5154549"/>
            <a:ext cx="3164586" cy="1847850"/>
            <a:chOff x="0" y="0"/>
            <a:chExt cx="4219448" cy="24638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219448" cy="2463800"/>
            </a:xfrm>
            <a:custGeom>
              <a:avLst/>
              <a:gdLst/>
              <a:ahLst/>
              <a:cxnLst/>
              <a:rect r="r" b="b" t="t" l="l"/>
              <a:pathLst>
                <a:path h="2463800" w="4219448">
                  <a:moveTo>
                    <a:pt x="0" y="197104"/>
                  </a:moveTo>
                  <a:cubicBezTo>
                    <a:pt x="0" y="88265"/>
                    <a:pt x="88265" y="0"/>
                    <a:pt x="197104" y="0"/>
                  </a:cubicBezTo>
                  <a:lnTo>
                    <a:pt x="4022344" y="0"/>
                  </a:lnTo>
                  <a:cubicBezTo>
                    <a:pt x="4131183" y="0"/>
                    <a:pt x="4219448" y="88265"/>
                    <a:pt x="4219448" y="197104"/>
                  </a:cubicBezTo>
                  <a:lnTo>
                    <a:pt x="4219448" y="2266696"/>
                  </a:lnTo>
                  <a:cubicBezTo>
                    <a:pt x="4219448" y="2375535"/>
                    <a:pt x="4131183" y="2463800"/>
                    <a:pt x="4022344" y="2463800"/>
                  </a:cubicBezTo>
                  <a:lnTo>
                    <a:pt x="197104" y="2463800"/>
                  </a:lnTo>
                  <a:cubicBezTo>
                    <a:pt x="88265" y="2463800"/>
                    <a:pt x="0" y="2375535"/>
                    <a:pt x="0" y="226669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15495527" y="5297681"/>
            <a:ext cx="793499" cy="793499"/>
            <a:chOff x="0" y="0"/>
            <a:chExt cx="1057999" cy="105799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856488" y="0"/>
                  </a:lnTo>
                  <a:cubicBezTo>
                    <a:pt x="967740" y="0"/>
                    <a:pt x="1058037" y="90170"/>
                    <a:pt x="1058037" y="201549"/>
                  </a:cubicBezTo>
                  <a:lnTo>
                    <a:pt x="1058037" y="856488"/>
                  </a:lnTo>
                  <a:cubicBezTo>
                    <a:pt x="1058037" y="967740"/>
                    <a:pt x="967867" y="1058037"/>
                    <a:pt x="856488" y="1058037"/>
                  </a:cubicBezTo>
                  <a:lnTo>
                    <a:pt x="201549" y="1058037"/>
                  </a:lnTo>
                  <a:cubicBezTo>
                    <a:pt x="90170" y="1058037"/>
                    <a:pt x="0" y="967740"/>
                    <a:pt x="0" y="856488"/>
                  </a:cubicBezTo>
                  <a:close/>
                </a:path>
              </a:pathLst>
            </a:custGeom>
            <a:solidFill>
              <a:srgbClr val="EEF0FE"/>
            </a:solidFill>
            <a:ln w="25400" cap="sq">
              <a:solidFill>
                <a:srgbClr val="EEF0FE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5677207" y="5479361"/>
            <a:ext cx="430130" cy="430130"/>
            <a:chOff x="0" y="0"/>
            <a:chExt cx="573507" cy="573507"/>
          </a:xfrm>
        </p:grpSpPr>
        <p:sp>
          <p:nvSpPr>
            <p:cNvPr name="Freeform 92" id="92" descr="preencoded.png"/>
            <p:cNvSpPr/>
            <p:nvPr/>
          </p:nvSpPr>
          <p:spPr>
            <a:xfrm flipH="false" flipV="false" rot="0">
              <a:off x="0" y="0"/>
              <a:ext cx="573532" cy="573532"/>
            </a:xfrm>
            <a:custGeom>
              <a:avLst/>
              <a:gdLst/>
              <a:ahLst/>
              <a:cxnLst/>
              <a:rect r="r" b="b" t="t" l="l"/>
              <a:pathLst>
                <a:path h="573532" w="573532">
                  <a:moveTo>
                    <a:pt x="0" y="0"/>
                  </a:moveTo>
                  <a:lnTo>
                    <a:pt x="573532" y="0"/>
                  </a:lnTo>
                  <a:lnTo>
                    <a:pt x="573532" y="573532"/>
                  </a:lnTo>
                  <a:lnTo>
                    <a:pt x="0" y="573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4" b="4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4410944" y="6151626"/>
            <a:ext cx="2962656" cy="402336"/>
            <a:chOff x="0" y="0"/>
            <a:chExt cx="3950208" cy="53644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950208" cy="536448"/>
            </a:xfrm>
            <a:custGeom>
              <a:avLst/>
              <a:gdLst/>
              <a:ahLst/>
              <a:cxnLst/>
              <a:rect r="r" b="b" t="t" l="l"/>
              <a:pathLst>
                <a:path h="536448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480" r="0" b="-9348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3950208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History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4410944" y="6553962"/>
            <a:ext cx="2962656" cy="365760"/>
            <a:chOff x="0" y="0"/>
            <a:chExt cx="3950208" cy="48768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950208" cy="487680"/>
            </a:xfrm>
            <a:custGeom>
              <a:avLst/>
              <a:gdLst/>
              <a:ahLst/>
              <a:cxnLst/>
              <a:rect r="r" b="b" t="t" l="l"/>
              <a:pathLst>
                <a:path h="487680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828" r="0" b="-107828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9050"/>
              <a:ext cx="3950208" cy="50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478"/>
                  </a:solidFill>
                  <a:latin typeface="Arial"/>
                  <a:ea typeface="Arial"/>
                  <a:cs typeface="Arial"/>
                  <a:sym typeface="Arial"/>
                </a:rPr>
                <a:t>timestamped snapshots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813435" y="7275957"/>
            <a:ext cx="16661130" cy="1884426"/>
            <a:chOff x="0" y="0"/>
            <a:chExt cx="22214840" cy="251256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2214841" cy="2512568"/>
            </a:xfrm>
            <a:custGeom>
              <a:avLst/>
              <a:gdLst/>
              <a:ahLst/>
              <a:cxnLst/>
              <a:rect r="r" b="b" t="t" l="l"/>
              <a:pathLst>
                <a:path h="2512568" w="22214841">
                  <a:moveTo>
                    <a:pt x="0" y="197104"/>
                  </a:moveTo>
                  <a:cubicBezTo>
                    <a:pt x="0" y="88265"/>
                    <a:pt x="88265" y="0"/>
                    <a:pt x="197104" y="0"/>
                  </a:cubicBezTo>
                  <a:lnTo>
                    <a:pt x="22017737" y="0"/>
                  </a:lnTo>
                  <a:cubicBezTo>
                    <a:pt x="22126575" y="0"/>
                    <a:pt x="22214841" y="88265"/>
                    <a:pt x="22214841" y="197104"/>
                  </a:cubicBezTo>
                  <a:lnTo>
                    <a:pt x="22214841" y="2315464"/>
                  </a:lnTo>
                  <a:cubicBezTo>
                    <a:pt x="22214841" y="2424303"/>
                    <a:pt x="22126575" y="2512568"/>
                    <a:pt x="22017737" y="2512568"/>
                  </a:cubicBezTo>
                  <a:lnTo>
                    <a:pt x="197104" y="2512568"/>
                  </a:lnTo>
                  <a:cubicBezTo>
                    <a:pt x="88265" y="2512568"/>
                    <a:pt x="0" y="2424303"/>
                    <a:pt x="0" y="231546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1133856" y="7395210"/>
            <a:ext cx="14630400" cy="475488"/>
            <a:chOff x="0" y="0"/>
            <a:chExt cx="19507200" cy="63398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9507200" cy="633984"/>
            </a:xfrm>
            <a:custGeom>
              <a:avLst/>
              <a:gdLst/>
              <a:ahLst/>
              <a:cxnLst/>
              <a:rect r="r" b="b" t="t" l="l"/>
              <a:pathLst>
                <a:path h="633984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539" r="0" b="-549539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19507200" cy="633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Prototype dataset: Apache JIRA (8.78 GB, real software projects)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121159" y="8004305"/>
            <a:ext cx="1159259" cy="500891"/>
            <a:chOff x="0" y="0"/>
            <a:chExt cx="1545679" cy="66785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545844" cy="667893"/>
            </a:xfrm>
            <a:custGeom>
              <a:avLst/>
              <a:gdLst/>
              <a:ahLst/>
              <a:cxnLst/>
              <a:rect r="r" b="b" t="t" l="l"/>
              <a:pathLst>
                <a:path h="667893" w="1545844">
                  <a:moveTo>
                    <a:pt x="0" y="154178"/>
                  </a:moveTo>
                  <a:cubicBezTo>
                    <a:pt x="0" y="68961"/>
                    <a:pt x="68961" y="0"/>
                    <a:pt x="154178" y="0"/>
                  </a:cubicBezTo>
                  <a:lnTo>
                    <a:pt x="1391666" y="0"/>
                  </a:lnTo>
                  <a:cubicBezTo>
                    <a:pt x="1476756" y="0"/>
                    <a:pt x="1545844" y="68961"/>
                    <a:pt x="1545844" y="154178"/>
                  </a:cubicBezTo>
                  <a:lnTo>
                    <a:pt x="1545844" y="513715"/>
                  </a:lnTo>
                  <a:cubicBezTo>
                    <a:pt x="1545844" y="598805"/>
                    <a:pt x="1476883" y="667893"/>
                    <a:pt x="1391666" y="667893"/>
                  </a:cubicBezTo>
                  <a:lnTo>
                    <a:pt x="154178" y="667893"/>
                  </a:lnTo>
                  <a:cubicBezTo>
                    <a:pt x="68961" y="667893"/>
                    <a:pt x="0" y="598805"/>
                    <a:pt x="0" y="513715"/>
                  </a:cubicBezTo>
                  <a:close/>
                </a:path>
              </a:pathLst>
            </a:custGeom>
            <a:solidFill>
              <a:srgbClr val="16A34A"/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1133856" y="8017002"/>
            <a:ext cx="1133856" cy="475488"/>
            <a:chOff x="0" y="0"/>
            <a:chExt cx="1511808" cy="63398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511808" cy="633984"/>
            </a:xfrm>
            <a:custGeom>
              <a:avLst/>
              <a:gdLst/>
              <a:ahLst/>
              <a:cxnLst/>
              <a:rect r="r" b="b" t="t" l="l"/>
              <a:pathLst>
                <a:path h="633984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4" t="0" r="-3804" b="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9525"/>
              <a:ext cx="1511808" cy="643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Strong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2414016" y="7943850"/>
            <a:ext cx="4023360" cy="621792"/>
            <a:chOff x="0" y="0"/>
            <a:chExt cx="5364480" cy="82905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364480" cy="829056"/>
            </a:xfrm>
            <a:custGeom>
              <a:avLst/>
              <a:gdLst/>
              <a:ahLst/>
              <a:cxnLst/>
              <a:rect r="r" b="b" t="t" l="l"/>
              <a:pathLst>
                <a:path h="82905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079" r="0" b="-76079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19050"/>
              <a:ext cx="5364480" cy="84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1E2A4A"/>
                  </a:solidFill>
                  <a:latin typeface="Arial"/>
                  <a:ea typeface="Arial"/>
                  <a:cs typeface="Arial"/>
                  <a:sym typeface="Arial"/>
                </a:rPr>
                <a:t>task metadata · history · dependencies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6516119" y="8004305"/>
            <a:ext cx="1159259" cy="500891"/>
            <a:chOff x="0" y="0"/>
            <a:chExt cx="1545679" cy="667855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545844" cy="667893"/>
            </a:xfrm>
            <a:custGeom>
              <a:avLst/>
              <a:gdLst/>
              <a:ahLst/>
              <a:cxnLst/>
              <a:rect r="r" b="b" t="t" l="l"/>
              <a:pathLst>
                <a:path h="667893" w="1545844">
                  <a:moveTo>
                    <a:pt x="0" y="154178"/>
                  </a:moveTo>
                  <a:cubicBezTo>
                    <a:pt x="0" y="68961"/>
                    <a:pt x="68961" y="0"/>
                    <a:pt x="154178" y="0"/>
                  </a:cubicBezTo>
                  <a:lnTo>
                    <a:pt x="1391666" y="0"/>
                  </a:lnTo>
                  <a:cubicBezTo>
                    <a:pt x="1476756" y="0"/>
                    <a:pt x="1545844" y="68961"/>
                    <a:pt x="1545844" y="154178"/>
                  </a:cubicBezTo>
                  <a:lnTo>
                    <a:pt x="1545844" y="513715"/>
                  </a:lnTo>
                  <a:cubicBezTo>
                    <a:pt x="1545844" y="598805"/>
                    <a:pt x="1476883" y="667893"/>
                    <a:pt x="1391666" y="667893"/>
                  </a:cubicBezTo>
                  <a:lnTo>
                    <a:pt x="154178" y="667893"/>
                  </a:lnTo>
                  <a:cubicBezTo>
                    <a:pt x="68961" y="667893"/>
                    <a:pt x="0" y="598805"/>
                    <a:pt x="0" y="513715"/>
                  </a:cubicBez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6528816" y="8017002"/>
            <a:ext cx="1133856" cy="475488"/>
            <a:chOff x="0" y="0"/>
            <a:chExt cx="1511808" cy="63398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511808" cy="633984"/>
            </a:xfrm>
            <a:custGeom>
              <a:avLst/>
              <a:gdLst/>
              <a:ahLst/>
              <a:cxnLst/>
              <a:rect r="r" b="b" t="t" l="l"/>
              <a:pathLst>
                <a:path h="633984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4" t="0" r="-3804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9525"/>
              <a:ext cx="1511808" cy="643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Partial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7808976" y="7943850"/>
            <a:ext cx="4023360" cy="621792"/>
            <a:chOff x="0" y="0"/>
            <a:chExt cx="5364480" cy="82905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364480" cy="829056"/>
            </a:xfrm>
            <a:custGeom>
              <a:avLst/>
              <a:gdLst/>
              <a:ahLst/>
              <a:cxnLst/>
              <a:rect r="r" b="b" t="t" l="l"/>
              <a:pathLst>
                <a:path h="82905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079" r="0" b="-76079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19050"/>
              <a:ext cx="5364480" cy="84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1E2A4A"/>
                  </a:solidFill>
                  <a:latin typeface="Arial"/>
                  <a:ea typeface="Arial"/>
                  <a:cs typeface="Arial"/>
                  <a:sym typeface="Arial"/>
                </a:rPr>
                <a:t>duration (no due date)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1911079" y="8004305"/>
            <a:ext cx="1159259" cy="500891"/>
            <a:chOff x="0" y="0"/>
            <a:chExt cx="1545679" cy="667855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545844" cy="667893"/>
            </a:xfrm>
            <a:custGeom>
              <a:avLst/>
              <a:gdLst/>
              <a:ahLst/>
              <a:cxnLst/>
              <a:rect r="r" b="b" t="t" l="l"/>
              <a:pathLst>
                <a:path h="667893" w="1545844">
                  <a:moveTo>
                    <a:pt x="0" y="154178"/>
                  </a:moveTo>
                  <a:cubicBezTo>
                    <a:pt x="0" y="68961"/>
                    <a:pt x="68961" y="0"/>
                    <a:pt x="154178" y="0"/>
                  </a:cubicBezTo>
                  <a:lnTo>
                    <a:pt x="1391666" y="0"/>
                  </a:lnTo>
                  <a:cubicBezTo>
                    <a:pt x="1476756" y="0"/>
                    <a:pt x="1545844" y="68961"/>
                    <a:pt x="1545844" y="154178"/>
                  </a:cubicBezTo>
                  <a:lnTo>
                    <a:pt x="1545844" y="513715"/>
                  </a:lnTo>
                  <a:cubicBezTo>
                    <a:pt x="1545844" y="598805"/>
                    <a:pt x="1476883" y="667893"/>
                    <a:pt x="1391666" y="667893"/>
                  </a:cubicBezTo>
                  <a:lnTo>
                    <a:pt x="154178" y="667893"/>
                  </a:lnTo>
                  <a:cubicBezTo>
                    <a:pt x="68961" y="667893"/>
                    <a:pt x="0" y="598805"/>
                    <a:pt x="0" y="513715"/>
                  </a:cubicBezTo>
                  <a:close/>
                </a:path>
              </a:pathLst>
            </a:custGeom>
            <a:solidFill>
              <a:srgbClr val="E0468F"/>
            </a:solidFill>
            <a:ln w="25400" cap="sq">
              <a:solidFill>
                <a:srgbClr val="E0468F"/>
              </a:solidFill>
              <a:prstDash val="solid"/>
              <a:miter/>
            </a:ln>
          </p:spPr>
        </p:sp>
      </p:grpSp>
      <p:grpSp>
        <p:nvGrpSpPr>
          <p:cNvPr name="Group 122" id="122"/>
          <p:cNvGrpSpPr/>
          <p:nvPr/>
        </p:nvGrpSpPr>
        <p:grpSpPr>
          <a:xfrm rot="0">
            <a:off x="11923776" y="8017002"/>
            <a:ext cx="1133856" cy="475488"/>
            <a:chOff x="0" y="0"/>
            <a:chExt cx="1511808" cy="63398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511808" cy="633984"/>
            </a:xfrm>
            <a:custGeom>
              <a:avLst/>
              <a:gdLst/>
              <a:ahLst/>
              <a:cxnLst/>
              <a:rect r="r" b="b" t="t" l="l"/>
              <a:pathLst>
                <a:path h="633984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4" t="0" r="-3804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9525"/>
              <a:ext cx="1511808" cy="643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Gap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3203936" y="7943850"/>
            <a:ext cx="4023360" cy="621792"/>
            <a:chOff x="0" y="0"/>
            <a:chExt cx="5364480" cy="829056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364480" cy="829056"/>
            </a:xfrm>
            <a:custGeom>
              <a:avLst/>
              <a:gdLst/>
              <a:ahLst/>
              <a:cxnLst/>
              <a:rect r="r" b="b" t="t" l="l"/>
              <a:pathLst>
                <a:path h="82905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079" r="0" b="-76079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19050"/>
              <a:ext cx="5364480" cy="84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1E2A4A"/>
                  </a:solidFill>
                  <a:latin typeface="Arial"/>
                  <a:ea typeface="Arial"/>
                  <a:cs typeface="Arial"/>
                  <a:sym typeface="Arial"/>
                </a:rPr>
                <a:t>workload hours · progress % · risk label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133856" y="8602218"/>
            <a:ext cx="15910560" cy="438912"/>
            <a:chOff x="0" y="0"/>
            <a:chExt cx="21214080" cy="585216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1214080" cy="585216"/>
            </a:xfrm>
            <a:custGeom>
              <a:avLst/>
              <a:gdLst/>
              <a:ahLst/>
              <a:cxnLst/>
              <a:rect r="r" b="b" t="t" l="l"/>
              <a:pathLst>
                <a:path h="585216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6332" r="0" b="-656332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19050"/>
              <a:ext cx="212140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i="true">
                  <a:solidFill>
                    <a:srgbClr val="5B6478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Gaps are not invented → resolution time is used as an honest prototype target.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02336"/>
            <a:ext cx="5486400" cy="457200"/>
            <a:chOff x="0" y="0"/>
            <a:chExt cx="73152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3152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b="true" sz="1599" spc="599">
                  <a:solidFill>
                    <a:srgbClr val="4F6B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SCALEFLOW  ◇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14400"/>
            <a:ext cx="9144000" cy="402336"/>
            <a:chOff x="0" y="0"/>
            <a:chExt cx="12192000" cy="5364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92000" cy="536448"/>
            </a:xfrm>
            <a:custGeom>
              <a:avLst/>
              <a:gdLst/>
              <a:ahLst/>
              <a:cxnLst/>
              <a:rect r="r" b="b" t="t" l="l"/>
              <a:pathLst>
                <a:path h="536448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841" r="0" b="-3928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219200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b="true" sz="1599" spc="399">
                  <a:solidFill>
                    <a:srgbClr val="8B5C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TASK 02  ·  DATA PREPARATION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403464" y="0"/>
            <a:ext cx="5884536" cy="4296271"/>
          </a:xfrm>
          <a:custGeom>
            <a:avLst/>
            <a:gdLst/>
            <a:ahLst/>
            <a:cxnLst/>
            <a:rect r="r" b="b" t="t" l="l"/>
            <a:pathLst>
              <a:path h="4296271" w="5884536">
                <a:moveTo>
                  <a:pt x="0" y="0"/>
                </a:moveTo>
                <a:lnTo>
                  <a:pt x="5884536" y="0"/>
                </a:lnTo>
                <a:lnTo>
                  <a:pt x="5884536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22960" y="1316736"/>
            <a:ext cx="13533120" cy="914400"/>
            <a:chOff x="0" y="0"/>
            <a:chExt cx="1804416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44161" cy="1219200"/>
            </a:xfrm>
            <a:custGeom>
              <a:avLst/>
              <a:gdLst/>
              <a:ahLst/>
              <a:cxnLst/>
              <a:rect r="r" b="b" t="t" l="l"/>
              <a:pathLst>
                <a:path h="1219200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378" r="0" b="-23837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8044160" cy="1209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Preparing the ML Dataset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2231136"/>
            <a:ext cx="13533120" cy="548640"/>
            <a:chOff x="0" y="0"/>
            <a:chExt cx="1804416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44161" cy="731520"/>
            </a:xfrm>
            <a:custGeom>
              <a:avLst/>
              <a:gdLst/>
              <a:ahLst/>
              <a:cxnLst/>
              <a:rect r="r" b="b" t="t" l="l"/>
              <a:pathLst>
                <a:path h="731520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630" r="0" b="-43063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80441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5B647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Raw Apache JIRA → clean, leakage-safe, time-based splits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13435" y="3408426"/>
            <a:ext cx="4005834" cy="1445514"/>
            <a:chOff x="0" y="0"/>
            <a:chExt cx="5341112" cy="19273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41112" cy="1927352"/>
            </a:xfrm>
            <a:custGeom>
              <a:avLst/>
              <a:gdLst/>
              <a:ahLst/>
              <a:cxnLst/>
              <a:rect r="r" b="b" t="t" l="l"/>
              <a:pathLst>
                <a:path h="1927352" w="5341112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5143500" y="0"/>
                  </a:lnTo>
                  <a:cubicBezTo>
                    <a:pt x="5252720" y="0"/>
                    <a:pt x="5341112" y="88519"/>
                    <a:pt x="5341112" y="197612"/>
                  </a:cubicBezTo>
                  <a:lnTo>
                    <a:pt x="5341112" y="1729740"/>
                  </a:lnTo>
                  <a:cubicBezTo>
                    <a:pt x="5341112" y="1838960"/>
                    <a:pt x="5252593" y="1927352"/>
                    <a:pt x="5143500" y="1927352"/>
                  </a:cubicBezTo>
                  <a:lnTo>
                    <a:pt x="197612" y="1927352"/>
                  </a:lnTo>
                  <a:cubicBezTo>
                    <a:pt x="88519" y="1927352"/>
                    <a:pt x="0" y="1838833"/>
                    <a:pt x="0" y="17297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97280" y="3545967"/>
            <a:ext cx="3529584" cy="768096"/>
            <a:chOff x="0" y="0"/>
            <a:chExt cx="4706112" cy="10241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06112" cy="1024128"/>
            </a:xfrm>
            <a:custGeom>
              <a:avLst/>
              <a:gdLst/>
              <a:ahLst/>
              <a:cxnLst/>
              <a:rect r="r" b="b" t="t" l="l"/>
              <a:pathLst>
                <a:path h="1024128" w="4706112">
                  <a:moveTo>
                    <a:pt x="0" y="0"/>
                  </a:moveTo>
                  <a:lnTo>
                    <a:pt x="4706112" y="0"/>
                  </a:lnTo>
                  <a:lnTo>
                    <a:pt x="470611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8" r="0" b="-3953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4706112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8B5C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9M+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280" y="4295775"/>
            <a:ext cx="3529584" cy="438912"/>
            <a:chOff x="0" y="0"/>
            <a:chExt cx="4706112" cy="5852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06112" cy="585216"/>
            </a:xfrm>
            <a:custGeom>
              <a:avLst/>
              <a:gdLst/>
              <a:ahLst/>
              <a:cxnLst/>
              <a:rect r="r" b="b" t="t" l="l"/>
              <a:pathLst>
                <a:path h="585216" w="4706112">
                  <a:moveTo>
                    <a:pt x="0" y="0"/>
                  </a:moveTo>
                  <a:lnTo>
                    <a:pt x="4706112" y="0"/>
                  </a:lnTo>
                  <a:lnTo>
                    <a:pt x="470611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692" r="0" b="-10669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706112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478"/>
                  </a:solidFill>
                  <a:latin typeface="Arial"/>
                  <a:ea typeface="Arial"/>
                  <a:cs typeface="Arial"/>
                  <a:sym typeface="Arial"/>
                </a:rPr>
                <a:t>changelog rows processed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019675" y="3408426"/>
            <a:ext cx="4005834" cy="1445514"/>
            <a:chOff x="0" y="0"/>
            <a:chExt cx="5341112" cy="19273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41112" cy="1927352"/>
            </a:xfrm>
            <a:custGeom>
              <a:avLst/>
              <a:gdLst/>
              <a:ahLst/>
              <a:cxnLst/>
              <a:rect r="r" b="b" t="t" l="l"/>
              <a:pathLst>
                <a:path h="1927352" w="5341112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5143500" y="0"/>
                  </a:lnTo>
                  <a:cubicBezTo>
                    <a:pt x="5252720" y="0"/>
                    <a:pt x="5341112" y="88519"/>
                    <a:pt x="5341112" y="197612"/>
                  </a:cubicBezTo>
                  <a:lnTo>
                    <a:pt x="5341112" y="1729740"/>
                  </a:lnTo>
                  <a:cubicBezTo>
                    <a:pt x="5341112" y="1838960"/>
                    <a:pt x="5252593" y="1927352"/>
                    <a:pt x="5143500" y="1927352"/>
                  </a:cubicBezTo>
                  <a:lnTo>
                    <a:pt x="197612" y="1927352"/>
                  </a:lnTo>
                  <a:cubicBezTo>
                    <a:pt x="88519" y="1927352"/>
                    <a:pt x="0" y="1838833"/>
                    <a:pt x="0" y="17297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5303520" y="3545967"/>
            <a:ext cx="3529584" cy="768096"/>
            <a:chOff x="0" y="0"/>
            <a:chExt cx="4706112" cy="10241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06112" cy="1024128"/>
            </a:xfrm>
            <a:custGeom>
              <a:avLst/>
              <a:gdLst/>
              <a:ahLst/>
              <a:cxnLst/>
              <a:rect r="r" b="b" t="t" l="l"/>
              <a:pathLst>
                <a:path h="1024128" w="4706112">
                  <a:moveTo>
                    <a:pt x="0" y="0"/>
                  </a:moveTo>
                  <a:lnTo>
                    <a:pt x="4706112" y="0"/>
                  </a:lnTo>
                  <a:lnTo>
                    <a:pt x="470611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8" r="0" b="-3953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4706112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4F6B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1,121,625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303520" y="4295775"/>
            <a:ext cx="3529584" cy="438912"/>
            <a:chOff x="0" y="0"/>
            <a:chExt cx="4706112" cy="5852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706112" cy="585216"/>
            </a:xfrm>
            <a:custGeom>
              <a:avLst/>
              <a:gdLst/>
              <a:ahLst/>
              <a:cxnLst/>
              <a:rect r="r" b="b" t="t" l="l"/>
              <a:pathLst>
                <a:path h="585216" w="4706112">
                  <a:moveTo>
                    <a:pt x="0" y="0"/>
                  </a:moveTo>
                  <a:lnTo>
                    <a:pt x="4706112" y="0"/>
                  </a:lnTo>
                  <a:lnTo>
                    <a:pt x="470611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692" r="0" b="-10669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4706112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478"/>
                  </a:solidFill>
                  <a:latin typeface="Arial"/>
                  <a:ea typeface="Arial"/>
                  <a:cs typeface="Arial"/>
                  <a:sym typeface="Arial"/>
                </a:rPr>
                <a:t>clean issues (8,216 duplicates removed)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25915" y="3408426"/>
            <a:ext cx="4005834" cy="1445514"/>
            <a:chOff x="0" y="0"/>
            <a:chExt cx="5341112" cy="19273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41112" cy="1927352"/>
            </a:xfrm>
            <a:custGeom>
              <a:avLst/>
              <a:gdLst/>
              <a:ahLst/>
              <a:cxnLst/>
              <a:rect r="r" b="b" t="t" l="l"/>
              <a:pathLst>
                <a:path h="1927352" w="5341112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5143500" y="0"/>
                  </a:lnTo>
                  <a:cubicBezTo>
                    <a:pt x="5252720" y="0"/>
                    <a:pt x="5341112" y="88519"/>
                    <a:pt x="5341112" y="197612"/>
                  </a:cubicBezTo>
                  <a:lnTo>
                    <a:pt x="5341112" y="1729740"/>
                  </a:lnTo>
                  <a:cubicBezTo>
                    <a:pt x="5341112" y="1838960"/>
                    <a:pt x="5252593" y="1927352"/>
                    <a:pt x="5143500" y="1927352"/>
                  </a:cubicBezTo>
                  <a:lnTo>
                    <a:pt x="197612" y="1927352"/>
                  </a:lnTo>
                  <a:cubicBezTo>
                    <a:pt x="88519" y="1927352"/>
                    <a:pt x="0" y="1838833"/>
                    <a:pt x="0" y="17297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509760" y="3545967"/>
            <a:ext cx="3529584" cy="768096"/>
            <a:chOff x="0" y="0"/>
            <a:chExt cx="4706112" cy="10241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706112" cy="1024128"/>
            </a:xfrm>
            <a:custGeom>
              <a:avLst/>
              <a:gdLst/>
              <a:ahLst/>
              <a:cxnLst/>
              <a:rect r="r" b="b" t="t" l="l"/>
              <a:pathLst>
                <a:path h="1024128" w="4706112">
                  <a:moveTo>
                    <a:pt x="0" y="0"/>
                  </a:moveTo>
                  <a:lnTo>
                    <a:pt x="4706112" y="0"/>
                  </a:lnTo>
                  <a:lnTo>
                    <a:pt x="470611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8" r="0" b="-3953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4706112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8B5C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841,248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509760" y="4295775"/>
            <a:ext cx="3529584" cy="438912"/>
            <a:chOff x="0" y="0"/>
            <a:chExt cx="4706112" cy="5852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706112" cy="585216"/>
            </a:xfrm>
            <a:custGeom>
              <a:avLst/>
              <a:gdLst/>
              <a:ahLst/>
              <a:cxnLst/>
              <a:rect r="r" b="b" t="t" l="l"/>
              <a:pathLst>
                <a:path h="585216" w="4706112">
                  <a:moveTo>
                    <a:pt x="0" y="0"/>
                  </a:moveTo>
                  <a:lnTo>
                    <a:pt x="4706112" y="0"/>
                  </a:lnTo>
                  <a:lnTo>
                    <a:pt x="470611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692" r="0" b="-10669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4706112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478"/>
                  </a:solidFill>
                  <a:latin typeface="Arial"/>
                  <a:ea typeface="Arial"/>
                  <a:cs typeface="Arial"/>
                  <a:sym typeface="Arial"/>
                </a:rPr>
                <a:t>leakage-safe model rows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432155" y="3408426"/>
            <a:ext cx="4005834" cy="1445514"/>
            <a:chOff x="0" y="0"/>
            <a:chExt cx="5341112" cy="19273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41112" cy="1927352"/>
            </a:xfrm>
            <a:custGeom>
              <a:avLst/>
              <a:gdLst/>
              <a:ahLst/>
              <a:cxnLst/>
              <a:rect r="r" b="b" t="t" l="l"/>
              <a:pathLst>
                <a:path h="1927352" w="5341112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5143500" y="0"/>
                  </a:lnTo>
                  <a:cubicBezTo>
                    <a:pt x="5252720" y="0"/>
                    <a:pt x="5341112" y="88519"/>
                    <a:pt x="5341112" y="197612"/>
                  </a:cubicBezTo>
                  <a:lnTo>
                    <a:pt x="5341112" y="1729740"/>
                  </a:lnTo>
                  <a:cubicBezTo>
                    <a:pt x="5341112" y="1838960"/>
                    <a:pt x="5252593" y="1927352"/>
                    <a:pt x="5143500" y="1927352"/>
                  </a:cubicBezTo>
                  <a:lnTo>
                    <a:pt x="197612" y="1927352"/>
                  </a:lnTo>
                  <a:cubicBezTo>
                    <a:pt x="88519" y="1927352"/>
                    <a:pt x="0" y="1838833"/>
                    <a:pt x="0" y="17297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3716000" y="3545967"/>
            <a:ext cx="3529584" cy="768096"/>
            <a:chOff x="0" y="0"/>
            <a:chExt cx="4706112" cy="10241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706112" cy="1024128"/>
            </a:xfrm>
            <a:custGeom>
              <a:avLst/>
              <a:gdLst/>
              <a:ahLst/>
              <a:cxnLst/>
              <a:rect r="r" b="b" t="t" l="l"/>
              <a:pathLst>
                <a:path h="1024128" w="4706112">
                  <a:moveTo>
                    <a:pt x="0" y="0"/>
                  </a:moveTo>
                  <a:lnTo>
                    <a:pt x="4706112" y="0"/>
                  </a:lnTo>
                  <a:lnTo>
                    <a:pt x="470611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8" r="0" b="-3953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4706112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E0468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643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716000" y="4295775"/>
            <a:ext cx="3529584" cy="438912"/>
            <a:chOff x="0" y="0"/>
            <a:chExt cx="4706112" cy="5852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06112" cy="585216"/>
            </a:xfrm>
            <a:custGeom>
              <a:avLst/>
              <a:gdLst/>
              <a:ahLst/>
              <a:cxnLst/>
              <a:rect r="r" b="b" t="t" l="l"/>
              <a:pathLst>
                <a:path h="585216" w="4706112">
                  <a:moveTo>
                    <a:pt x="0" y="0"/>
                  </a:moveTo>
                  <a:lnTo>
                    <a:pt x="4706112" y="0"/>
                  </a:lnTo>
                  <a:lnTo>
                    <a:pt x="470611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692" r="0" b="-10669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4706112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478"/>
                  </a:solidFill>
                  <a:latin typeface="Arial"/>
                  <a:ea typeface="Arial"/>
                  <a:cs typeface="Arial"/>
                  <a:sym typeface="Arial"/>
                </a:rPr>
                <a:t>numeric features (one-hot, train-only)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22960" y="5173599"/>
            <a:ext cx="10972800" cy="402336"/>
            <a:chOff x="0" y="0"/>
            <a:chExt cx="14630400" cy="53644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630400" cy="536448"/>
            </a:xfrm>
            <a:custGeom>
              <a:avLst/>
              <a:gdLst/>
              <a:ahLst/>
              <a:cxnLst/>
              <a:rect r="r" b="b" t="t" l="l"/>
              <a:pathLst>
                <a:path h="536448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0" b="-48141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463040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Chronological split — past trains, future tests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10263" y="5654678"/>
            <a:ext cx="11601707" cy="830075"/>
            <a:chOff x="0" y="0"/>
            <a:chExt cx="15468943" cy="110676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468981" cy="1106805"/>
            </a:xfrm>
            <a:custGeom>
              <a:avLst/>
              <a:gdLst/>
              <a:ahLst/>
              <a:cxnLst/>
              <a:rect r="r" b="b" t="t" l="l"/>
              <a:pathLst>
                <a:path h="1106805" w="15468981">
                  <a:moveTo>
                    <a:pt x="0" y="0"/>
                  </a:moveTo>
                  <a:lnTo>
                    <a:pt x="15468981" y="0"/>
                  </a:lnTo>
                  <a:lnTo>
                    <a:pt x="15468981" y="1106805"/>
                  </a:lnTo>
                  <a:lnTo>
                    <a:pt x="0" y="1106805"/>
                  </a:lnTo>
                  <a:close/>
                </a:path>
              </a:pathLst>
            </a:custGeom>
            <a:solidFill>
              <a:srgbClr val="4F6BF6"/>
            </a:solidFill>
            <a:ln w="25400" cap="sq">
              <a:solidFill>
                <a:srgbClr val="4F6BF6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69264" y="5667375"/>
            <a:ext cx="11393424" cy="804672"/>
            <a:chOff x="0" y="0"/>
            <a:chExt cx="15191232" cy="107289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5191232" cy="1072896"/>
            </a:xfrm>
            <a:custGeom>
              <a:avLst/>
              <a:gdLst/>
              <a:ahLst/>
              <a:cxnLst/>
              <a:rect r="r" b="b" t="t" l="l"/>
              <a:pathLst>
                <a:path h="1072896" w="15191232">
                  <a:moveTo>
                    <a:pt x="0" y="0"/>
                  </a:moveTo>
                  <a:lnTo>
                    <a:pt x="15191232" y="0"/>
                  </a:lnTo>
                  <a:lnTo>
                    <a:pt x="15191232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890" r="0" b="-22589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15191232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Train 588,873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2000 → Apr 2018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459719" y="5654678"/>
            <a:ext cx="2448563" cy="830075"/>
            <a:chOff x="0" y="0"/>
            <a:chExt cx="3264751" cy="110676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64789" cy="1106805"/>
            </a:xfrm>
            <a:custGeom>
              <a:avLst/>
              <a:gdLst/>
              <a:ahLst/>
              <a:cxnLst/>
              <a:rect r="r" b="b" t="t" l="l"/>
              <a:pathLst>
                <a:path h="1106805" w="3264789">
                  <a:moveTo>
                    <a:pt x="0" y="0"/>
                  </a:moveTo>
                  <a:lnTo>
                    <a:pt x="3264789" y="0"/>
                  </a:lnTo>
                  <a:lnTo>
                    <a:pt x="3264789" y="1106805"/>
                  </a:lnTo>
                  <a:lnTo>
                    <a:pt x="0" y="1106805"/>
                  </a:lnTo>
                  <a:close/>
                </a:path>
              </a:pathLst>
            </a:custGeom>
            <a:solidFill>
              <a:srgbClr val="8B5CF6"/>
            </a:solidFill>
            <a:ln w="25400" cap="sq">
              <a:solidFill>
                <a:srgbClr val="8B5CF6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2618720" y="5667375"/>
            <a:ext cx="2240280" cy="804672"/>
            <a:chOff x="0" y="0"/>
            <a:chExt cx="2987040" cy="107289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987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87040">
                  <a:moveTo>
                    <a:pt x="0" y="0"/>
                  </a:moveTo>
                  <a:lnTo>
                    <a:pt x="2987040" y="0"/>
                  </a:lnTo>
                  <a:lnTo>
                    <a:pt x="29870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8" r="0" b="-424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298704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Val 126,187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→ Feb 2021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956031" y="5654678"/>
            <a:ext cx="2448563" cy="830075"/>
            <a:chOff x="0" y="0"/>
            <a:chExt cx="3264751" cy="110676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264789" cy="1106805"/>
            </a:xfrm>
            <a:custGeom>
              <a:avLst/>
              <a:gdLst/>
              <a:ahLst/>
              <a:cxnLst/>
              <a:rect r="r" b="b" t="t" l="l"/>
              <a:pathLst>
                <a:path h="1106805" w="3264789">
                  <a:moveTo>
                    <a:pt x="0" y="0"/>
                  </a:moveTo>
                  <a:lnTo>
                    <a:pt x="3264789" y="0"/>
                  </a:lnTo>
                  <a:lnTo>
                    <a:pt x="3264789" y="1106805"/>
                  </a:lnTo>
                  <a:lnTo>
                    <a:pt x="0" y="1106805"/>
                  </a:lnTo>
                  <a:close/>
                </a:path>
              </a:pathLst>
            </a:custGeom>
            <a:solidFill>
              <a:srgbClr val="E0468F"/>
            </a:solidFill>
            <a:ln w="25400" cap="sq">
              <a:solidFill>
                <a:srgbClr val="E0468F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5115032" y="5667375"/>
            <a:ext cx="2240280" cy="804672"/>
            <a:chOff x="0" y="0"/>
            <a:chExt cx="2987040" cy="107289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987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987040">
                  <a:moveTo>
                    <a:pt x="0" y="0"/>
                  </a:moveTo>
                  <a:lnTo>
                    <a:pt x="2987040" y="0"/>
                  </a:lnTo>
                  <a:lnTo>
                    <a:pt x="29870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8" r="0" b="-424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298704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Test 126,188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→ Nov 2024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13435" y="6791706"/>
            <a:ext cx="5432298" cy="2305050"/>
            <a:chOff x="0" y="0"/>
            <a:chExt cx="7243064" cy="3073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243064" cy="3073400"/>
            </a:xfrm>
            <a:custGeom>
              <a:avLst/>
              <a:gdLst/>
              <a:ahLst/>
              <a:cxnLst/>
              <a:rect r="r" b="b" t="t" l="l"/>
              <a:pathLst>
                <a:path h="3073400" w="7243064">
                  <a:moveTo>
                    <a:pt x="0" y="196723"/>
                  </a:moveTo>
                  <a:cubicBezTo>
                    <a:pt x="0" y="88011"/>
                    <a:pt x="88011" y="0"/>
                    <a:pt x="196723" y="0"/>
                  </a:cubicBezTo>
                  <a:lnTo>
                    <a:pt x="7046341" y="0"/>
                  </a:lnTo>
                  <a:cubicBezTo>
                    <a:pt x="7154926" y="0"/>
                    <a:pt x="7243064" y="88011"/>
                    <a:pt x="7243064" y="196723"/>
                  </a:cubicBezTo>
                  <a:lnTo>
                    <a:pt x="7243064" y="2876677"/>
                  </a:lnTo>
                  <a:cubicBezTo>
                    <a:pt x="7243064" y="2985262"/>
                    <a:pt x="7155053" y="3073400"/>
                    <a:pt x="7046341" y="3073400"/>
                  </a:cubicBezTo>
                  <a:lnTo>
                    <a:pt x="196723" y="3073400"/>
                  </a:lnTo>
                  <a:cubicBezTo>
                    <a:pt x="88011" y="3073400"/>
                    <a:pt x="0" y="2985389"/>
                    <a:pt x="0" y="287667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097280" y="6929247"/>
            <a:ext cx="4937760" cy="475488"/>
            <a:chOff x="0" y="0"/>
            <a:chExt cx="6583680" cy="63398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583680" cy="633984"/>
            </a:xfrm>
            <a:custGeom>
              <a:avLst/>
              <a:gdLst/>
              <a:ahLst/>
              <a:cxnLst/>
              <a:rect r="r" b="b" t="t" l="l"/>
              <a:pathLst>
                <a:path h="63398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344" r="0" b="-15234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6583680" cy="633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4F6B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Regression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097280" y="7422261"/>
            <a:ext cx="493776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1E2A4A"/>
                </a:solidFill>
                <a:latin typeface="Arial Bold"/>
                <a:ea typeface="Arial Bold"/>
                <a:cs typeface="Arial Bold"/>
                <a:sym typeface="Arial Bold"/>
              </a:rPr>
              <a:t>Target: </a:t>
            </a:r>
            <a:r>
              <a:rPr lang="en-US" sz="1599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resolution_time_days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1E2A4A"/>
                </a:solidFill>
                <a:latin typeface="Arial Bold"/>
                <a:ea typeface="Arial Bold"/>
                <a:cs typeface="Arial Bold"/>
                <a:sym typeface="Arial Bold"/>
              </a:rPr>
              <a:t>Data: </a:t>
            </a:r>
            <a:r>
              <a:rPr lang="en-US" sz="1599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train / val / test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6427851" y="6791706"/>
            <a:ext cx="5432298" cy="2305050"/>
            <a:chOff x="0" y="0"/>
            <a:chExt cx="7243064" cy="30734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243064" cy="3073400"/>
            </a:xfrm>
            <a:custGeom>
              <a:avLst/>
              <a:gdLst/>
              <a:ahLst/>
              <a:cxnLst/>
              <a:rect r="r" b="b" t="t" l="l"/>
              <a:pathLst>
                <a:path h="3073400" w="7243064">
                  <a:moveTo>
                    <a:pt x="0" y="196723"/>
                  </a:moveTo>
                  <a:cubicBezTo>
                    <a:pt x="0" y="88011"/>
                    <a:pt x="88011" y="0"/>
                    <a:pt x="196723" y="0"/>
                  </a:cubicBezTo>
                  <a:lnTo>
                    <a:pt x="7046341" y="0"/>
                  </a:lnTo>
                  <a:cubicBezTo>
                    <a:pt x="7154926" y="0"/>
                    <a:pt x="7243064" y="88011"/>
                    <a:pt x="7243064" y="196723"/>
                  </a:cubicBezTo>
                  <a:lnTo>
                    <a:pt x="7243064" y="2876677"/>
                  </a:lnTo>
                  <a:cubicBezTo>
                    <a:pt x="7243064" y="2985262"/>
                    <a:pt x="7155053" y="3073400"/>
                    <a:pt x="7046341" y="3073400"/>
                  </a:cubicBezTo>
                  <a:lnTo>
                    <a:pt x="196723" y="3073400"/>
                  </a:lnTo>
                  <a:cubicBezTo>
                    <a:pt x="88011" y="3073400"/>
                    <a:pt x="0" y="2985389"/>
                    <a:pt x="0" y="287667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6711696" y="6929247"/>
            <a:ext cx="4937760" cy="475488"/>
            <a:chOff x="0" y="0"/>
            <a:chExt cx="6583680" cy="63398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583680" cy="633984"/>
            </a:xfrm>
            <a:custGeom>
              <a:avLst/>
              <a:gdLst/>
              <a:ahLst/>
              <a:cxnLst/>
              <a:rect r="r" b="b" t="t" l="l"/>
              <a:pathLst>
                <a:path h="63398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344" r="0" b="-15234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6583680" cy="633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B5C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Classification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6711696" y="7422261"/>
            <a:ext cx="4937760" cy="148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1E2A4A"/>
                </a:solidFill>
                <a:latin typeface="Arial Bold"/>
                <a:ea typeface="Arial Bold"/>
                <a:cs typeface="Arial Bold"/>
                <a:sym typeface="Arial Bold"/>
              </a:rPr>
              <a:t>Target: </a:t>
            </a:r>
            <a:r>
              <a:rPr lang="en-US" sz="1599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long_resolution_risk ≥ 143.23 d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1E2A4A"/>
                </a:solidFill>
                <a:latin typeface="Arial Bold"/>
                <a:ea typeface="Arial Bold"/>
                <a:cs typeface="Arial Bold"/>
                <a:sym typeface="Arial Bold"/>
              </a:rPr>
              <a:t>Data: </a:t>
            </a:r>
            <a:r>
              <a:rPr lang="en-US" sz="1599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train / val / test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2042267" y="6791706"/>
            <a:ext cx="5432298" cy="2305050"/>
            <a:chOff x="0" y="0"/>
            <a:chExt cx="7243064" cy="30734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243064" cy="3073400"/>
            </a:xfrm>
            <a:custGeom>
              <a:avLst/>
              <a:gdLst/>
              <a:ahLst/>
              <a:cxnLst/>
              <a:rect r="r" b="b" t="t" l="l"/>
              <a:pathLst>
                <a:path h="3073400" w="7243064">
                  <a:moveTo>
                    <a:pt x="0" y="196723"/>
                  </a:moveTo>
                  <a:cubicBezTo>
                    <a:pt x="0" y="88011"/>
                    <a:pt x="88011" y="0"/>
                    <a:pt x="196723" y="0"/>
                  </a:cubicBezTo>
                  <a:lnTo>
                    <a:pt x="7046341" y="0"/>
                  </a:lnTo>
                  <a:cubicBezTo>
                    <a:pt x="7154926" y="0"/>
                    <a:pt x="7243064" y="88011"/>
                    <a:pt x="7243064" y="196723"/>
                  </a:cubicBezTo>
                  <a:lnTo>
                    <a:pt x="7243064" y="2876677"/>
                  </a:lnTo>
                  <a:cubicBezTo>
                    <a:pt x="7243064" y="2985262"/>
                    <a:pt x="7155053" y="3073400"/>
                    <a:pt x="7046341" y="3073400"/>
                  </a:cubicBezTo>
                  <a:lnTo>
                    <a:pt x="196723" y="3073400"/>
                  </a:lnTo>
                  <a:cubicBezTo>
                    <a:pt x="88011" y="3073400"/>
                    <a:pt x="0" y="2985389"/>
                    <a:pt x="0" y="287667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2326112" y="6929247"/>
            <a:ext cx="4937760" cy="475488"/>
            <a:chOff x="0" y="0"/>
            <a:chExt cx="6583680" cy="63398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583680" cy="633984"/>
            </a:xfrm>
            <a:custGeom>
              <a:avLst/>
              <a:gdLst/>
              <a:ahLst/>
              <a:cxnLst/>
              <a:rect r="r" b="b" t="t" l="l"/>
              <a:pathLst>
                <a:path h="63398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344" r="0" b="-15234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6583680" cy="633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E0468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Isolation Forest</a:t>
              </a: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12326112" y="7422261"/>
            <a:ext cx="4937760" cy="148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1E2A4A"/>
                </a:solidFill>
                <a:latin typeface="Arial Bold"/>
                <a:ea typeface="Arial Bold"/>
                <a:cs typeface="Arial Bold"/>
                <a:sym typeface="Arial Bold"/>
              </a:rPr>
              <a:t>Target: </a:t>
            </a:r>
            <a:r>
              <a:rPr lang="en-US" sz="1599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no target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1E2A4A"/>
                </a:solidFill>
                <a:latin typeface="Arial Bold"/>
                <a:ea typeface="Arial Bold"/>
                <a:cs typeface="Arial Bold"/>
                <a:sym typeface="Arial Bold"/>
              </a:rPr>
              <a:t>Data: </a:t>
            </a:r>
            <a:r>
              <a:rPr lang="en-US" sz="1599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bottleneck_dataset · 938,948 rows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02336"/>
            <a:ext cx="5486400" cy="457200"/>
            <a:chOff x="0" y="0"/>
            <a:chExt cx="73152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3152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b="true" sz="1599" spc="599">
                  <a:solidFill>
                    <a:srgbClr val="4F6B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SCALEFLOW  ◇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14400"/>
            <a:ext cx="9144000" cy="402336"/>
            <a:chOff x="0" y="0"/>
            <a:chExt cx="12192000" cy="5364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92000" cy="536448"/>
            </a:xfrm>
            <a:custGeom>
              <a:avLst/>
              <a:gdLst/>
              <a:ahLst/>
              <a:cxnLst/>
              <a:rect r="r" b="b" t="t" l="l"/>
              <a:pathLst>
                <a:path h="536448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841" r="0" b="-3928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219200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b="true" sz="1599" spc="399">
                  <a:solidFill>
                    <a:srgbClr val="8B5C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TASK 03  ·  BASELINE RESULTS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403464" y="0"/>
            <a:ext cx="5884536" cy="4296271"/>
          </a:xfrm>
          <a:custGeom>
            <a:avLst/>
            <a:gdLst/>
            <a:ahLst/>
            <a:cxnLst/>
            <a:rect r="r" b="b" t="t" l="l"/>
            <a:pathLst>
              <a:path h="4296271" w="5884536">
                <a:moveTo>
                  <a:pt x="0" y="0"/>
                </a:moveTo>
                <a:lnTo>
                  <a:pt x="5884536" y="0"/>
                </a:lnTo>
                <a:lnTo>
                  <a:pt x="5884536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22960" y="1316736"/>
            <a:ext cx="13533120" cy="914400"/>
            <a:chOff x="0" y="0"/>
            <a:chExt cx="1804416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44161" cy="1219200"/>
            </a:xfrm>
            <a:custGeom>
              <a:avLst/>
              <a:gdLst/>
              <a:ahLst/>
              <a:cxnLst/>
              <a:rect r="r" b="b" t="t" l="l"/>
              <a:pathLst>
                <a:path h="1219200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378" r="0" b="-23837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8044160" cy="1209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Result 1 — Resolution Time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2231136"/>
            <a:ext cx="13533120" cy="548640"/>
            <a:chOff x="0" y="0"/>
            <a:chExt cx="1804416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44161" cy="731520"/>
            </a:xfrm>
            <a:custGeom>
              <a:avLst/>
              <a:gdLst/>
              <a:ahLst/>
              <a:cxnLst/>
              <a:rect r="r" b="b" t="t" l="l"/>
              <a:pathLst>
                <a:path h="731520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630" r="0" b="-43063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80441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5B647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Regression · Random Forest Regressor · 588,873 training issues · test = 2021–2024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13435" y="3551301"/>
            <a:ext cx="2670810" cy="1445514"/>
            <a:chOff x="0" y="0"/>
            <a:chExt cx="3561080" cy="19273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61080" cy="1927352"/>
            </a:xfrm>
            <a:custGeom>
              <a:avLst/>
              <a:gdLst/>
              <a:ahLst/>
              <a:cxnLst/>
              <a:rect r="r" b="b" t="t" l="l"/>
              <a:pathLst>
                <a:path h="1927352" w="356108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3363468" y="0"/>
                  </a:lnTo>
                  <a:cubicBezTo>
                    <a:pt x="3472688" y="0"/>
                    <a:pt x="3561080" y="88519"/>
                    <a:pt x="3561080" y="197612"/>
                  </a:cubicBezTo>
                  <a:lnTo>
                    <a:pt x="3561080" y="1729740"/>
                  </a:lnTo>
                  <a:cubicBezTo>
                    <a:pt x="3561080" y="1838960"/>
                    <a:pt x="3472561" y="1927352"/>
                    <a:pt x="3363468" y="1927352"/>
                  </a:cubicBezTo>
                  <a:lnTo>
                    <a:pt x="197612" y="1927352"/>
                  </a:lnTo>
                  <a:cubicBezTo>
                    <a:pt x="88519" y="1927352"/>
                    <a:pt x="0" y="1838833"/>
                    <a:pt x="0" y="17297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97280" y="3688842"/>
            <a:ext cx="2194560" cy="768096"/>
            <a:chOff x="0" y="0"/>
            <a:chExt cx="2926080" cy="10241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6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92608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4F6B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190.8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280" y="4438650"/>
            <a:ext cx="2194560" cy="438912"/>
            <a:chOff x="0" y="0"/>
            <a:chExt cx="2926080" cy="5852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26080" cy="585216"/>
            </a:xfrm>
            <a:custGeom>
              <a:avLst/>
              <a:gdLst/>
              <a:ahLst/>
              <a:cxnLst/>
              <a:rect r="r" b="b" t="t" l="l"/>
              <a:pathLst>
                <a:path h="5852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9260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478"/>
                  </a:solidFill>
                  <a:latin typeface="Arial"/>
                  <a:ea typeface="Arial"/>
                  <a:cs typeface="Arial"/>
                  <a:sym typeface="Arial"/>
                </a:rPr>
                <a:t>Test MAE (days)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13435" y="5160645"/>
            <a:ext cx="2670810" cy="1445514"/>
            <a:chOff x="0" y="0"/>
            <a:chExt cx="3561080" cy="19273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61080" cy="1927352"/>
            </a:xfrm>
            <a:custGeom>
              <a:avLst/>
              <a:gdLst/>
              <a:ahLst/>
              <a:cxnLst/>
              <a:rect r="r" b="b" t="t" l="l"/>
              <a:pathLst>
                <a:path h="1927352" w="356108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3363468" y="0"/>
                  </a:lnTo>
                  <a:cubicBezTo>
                    <a:pt x="3472688" y="0"/>
                    <a:pt x="3561080" y="88519"/>
                    <a:pt x="3561080" y="197612"/>
                  </a:cubicBezTo>
                  <a:lnTo>
                    <a:pt x="3561080" y="1729740"/>
                  </a:lnTo>
                  <a:cubicBezTo>
                    <a:pt x="3561080" y="1838960"/>
                    <a:pt x="3472561" y="1927352"/>
                    <a:pt x="3363468" y="1927352"/>
                  </a:cubicBezTo>
                  <a:lnTo>
                    <a:pt x="197612" y="1927352"/>
                  </a:lnTo>
                  <a:cubicBezTo>
                    <a:pt x="88519" y="1927352"/>
                    <a:pt x="0" y="1838833"/>
                    <a:pt x="0" y="17297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97280" y="5298186"/>
            <a:ext cx="2194560" cy="768096"/>
            <a:chOff x="0" y="0"/>
            <a:chExt cx="2926080" cy="10241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926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92608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8B5C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209.9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7280" y="6047994"/>
            <a:ext cx="2194560" cy="438912"/>
            <a:chOff x="0" y="0"/>
            <a:chExt cx="2926080" cy="5852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26080" cy="585216"/>
            </a:xfrm>
            <a:custGeom>
              <a:avLst/>
              <a:gdLst/>
              <a:ahLst/>
              <a:cxnLst/>
              <a:rect r="r" b="b" t="t" l="l"/>
              <a:pathLst>
                <a:path h="5852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29260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478"/>
                  </a:solidFill>
                  <a:latin typeface="Arial"/>
                  <a:ea typeface="Arial"/>
                  <a:cs typeface="Arial"/>
                  <a:sym typeface="Arial"/>
                </a:rPr>
                <a:t>Test RMSE (days)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13435" y="6769989"/>
            <a:ext cx="2670810" cy="1445514"/>
            <a:chOff x="0" y="0"/>
            <a:chExt cx="3561080" cy="19273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561080" cy="1927352"/>
            </a:xfrm>
            <a:custGeom>
              <a:avLst/>
              <a:gdLst/>
              <a:ahLst/>
              <a:cxnLst/>
              <a:rect r="r" b="b" t="t" l="l"/>
              <a:pathLst>
                <a:path h="1927352" w="356108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3363468" y="0"/>
                  </a:lnTo>
                  <a:cubicBezTo>
                    <a:pt x="3472688" y="0"/>
                    <a:pt x="3561080" y="88519"/>
                    <a:pt x="3561080" y="197612"/>
                  </a:cubicBezTo>
                  <a:lnTo>
                    <a:pt x="3561080" y="1729740"/>
                  </a:lnTo>
                  <a:cubicBezTo>
                    <a:pt x="3561080" y="1838960"/>
                    <a:pt x="3472561" y="1927352"/>
                    <a:pt x="3363468" y="1927352"/>
                  </a:cubicBezTo>
                  <a:lnTo>
                    <a:pt x="197612" y="1927352"/>
                  </a:lnTo>
                  <a:cubicBezTo>
                    <a:pt x="88519" y="1927352"/>
                    <a:pt x="0" y="1838833"/>
                    <a:pt x="0" y="17297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97280" y="6907530"/>
            <a:ext cx="2194560" cy="768096"/>
            <a:chOff x="0" y="0"/>
            <a:chExt cx="2926080" cy="10241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26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92608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E0468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−1.27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97280" y="7657338"/>
            <a:ext cx="2194560" cy="438912"/>
            <a:chOff x="0" y="0"/>
            <a:chExt cx="2926080" cy="5852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926080" cy="585216"/>
            </a:xfrm>
            <a:custGeom>
              <a:avLst/>
              <a:gdLst/>
              <a:ahLst/>
              <a:cxnLst/>
              <a:rect r="r" b="b" t="t" l="l"/>
              <a:pathLst>
                <a:path h="5852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29260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478"/>
                  </a:solidFill>
                  <a:latin typeface="Arial"/>
                  <a:ea typeface="Arial"/>
                  <a:cs typeface="Arial"/>
                  <a:sym typeface="Arial"/>
                </a:rPr>
                <a:t>Test R²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739515" y="3551301"/>
            <a:ext cx="6785610" cy="4700778"/>
            <a:chOff x="0" y="0"/>
            <a:chExt cx="9047480" cy="626770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047480" cy="6267704"/>
            </a:xfrm>
            <a:custGeom>
              <a:avLst/>
              <a:gdLst/>
              <a:ahLst/>
              <a:cxnLst/>
              <a:rect r="r" b="b" t="t" l="l"/>
              <a:pathLst>
                <a:path h="6267704" w="9047480">
                  <a:moveTo>
                    <a:pt x="0" y="195834"/>
                  </a:moveTo>
                  <a:cubicBezTo>
                    <a:pt x="0" y="87630"/>
                    <a:pt x="87630" y="0"/>
                    <a:pt x="195834" y="0"/>
                  </a:cubicBezTo>
                  <a:lnTo>
                    <a:pt x="8851646" y="0"/>
                  </a:lnTo>
                  <a:cubicBezTo>
                    <a:pt x="8959850" y="0"/>
                    <a:pt x="9047480" y="87630"/>
                    <a:pt x="9047480" y="195834"/>
                  </a:cubicBezTo>
                  <a:lnTo>
                    <a:pt x="9047480" y="6071870"/>
                  </a:lnTo>
                  <a:cubicBezTo>
                    <a:pt x="9047480" y="6180074"/>
                    <a:pt x="8959850" y="6267704"/>
                    <a:pt x="8851646" y="6267704"/>
                  </a:cubicBezTo>
                  <a:lnTo>
                    <a:pt x="195834" y="6267704"/>
                  </a:lnTo>
                  <a:cubicBezTo>
                    <a:pt x="87630" y="6267704"/>
                    <a:pt x="0" y="6180074"/>
                    <a:pt x="0" y="607187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4242816" y="3743706"/>
            <a:ext cx="5779008" cy="4315968"/>
            <a:chOff x="0" y="0"/>
            <a:chExt cx="7705344" cy="5754624"/>
          </a:xfrm>
        </p:grpSpPr>
        <p:sp>
          <p:nvSpPr>
            <p:cNvPr name="Freeform 42" id="42" descr="/home/claude/img/train_c20_1.png"/>
            <p:cNvSpPr/>
            <p:nvPr/>
          </p:nvSpPr>
          <p:spPr>
            <a:xfrm flipH="false" flipV="false" rot="0">
              <a:off x="0" y="0"/>
              <a:ext cx="7705344" cy="5754624"/>
            </a:xfrm>
            <a:custGeom>
              <a:avLst/>
              <a:gdLst/>
              <a:ahLst/>
              <a:cxnLst/>
              <a:rect r="r" b="b" t="t" l="l"/>
              <a:pathLst>
                <a:path h="5754624" w="7705344">
                  <a:moveTo>
                    <a:pt x="0" y="0"/>
                  </a:moveTo>
                  <a:lnTo>
                    <a:pt x="7705344" y="0"/>
                  </a:lnTo>
                  <a:lnTo>
                    <a:pt x="7705344" y="5754624"/>
                  </a:lnTo>
                  <a:lnTo>
                    <a:pt x="0" y="5754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725531" y="3551301"/>
            <a:ext cx="6749034" cy="4700778"/>
            <a:chOff x="0" y="0"/>
            <a:chExt cx="8998712" cy="626770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998712" cy="6267704"/>
            </a:xfrm>
            <a:custGeom>
              <a:avLst/>
              <a:gdLst/>
              <a:ahLst/>
              <a:cxnLst/>
              <a:rect r="r" b="b" t="t" l="l"/>
              <a:pathLst>
                <a:path h="6267704" w="8998712">
                  <a:moveTo>
                    <a:pt x="0" y="195834"/>
                  </a:moveTo>
                  <a:cubicBezTo>
                    <a:pt x="0" y="87630"/>
                    <a:pt x="87630" y="0"/>
                    <a:pt x="195834" y="0"/>
                  </a:cubicBezTo>
                  <a:lnTo>
                    <a:pt x="8802878" y="0"/>
                  </a:lnTo>
                  <a:cubicBezTo>
                    <a:pt x="8911082" y="0"/>
                    <a:pt x="8998712" y="87630"/>
                    <a:pt x="8998712" y="195834"/>
                  </a:cubicBezTo>
                  <a:lnTo>
                    <a:pt x="8998712" y="6071870"/>
                  </a:lnTo>
                  <a:cubicBezTo>
                    <a:pt x="8998712" y="6180074"/>
                    <a:pt x="8911082" y="6267704"/>
                    <a:pt x="8802878" y="6267704"/>
                  </a:cubicBezTo>
                  <a:lnTo>
                    <a:pt x="195834" y="6267704"/>
                  </a:lnTo>
                  <a:cubicBezTo>
                    <a:pt x="87630" y="6267704"/>
                    <a:pt x="0" y="6180074"/>
                    <a:pt x="0" y="607187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0917936" y="3792198"/>
            <a:ext cx="6364224" cy="4218984"/>
            <a:chOff x="0" y="0"/>
            <a:chExt cx="8485632" cy="5625313"/>
          </a:xfrm>
        </p:grpSpPr>
        <p:sp>
          <p:nvSpPr>
            <p:cNvPr name="Freeform 46" id="46" descr="/home/claude/img/train_c21_2.png"/>
            <p:cNvSpPr/>
            <p:nvPr/>
          </p:nvSpPr>
          <p:spPr>
            <a:xfrm flipH="false" flipV="false" rot="0">
              <a:off x="0" y="0"/>
              <a:ext cx="8485632" cy="5625338"/>
            </a:xfrm>
            <a:custGeom>
              <a:avLst/>
              <a:gdLst/>
              <a:ahLst/>
              <a:cxnLst/>
              <a:rect r="r" b="b" t="t" l="l"/>
              <a:pathLst>
                <a:path h="5625338" w="8485632">
                  <a:moveTo>
                    <a:pt x="0" y="0"/>
                  </a:moveTo>
                  <a:lnTo>
                    <a:pt x="8485632" y="0"/>
                  </a:lnTo>
                  <a:lnTo>
                    <a:pt x="8485632" y="5625338"/>
                  </a:lnTo>
                  <a:lnTo>
                    <a:pt x="0" y="5625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3749040" y="8352282"/>
            <a:ext cx="6766560" cy="731520"/>
            <a:chOff x="0" y="0"/>
            <a:chExt cx="9022080" cy="975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90220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i="true">
                  <a:solidFill>
                    <a:srgbClr val="5B6478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Model predicts ~150–300 days for almost every issue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735056" y="8352282"/>
            <a:ext cx="6729984" cy="731520"/>
            <a:chOff x="0" y="0"/>
            <a:chExt cx="8973312" cy="9753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973312" cy="975360"/>
            </a:xfrm>
            <a:custGeom>
              <a:avLst/>
              <a:gdLst/>
              <a:ahLst/>
              <a:cxnLst/>
              <a:rect r="r" b="b" t="t" l="l"/>
              <a:pathLst>
                <a:path h="975360" w="8973312">
                  <a:moveTo>
                    <a:pt x="0" y="0"/>
                  </a:moveTo>
                  <a:lnTo>
                    <a:pt x="8973312" y="0"/>
                  </a:lnTo>
                  <a:lnTo>
                    <a:pt x="897331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8973312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i="true">
                  <a:solidFill>
                    <a:srgbClr val="5B6478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created_year is the top feature (26.6%)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02336"/>
            <a:ext cx="5486400" cy="457200"/>
            <a:chOff x="0" y="0"/>
            <a:chExt cx="73152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3152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b="true" sz="1599" spc="599">
                  <a:solidFill>
                    <a:srgbClr val="4F6B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SCALEFLOW  ◇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14400"/>
            <a:ext cx="9144000" cy="402336"/>
            <a:chOff x="0" y="0"/>
            <a:chExt cx="12192000" cy="5364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92000" cy="536448"/>
            </a:xfrm>
            <a:custGeom>
              <a:avLst/>
              <a:gdLst/>
              <a:ahLst/>
              <a:cxnLst/>
              <a:rect r="r" b="b" t="t" l="l"/>
              <a:pathLst>
                <a:path h="536448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841" r="0" b="-3928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219200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b="true" sz="1599" spc="399">
                  <a:solidFill>
                    <a:srgbClr val="8B5C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TASK 03  ·  BASELINE RESULTS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403464" y="0"/>
            <a:ext cx="5884536" cy="4296271"/>
          </a:xfrm>
          <a:custGeom>
            <a:avLst/>
            <a:gdLst/>
            <a:ahLst/>
            <a:cxnLst/>
            <a:rect r="r" b="b" t="t" l="l"/>
            <a:pathLst>
              <a:path h="4296271" w="5884536">
                <a:moveTo>
                  <a:pt x="0" y="0"/>
                </a:moveTo>
                <a:lnTo>
                  <a:pt x="5884536" y="0"/>
                </a:lnTo>
                <a:lnTo>
                  <a:pt x="5884536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22960" y="1316736"/>
            <a:ext cx="13533120" cy="914400"/>
            <a:chOff x="0" y="0"/>
            <a:chExt cx="1804416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44161" cy="1219200"/>
            </a:xfrm>
            <a:custGeom>
              <a:avLst/>
              <a:gdLst/>
              <a:ahLst/>
              <a:cxnLst/>
              <a:rect r="r" b="b" t="t" l="l"/>
              <a:pathLst>
                <a:path h="1219200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378" r="0" b="-23837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8044160" cy="1209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Result 2 — Long-Resolution Risk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2231136"/>
            <a:ext cx="13533120" cy="548640"/>
            <a:chOff x="0" y="0"/>
            <a:chExt cx="1804416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44161" cy="731520"/>
            </a:xfrm>
            <a:custGeom>
              <a:avLst/>
              <a:gdLst/>
              <a:ahLst/>
              <a:cxnLst/>
              <a:rect r="r" b="b" t="t" l="l"/>
              <a:pathLst>
                <a:path h="731520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630" r="0" b="-43063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80441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5B647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Classification · Random Forest · class_weight = balanced · threshold 143.23 days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13435" y="3427476"/>
            <a:ext cx="7882890" cy="2596896"/>
            <a:chOff x="0" y="0"/>
            <a:chExt cx="10510520" cy="34625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10520" cy="3462528"/>
            </a:xfrm>
            <a:custGeom>
              <a:avLst/>
              <a:gdLst/>
              <a:ahLst/>
              <a:cxnLst/>
              <a:rect r="r" b="b" t="t" l="l"/>
              <a:pathLst>
                <a:path h="3462528" w="10510520">
                  <a:moveTo>
                    <a:pt x="0" y="216338"/>
                  </a:moveTo>
                  <a:cubicBezTo>
                    <a:pt x="0" y="96849"/>
                    <a:pt x="88011" y="0"/>
                    <a:pt x="196596" y="0"/>
                  </a:cubicBezTo>
                  <a:lnTo>
                    <a:pt x="10313924" y="0"/>
                  </a:lnTo>
                  <a:cubicBezTo>
                    <a:pt x="10422509" y="0"/>
                    <a:pt x="10510520" y="96849"/>
                    <a:pt x="10510520" y="216338"/>
                  </a:cubicBezTo>
                  <a:lnTo>
                    <a:pt x="10510520" y="3246050"/>
                  </a:lnTo>
                  <a:cubicBezTo>
                    <a:pt x="10510520" y="3365539"/>
                    <a:pt x="10422509" y="3462528"/>
                    <a:pt x="10313924" y="3462528"/>
                  </a:cubicBezTo>
                  <a:lnTo>
                    <a:pt x="196596" y="3462528"/>
                  </a:lnTo>
                  <a:cubicBezTo>
                    <a:pt x="88011" y="3462528"/>
                    <a:pt x="0" y="3365679"/>
                    <a:pt x="0" y="324605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1060704" y="3656457"/>
          <a:ext cx="7315200" cy="2176709"/>
        </p:xfrm>
        <a:graphic>
          <a:graphicData uri="http://schemas.openxmlformats.org/drawingml/2006/table">
            <a:tbl>
              <a:tblPr/>
              <a:tblGrid>
                <a:gridCol w="1408437"/>
                <a:gridCol w="1301991"/>
                <a:gridCol w="1337473"/>
                <a:gridCol w="1124581"/>
                <a:gridCol w="911690"/>
                <a:gridCol w="1231027"/>
              </a:tblGrid>
              <a:tr h="6385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Split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Precision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Recall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AUC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6385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Validation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0.268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0.115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0.161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0.584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96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0.847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0.165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0.132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0.554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8" id="18"/>
          <p:cNvGrpSpPr/>
          <p:nvPr/>
        </p:nvGrpSpPr>
        <p:grpSpPr>
          <a:xfrm rot="0">
            <a:off x="813435" y="6176962"/>
            <a:ext cx="7882890" cy="3054858"/>
            <a:chOff x="0" y="0"/>
            <a:chExt cx="10510520" cy="40731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10520" cy="4073144"/>
            </a:xfrm>
            <a:custGeom>
              <a:avLst/>
              <a:gdLst/>
              <a:ahLst/>
              <a:cxnLst/>
              <a:rect r="r" b="b" t="t" l="l"/>
              <a:pathLst>
                <a:path h="4073144" w="1051052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10314178" y="0"/>
                  </a:lnTo>
                  <a:cubicBezTo>
                    <a:pt x="10422636" y="0"/>
                    <a:pt x="10510520" y="87884"/>
                    <a:pt x="10510520" y="196342"/>
                  </a:cubicBezTo>
                  <a:lnTo>
                    <a:pt x="10510520" y="3876802"/>
                  </a:lnTo>
                  <a:cubicBezTo>
                    <a:pt x="10510520" y="3985260"/>
                    <a:pt x="10422636" y="4073144"/>
                    <a:pt x="10314178" y="4073144"/>
                  </a:cubicBezTo>
                  <a:lnTo>
                    <a:pt x="196342" y="4073144"/>
                  </a:lnTo>
                  <a:cubicBezTo>
                    <a:pt x="87884" y="4073144"/>
                    <a:pt x="0" y="3985260"/>
                    <a:pt x="0" y="387680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115568" y="6738747"/>
            <a:ext cx="7278624" cy="178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1E2A4A"/>
                </a:solidFill>
                <a:latin typeface="Arial Bold"/>
                <a:ea typeface="Arial Bold"/>
                <a:cs typeface="Arial Bold"/>
                <a:sym typeface="Arial Bold"/>
              </a:rPr>
              <a:t>Why accuracy 0.85 is misleading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Only 10.6% of test issues are long. Predicting "not long" for every issue already gives ~0.89 accuracy.</a:t>
            </a:r>
          </a:p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5B6478"/>
                </a:solidFill>
                <a:latin typeface="Arial Bold"/>
                <a:ea typeface="Arial Bold"/>
                <a:cs typeface="Arial Bold"/>
                <a:sym typeface="Arial Bold"/>
              </a:rPr>
              <a:t>F1 = 0.13 and AUC = 0.55 (≈ random ranking) show the real performance.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951595" y="3427476"/>
            <a:ext cx="5048250" cy="5804344"/>
            <a:chOff x="0" y="0"/>
            <a:chExt cx="6731000" cy="773912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31000" cy="7739126"/>
            </a:xfrm>
            <a:custGeom>
              <a:avLst/>
              <a:gdLst/>
              <a:ahLst/>
              <a:cxnLst/>
              <a:rect r="r" b="b" t="t" l="l"/>
              <a:pathLst>
                <a:path h="7739126" w="6731000">
                  <a:moveTo>
                    <a:pt x="0" y="201121"/>
                  </a:moveTo>
                  <a:cubicBezTo>
                    <a:pt x="0" y="89996"/>
                    <a:pt x="87630" y="0"/>
                    <a:pt x="195834" y="0"/>
                  </a:cubicBezTo>
                  <a:lnTo>
                    <a:pt x="6535166" y="0"/>
                  </a:lnTo>
                  <a:cubicBezTo>
                    <a:pt x="6643370" y="0"/>
                    <a:pt x="6731000" y="89996"/>
                    <a:pt x="6731000" y="201121"/>
                  </a:cubicBezTo>
                  <a:lnTo>
                    <a:pt x="6731000" y="7538005"/>
                  </a:lnTo>
                  <a:cubicBezTo>
                    <a:pt x="6731000" y="7649000"/>
                    <a:pt x="6643370" y="7739126"/>
                    <a:pt x="6535166" y="7739126"/>
                  </a:cubicBezTo>
                  <a:lnTo>
                    <a:pt x="195834" y="7739126"/>
                  </a:lnTo>
                  <a:cubicBezTo>
                    <a:pt x="87630" y="7739126"/>
                    <a:pt x="0" y="7649130"/>
                    <a:pt x="0" y="753800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0" y="4674251"/>
            <a:ext cx="4663440" cy="3158195"/>
            <a:chOff x="0" y="0"/>
            <a:chExt cx="6217920" cy="4210926"/>
          </a:xfrm>
        </p:grpSpPr>
        <p:sp>
          <p:nvSpPr>
            <p:cNvPr name="Freeform 24" id="24" descr="/home/claude/img/train_c28_3.png"/>
            <p:cNvSpPr/>
            <p:nvPr/>
          </p:nvSpPr>
          <p:spPr>
            <a:xfrm flipH="false" flipV="false" rot="0">
              <a:off x="0" y="0"/>
              <a:ext cx="6217920" cy="4210939"/>
            </a:xfrm>
            <a:custGeom>
              <a:avLst/>
              <a:gdLst/>
              <a:ahLst/>
              <a:cxnLst/>
              <a:rect r="r" b="b" t="t" l="l"/>
              <a:pathLst>
                <a:path h="4210939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4210939"/>
                  </a:lnTo>
                  <a:lnTo>
                    <a:pt x="0" y="421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4218539" y="3427476"/>
            <a:ext cx="3256026" cy="5804344"/>
            <a:chOff x="0" y="0"/>
            <a:chExt cx="4341368" cy="773912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41368" cy="7739126"/>
            </a:xfrm>
            <a:custGeom>
              <a:avLst/>
              <a:gdLst/>
              <a:ahLst/>
              <a:cxnLst/>
              <a:rect r="r" b="b" t="t" l="l"/>
              <a:pathLst>
                <a:path h="7739126" w="4341368">
                  <a:moveTo>
                    <a:pt x="0" y="201513"/>
                  </a:moveTo>
                  <a:cubicBezTo>
                    <a:pt x="0" y="90257"/>
                    <a:pt x="87884" y="0"/>
                    <a:pt x="196215" y="0"/>
                  </a:cubicBezTo>
                  <a:lnTo>
                    <a:pt x="4145153" y="0"/>
                  </a:lnTo>
                  <a:cubicBezTo>
                    <a:pt x="4253484" y="0"/>
                    <a:pt x="4341368" y="90257"/>
                    <a:pt x="4341368" y="201513"/>
                  </a:cubicBezTo>
                  <a:lnTo>
                    <a:pt x="4341368" y="7537613"/>
                  </a:lnTo>
                  <a:cubicBezTo>
                    <a:pt x="4341368" y="7648870"/>
                    <a:pt x="4253484" y="7739126"/>
                    <a:pt x="4145153" y="7739126"/>
                  </a:cubicBezTo>
                  <a:lnTo>
                    <a:pt x="196215" y="7739126"/>
                  </a:lnTo>
                  <a:cubicBezTo>
                    <a:pt x="87884" y="7739126"/>
                    <a:pt x="0" y="7648870"/>
                    <a:pt x="0" y="753761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4410944" y="4802305"/>
            <a:ext cx="2871216" cy="2902087"/>
            <a:chOff x="0" y="0"/>
            <a:chExt cx="3828288" cy="3869449"/>
          </a:xfrm>
        </p:grpSpPr>
        <p:sp>
          <p:nvSpPr>
            <p:cNvPr name="Freeform 28" id="28" descr="/home/claude/img/train_c29_4.png"/>
            <p:cNvSpPr/>
            <p:nvPr/>
          </p:nvSpPr>
          <p:spPr>
            <a:xfrm flipH="false" flipV="false" rot="0">
              <a:off x="0" y="0"/>
              <a:ext cx="3828288" cy="3869436"/>
            </a:xfrm>
            <a:custGeom>
              <a:avLst/>
              <a:gdLst/>
              <a:ahLst/>
              <a:cxnLst/>
              <a:rect r="r" b="b" t="t" l="l"/>
              <a:pathLst>
                <a:path h="3869436" w="3828288">
                  <a:moveTo>
                    <a:pt x="0" y="0"/>
                  </a:moveTo>
                  <a:lnTo>
                    <a:pt x="3828288" y="0"/>
                  </a:lnTo>
                  <a:lnTo>
                    <a:pt x="3828288" y="3869436"/>
                  </a:lnTo>
                  <a:lnTo>
                    <a:pt x="0" y="3869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02336"/>
            <a:ext cx="5486400" cy="457200"/>
            <a:chOff x="0" y="0"/>
            <a:chExt cx="73152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3152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b="true" sz="1599" spc="599">
                  <a:solidFill>
                    <a:srgbClr val="4F6B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SCALEFLOW  ◇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14400"/>
            <a:ext cx="9144000" cy="402336"/>
            <a:chOff x="0" y="0"/>
            <a:chExt cx="12192000" cy="5364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92000" cy="536448"/>
            </a:xfrm>
            <a:custGeom>
              <a:avLst/>
              <a:gdLst/>
              <a:ahLst/>
              <a:cxnLst/>
              <a:rect r="r" b="b" t="t" l="l"/>
              <a:pathLst>
                <a:path h="536448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841" r="0" b="-3928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219200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b="true" sz="1599" spc="399">
                  <a:solidFill>
                    <a:srgbClr val="8B5C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TASK 03  ·  BASELINE RESULTS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403464" y="0"/>
            <a:ext cx="5884536" cy="4296271"/>
          </a:xfrm>
          <a:custGeom>
            <a:avLst/>
            <a:gdLst/>
            <a:ahLst/>
            <a:cxnLst/>
            <a:rect r="r" b="b" t="t" l="l"/>
            <a:pathLst>
              <a:path h="4296271" w="5884536">
                <a:moveTo>
                  <a:pt x="0" y="0"/>
                </a:moveTo>
                <a:lnTo>
                  <a:pt x="5884536" y="0"/>
                </a:lnTo>
                <a:lnTo>
                  <a:pt x="5884536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22960" y="1316736"/>
            <a:ext cx="13533120" cy="914400"/>
            <a:chOff x="0" y="0"/>
            <a:chExt cx="1804416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44161" cy="1219200"/>
            </a:xfrm>
            <a:custGeom>
              <a:avLst/>
              <a:gdLst/>
              <a:ahLst/>
              <a:cxnLst/>
              <a:rect r="r" b="b" t="t" l="l"/>
              <a:pathLst>
                <a:path h="1219200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378" r="0" b="-23837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8044160" cy="1209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Result 3 — Potential Bottlenecks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2231136"/>
            <a:ext cx="13533120" cy="548640"/>
            <a:chOff x="0" y="0"/>
            <a:chExt cx="1804416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44161" cy="731520"/>
            </a:xfrm>
            <a:custGeom>
              <a:avLst/>
              <a:gdLst/>
              <a:ahLst/>
              <a:cxnLst/>
              <a:rect r="r" b="b" t="t" l="l"/>
              <a:pathLst>
                <a:path h="731520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630" r="0" b="-43063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80441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5B647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Isolation Forest · 200 trees · contamination = auto · unsupervised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13435" y="3351276"/>
            <a:ext cx="3493770" cy="1445514"/>
            <a:chOff x="0" y="0"/>
            <a:chExt cx="4658360" cy="19273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58360" cy="1927352"/>
            </a:xfrm>
            <a:custGeom>
              <a:avLst/>
              <a:gdLst/>
              <a:ahLst/>
              <a:cxnLst/>
              <a:rect r="r" b="b" t="t" l="l"/>
              <a:pathLst>
                <a:path h="1927352" w="465836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4460748" y="0"/>
                  </a:lnTo>
                  <a:cubicBezTo>
                    <a:pt x="4569968" y="0"/>
                    <a:pt x="4658360" y="88519"/>
                    <a:pt x="4658360" y="197612"/>
                  </a:cubicBezTo>
                  <a:lnTo>
                    <a:pt x="4658360" y="1729740"/>
                  </a:lnTo>
                  <a:cubicBezTo>
                    <a:pt x="4658360" y="1838960"/>
                    <a:pt x="4569841" y="1927352"/>
                    <a:pt x="4460748" y="1927352"/>
                  </a:cubicBezTo>
                  <a:lnTo>
                    <a:pt x="197612" y="1927352"/>
                  </a:lnTo>
                  <a:cubicBezTo>
                    <a:pt x="88519" y="1927352"/>
                    <a:pt x="0" y="1838833"/>
                    <a:pt x="0" y="17297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97280" y="3488817"/>
            <a:ext cx="3017520" cy="768096"/>
            <a:chOff x="0" y="0"/>
            <a:chExt cx="4023360" cy="10241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233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402336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4F6B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938,948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280" y="4238625"/>
            <a:ext cx="3017520" cy="438912"/>
            <a:chOff x="0" y="0"/>
            <a:chExt cx="4023360" cy="5852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3360" cy="585216"/>
            </a:xfrm>
            <a:custGeom>
              <a:avLst/>
              <a:gdLst/>
              <a:ahLst/>
              <a:cxnLst/>
              <a:rect r="r" b="b" t="t" l="l"/>
              <a:pathLst>
                <a:path h="58521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0233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478"/>
                  </a:solidFill>
                  <a:latin typeface="Arial"/>
                  <a:ea typeface="Arial"/>
                  <a:cs typeface="Arial"/>
                  <a:sym typeface="Arial"/>
                </a:rPr>
                <a:t>resolved tasks scored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507611" y="3351276"/>
            <a:ext cx="3493770" cy="1445514"/>
            <a:chOff x="0" y="0"/>
            <a:chExt cx="4658360" cy="19273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58360" cy="1927352"/>
            </a:xfrm>
            <a:custGeom>
              <a:avLst/>
              <a:gdLst/>
              <a:ahLst/>
              <a:cxnLst/>
              <a:rect r="r" b="b" t="t" l="l"/>
              <a:pathLst>
                <a:path h="1927352" w="465836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4460748" y="0"/>
                  </a:lnTo>
                  <a:cubicBezTo>
                    <a:pt x="4569968" y="0"/>
                    <a:pt x="4658360" y="88519"/>
                    <a:pt x="4658360" y="197612"/>
                  </a:cubicBezTo>
                  <a:lnTo>
                    <a:pt x="4658360" y="1729740"/>
                  </a:lnTo>
                  <a:cubicBezTo>
                    <a:pt x="4658360" y="1838960"/>
                    <a:pt x="4569841" y="1927352"/>
                    <a:pt x="4460748" y="1927352"/>
                  </a:cubicBezTo>
                  <a:lnTo>
                    <a:pt x="197612" y="1927352"/>
                  </a:lnTo>
                  <a:cubicBezTo>
                    <a:pt x="88519" y="1927352"/>
                    <a:pt x="0" y="1838833"/>
                    <a:pt x="0" y="17297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4791456" y="3488817"/>
            <a:ext cx="3017520" cy="768096"/>
            <a:chOff x="0" y="0"/>
            <a:chExt cx="4023360" cy="10241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233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402336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E0468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94,578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791456" y="4238625"/>
            <a:ext cx="3017520" cy="438912"/>
            <a:chOff x="0" y="0"/>
            <a:chExt cx="4023360" cy="5852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23360" cy="585216"/>
            </a:xfrm>
            <a:custGeom>
              <a:avLst/>
              <a:gdLst/>
              <a:ahLst/>
              <a:cxnLst/>
              <a:rect r="r" b="b" t="t" l="l"/>
              <a:pathLst>
                <a:path h="58521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40233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478"/>
                  </a:solidFill>
                  <a:latin typeface="Arial"/>
                  <a:ea typeface="Arial"/>
                  <a:cs typeface="Arial"/>
                  <a:sym typeface="Arial"/>
                </a:rPr>
                <a:t>potential bottlenecks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13435" y="4997196"/>
            <a:ext cx="3493770" cy="1445514"/>
            <a:chOff x="0" y="0"/>
            <a:chExt cx="4658360" cy="19273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58360" cy="1927352"/>
            </a:xfrm>
            <a:custGeom>
              <a:avLst/>
              <a:gdLst/>
              <a:ahLst/>
              <a:cxnLst/>
              <a:rect r="r" b="b" t="t" l="l"/>
              <a:pathLst>
                <a:path h="1927352" w="465836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4460748" y="0"/>
                  </a:lnTo>
                  <a:cubicBezTo>
                    <a:pt x="4569968" y="0"/>
                    <a:pt x="4658360" y="88519"/>
                    <a:pt x="4658360" y="197612"/>
                  </a:cubicBezTo>
                  <a:lnTo>
                    <a:pt x="4658360" y="1729740"/>
                  </a:lnTo>
                  <a:cubicBezTo>
                    <a:pt x="4658360" y="1838960"/>
                    <a:pt x="4569841" y="1927352"/>
                    <a:pt x="4460748" y="1927352"/>
                  </a:cubicBezTo>
                  <a:lnTo>
                    <a:pt x="197612" y="1927352"/>
                  </a:lnTo>
                  <a:cubicBezTo>
                    <a:pt x="88519" y="1927352"/>
                    <a:pt x="0" y="1838833"/>
                    <a:pt x="0" y="17297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97280" y="5134737"/>
            <a:ext cx="3017520" cy="768096"/>
            <a:chOff x="0" y="0"/>
            <a:chExt cx="4023360" cy="10241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233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402336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8B5C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10.07%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97280" y="5884545"/>
            <a:ext cx="3017520" cy="438912"/>
            <a:chOff x="0" y="0"/>
            <a:chExt cx="4023360" cy="5852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023360" cy="585216"/>
            </a:xfrm>
            <a:custGeom>
              <a:avLst/>
              <a:gdLst/>
              <a:ahLst/>
              <a:cxnLst/>
              <a:rect r="r" b="b" t="t" l="l"/>
              <a:pathLst>
                <a:path h="58521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40233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478"/>
                  </a:solidFill>
                  <a:latin typeface="Arial"/>
                  <a:ea typeface="Arial"/>
                  <a:cs typeface="Arial"/>
                  <a:sym typeface="Arial"/>
                </a:rPr>
                <a:t>flagged rate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507611" y="4997196"/>
            <a:ext cx="3493770" cy="1445514"/>
            <a:chOff x="0" y="0"/>
            <a:chExt cx="4658360" cy="19273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658360" cy="1927352"/>
            </a:xfrm>
            <a:custGeom>
              <a:avLst/>
              <a:gdLst/>
              <a:ahLst/>
              <a:cxnLst/>
              <a:rect r="r" b="b" t="t" l="l"/>
              <a:pathLst>
                <a:path h="1927352" w="465836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4460748" y="0"/>
                  </a:lnTo>
                  <a:cubicBezTo>
                    <a:pt x="4569968" y="0"/>
                    <a:pt x="4658360" y="88519"/>
                    <a:pt x="4658360" y="197612"/>
                  </a:cubicBezTo>
                  <a:lnTo>
                    <a:pt x="4658360" y="1729740"/>
                  </a:lnTo>
                  <a:cubicBezTo>
                    <a:pt x="4658360" y="1838960"/>
                    <a:pt x="4569841" y="1927352"/>
                    <a:pt x="4460748" y="1927352"/>
                  </a:cubicBezTo>
                  <a:lnTo>
                    <a:pt x="197612" y="1927352"/>
                  </a:lnTo>
                  <a:cubicBezTo>
                    <a:pt x="88519" y="1927352"/>
                    <a:pt x="0" y="1838833"/>
                    <a:pt x="0" y="17297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4791456" y="5134737"/>
            <a:ext cx="3017520" cy="768096"/>
            <a:chOff x="0" y="0"/>
            <a:chExt cx="4023360" cy="10241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0233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402336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4F6B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791456" y="5884545"/>
            <a:ext cx="3017520" cy="438912"/>
            <a:chOff x="0" y="0"/>
            <a:chExt cx="4023360" cy="5852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023360" cy="585216"/>
            </a:xfrm>
            <a:custGeom>
              <a:avLst/>
              <a:gdLst/>
              <a:ahLst/>
              <a:cxnLst/>
              <a:rect r="r" b="b" t="t" l="l"/>
              <a:pathLst>
                <a:path h="58521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40233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478"/>
                  </a:solidFill>
                  <a:latin typeface="Arial"/>
                  <a:ea typeface="Arial"/>
                  <a:cs typeface="Arial"/>
                  <a:sym typeface="Arial"/>
                </a:rPr>
                <a:t>lifecycle features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13435" y="6643116"/>
            <a:ext cx="7187946" cy="2487930"/>
            <a:chOff x="0" y="0"/>
            <a:chExt cx="9583928" cy="33172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583927" cy="3317240"/>
            </a:xfrm>
            <a:custGeom>
              <a:avLst/>
              <a:gdLst/>
              <a:ahLst/>
              <a:cxnLst/>
              <a:rect r="r" b="b" t="t" l="l"/>
              <a:pathLst>
                <a:path h="3317240" w="9583927">
                  <a:moveTo>
                    <a:pt x="0" y="196596"/>
                  </a:moveTo>
                  <a:cubicBezTo>
                    <a:pt x="0" y="88011"/>
                    <a:pt x="88011" y="0"/>
                    <a:pt x="196596" y="0"/>
                  </a:cubicBezTo>
                  <a:lnTo>
                    <a:pt x="9387332" y="0"/>
                  </a:lnTo>
                  <a:cubicBezTo>
                    <a:pt x="9495917" y="0"/>
                    <a:pt x="9583927" y="88011"/>
                    <a:pt x="9583927" y="196596"/>
                  </a:cubicBezTo>
                  <a:lnTo>
                    <a:pt x="9583927" y="3120644"/>
                  </a:lnTo>
                  <a:cubicBezTo>
                    <a:pt x="9583927" y="3229229"/>
                    <a:pt x="9495917" y="3317240"/>
                    <a:pt x="9387332" y="3317240"/>
                  </a:cubicBezTo>
                  <a:lnTo>
                    <a:pt x="196596" y="3317240"/>
                  </a:lnTo>
                  <a:cubicBezTo>
                    <a:pt x="88011" y="3317240"/>
                    <a:pt x="0" y="3229229"/>
                    <a:pt x="0" y="312064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aphicFrame>
        <p:nvGraphicFramePr>
          <p:cNvPr name="Table 49" id="49"/>
          <p:cNvGraphicFramePr>
            <a:graphicFrameLocks noGrp="true"/>
          </p:cNvGraphicFramePr>
          <p:nvPr/>
        </p:nvGraphicFramePr>
        <p:xfrm>
          <a:off x="1005840" y="6762369"/>
          <a:ext cx="6781800" cy="1828800"/>
        </p:xfrm>
        <a:graphic>
          <a:graphicData uri="http://schemas.openxmlformats.org/drawingml/2006/table">
            <a:tbl>
              <a:tblPr/>
              <a:tblGrid>
                <a:gridCol w="2729346"/>
                <a:gridCol w="2404830"/>
                <a:gridCol w="1647624"/>
              </a:tblGrid>
              <a:tr h="304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Task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Project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Score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OAK-7182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OAK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BEAM-2530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BEAM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ZOOKEEPER-107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ZOOKEEPER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IGNITE-2703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IGNITE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MNG-624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A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4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50" id="50"/>
          <p:cNvGrpSpPr/>
          <p:nvPr/>
        </p:nvGrpSpPr>
        <p:grpSpPr>
          <a:xfrm rot="0">
            <a:off x="8256651" y="3351276"/>
            <a:ext cx="9217914" cy="5779770"/>
            <a:chOff x="0" y="0"/>
            <a:chExt cx="12290552" cy="77063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290551" cy="7706360"/>
            </a:xfrm>
            <a:custGeom>
              <a:avLst/>
              <a:gdLst/>
              <a:ahLst/>
              <a:cxnLst/>
              <a:rect r="r" b="b" t="t" l="l"/>
              <a:pathLst>
                <a:path h="7706360" w="12290551">
                  <a:moveTo>
                    <a:pt x="0" y="195707"/>
                  </a:moveTo>
                  <a:cubicBezTo>
                    <a:pt x="0" y="87630"/>
                    <a:pt x="87630" y="0"/>
                    <a:pt x="195707" y="0"/>
                  </a:cubicBezTo>
                  <a:lnTo>
                    <a:pt x="12094845" y="0"/>
                  </a:lnTo>
                  <a:cubicBezTo>
                    <a:pt x="12202922" y="0"/>
                    <a:pt x="12290551" y="87630"/>
                    <a:pt x="12290551" y="195707"/>
                  </a:cubicBezTo>
                  <a:lnTo>
                    <a:pt x="12290551" y="7510653"/>
                  </a:lnTo>
                  <a:cubicBezTo>
                    <a:pt x="12290551" y="7618730"/>
                    <a:pt x="12202922" y="7706360"/>
                    <a:pt x="12094845" y="7706360"/>
                  </a:cubicBezTo>
                  <a:lnTo>
                    <a:pt x="195707" y="7706360"/>
                  </a:lnTo>
                  <a:cubicBezTo>
                    <a:pt x="87630" y="7706360"/>
                    <a:pt x="0" y="7618730"/>
                    <a:pt x="0" y="75106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8516607" y="3543681"/>
            <a:ext cx="8697992" cy="5394960"/>
            <a:chOff x="0" y="0"/>
            <a:chExt cx="11597322" cy="7193280"/>
          </a:xfrm>
        </p:grpSpPr>
        <p:sp>
          <p:nvSpPr>
            <p:cNvPr name="Freeform 53" id="53" descr="/home/claude/img/train_c40_6.png"/>
            <p:cNvSpPr/>
            <p:nvPr/>
          </p:nvSpPr>
          <p:spPr>
            <a:xfrm flipH="false" flipV="false" rot="0">
              <a:off x="0" y="0"/>
              <a:ext cx="11597386" cy="7193280"/>
            </a:xfrm>
            <a:custGeom>
              <a:avLst/>
              <a:gdLst/>
              <a:ahLst/>
              <a:cxnLst/>
              <a:rect r="r" b="b" t="t" l="l"/>
              <a:pathLst>
                <a:path h="7193280" w="11597386">
                  <a:moveTo>
                    <a:pt x="0" y="0"/>
                  </a:moveTo>
                  <a:lnTo>
                    <a:pt x="11597386" y="0"/>
                  </a:lnTo>
                  <a:lnTo>
                    <a:pt x="11597386" y="7193280"/>
                  </a:lnTo>
                  <a:lnTo>
                    <a:pt x="0" y="719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02336"/>
            <a:ext cx="5486400" cy="457200"/>
            <a:chOff x="0" y="0"/>
            <a:chExt cx="73152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3152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b="true" sz="1599" spc="599">
                  <a:solidFill>
                    <a:srgbClr val="4F6B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SCALEFLOW  ◇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14400"/>
            <a:ext cx="9144000" cy="402336"/>
            <a:chOff x="0" y="0"/>
            <a:chExt cx="12192000" cy="5364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92000" cy="536448"/>
            </a:xfrm>
            <a:custGeom>
              <a:avLst/>
              <a:gdLst/>
              <a:ahLst/>
              <a:cxnLst/>
              <a:rect r="r" b="b" t="t" l="l"/>
              <a:pathLst>
                <a:path h="536448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841" r="0" b="-3928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219200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b="true" sz="1599" spc="399">
                  <a:solidFill>
                    <a:srgbClr val="8B5C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TASK 03  ·  FINDINGS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403464" y="0"/>
            <a:ext cx="5884536" cy="4296271"/>
          </a:xfrm>
          <a:custGeom>
            <a:avLst/>
            <a:gdLst/>
            <a:ahLst/>
            <a:cxnLst/>
            <a:rect r="r" b="b" t="t" l="l"/>
            <a:pathLst>
              <a:path h="4296271" w="5884536">
                <a:moveTo>
                  <a:pt x="0" y="0"/>
                </a:moveTo>
                <a:lnTo>
                  <a:pt x="5884536" y="0"/>
                </a:lnTo>
                <a:lnTo>
                  <a:pt x="5884536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22960" y="1316736"/>
            <a:ext cx="13533120" cy="914400"/>
            <a:chOff x="0" y="0"/>
            <a:chExt cx="1804416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44161" cy="1219200"/>
            </a:xfrm>
            <a:custGeom>
              <a:avLst/>
              <a:gdLst/>
              <a:ahLst/>
              <a:cxnLst/>
              <a:rect r="r" b="b" t="t" l="l"/>
              <a:pathLst>
                <a:path h="1219200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378" r="0" b="-23837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8044160" cy="1209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What the Results Tell Us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2231136"/>
            <a:ext cx="13533120" cy="548640"/>
            <a:chOff x="0" y="0"/>
            <a:chExt cx="1804416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44161" cy="731520"/>
            </a:xfrm>
            <a:custGeom>
              <a:avLst/>
              <a:gdLst/>
              <a:ahLst/>
              <a:cxnLst/>
              <a:rect r="r" b="b" t="t" l="l"/>
              <a:pathLst>
                <a:path h="731520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630" r="0" b="-43063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80441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5B647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Why the supervised baselines are weak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13435" y="3793998"/>
            <a:ext cx="4371594" cy="2177034"/>
            <a:chOff x="0" y="0"/>
            <a:chExt cx="5828792" cy="29027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28792" cy="2902712"/>
            </a:xfrm>
            <a:custGeom>
              <a:avLst/>
              <a:gdLst/>
              <a:ahLst/>
              <a:cxnLst/>
              <a:rect r="r" b="b" t="t" l="l"/>
              <a:pathLst>
                <a:path h="2902712" w="5828792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5631942" y="0"/>
                  </a:lnTo>
                  <a:cubicBezTo>
                    <a:pt x="5740654" y="0"/>
                    <a:pt x="5828792" y="88138"/>
                    <a:pt x="5828792" y="196850"/>
                  </a:cubicBezTo>
                  <a:lnTo>
                    <a:pt x="5828792" y="2705862"/>
                  </a:lnTo>
                  <a:cubicBezTo>
                    <a:pt x="5828792" y="2814574"/>
                    <a:pt x="5740654" y="2902712"/>
                    <a:pt x="5631942" y="2902712"/>
                  </a:cubicBezTo>
                  <a:lnTo>
                    <a:pt x="196850" y="2902712"/>
                  </a:lnTo>
                  <a:cubicBezTo>
                    <a:pt x="88138" y="2902712"/>
                    <a:pt x="0" y="2814574"/>
                    <a:pt x="0" y="270586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84583" y="4046858"/>
            <a:ext cx="756923" cy="756923"/>
            <a:chOff x="0" y="0"/>
            <a:chExt cx="1009231" cy="10092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9142" cy="1009142"/>
            </a:xfrm>
            <a:custGeom>
              <a:avLst/>
              <a:gdLst/>
              <a:ahLst/>
              <a:cxnLst/>
              <a:rect r="r" b="b" t="t" l="l"/>
              <a:pathLst>
                <a:path h="1009142" w="1009142">
                  <a:moveTo>
                    <a:pt x="0" y="201803"/>
                  </a:moveTo>
                  <a:cubicBezTo>
                    <a:pt x="0" y="90424"/>
                    <a:pt x="90424" y="0"/>
                    <a:pt x="201803" y="0"/>
                  </a:cubicBezTo>
                  <a:lnTo>
                    <a:pt x="807339" y="0"/>
                  </a:lnTo>
                  <a:cubicBezTo>
                    <a:pt x="918845" y="0"/>
                    <a:pt x="1009142" y="90424"/>
                    <a:pt x="1009142" y="201803"/>
                  </a:cubicBezTo>
                  <a:lnTo>
                    <a:pt x="1009142" y="807339"/>
                  </a:lnTo>
                  <a:cubicBezTo>
                    <a:pt x="1009142" y="918845"/>
                    <a:pt x="918718" y="1009142"/>
                    <a:pt x="807339" y="1009142"/>
                  </a:cubicBezTo>
                  <a:lnTo>
                    <a:pt x="201803" y="1009142"/>
                  </a:lnTo>
                  <a:cubicBezTo>
                    <a:pt x="90424" y="1009269"/>
                    <a:pt x="0" y="918845"/>
                    <a:pt x="0" y="807339"/>
                  </a:cubicBezTo>
                  <a:close/>
                </a:path>
              </a:pathLst>
            </a:custGeom>
            <a:solidFill>
              <a:srgbClr val="EEF0FE"/>
            </a:solidFill>
            <a:ln w="25400" cap="sq">
              <a:solidFill>
                <a:srgbClr val="EEF0FE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58214" y="4220489"/>
            <a:ext cx="409651" cy="409651"/>
            <a:chOff x="0" y="0"/>
            <a:chExt cx="546202" cy="546202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546227" cy="546227"/>
            </a:xfrm>
            <a:custGeom>
              <a:avLst/>
              <a:gdLst/>
              <a:ahLst/>
              <a:cxnLst/>
              <a:rect r="r" b="b" t="t" l="l"/>
              <a:pathLst>
                <a:path h="546227" w="546227">
                  <a:moveTo>
                    <a:pt x="0" y="0"/>
                  </a:moveTo>
                  <a:lnTo>
                    <a:pt x="546227" y="0"/>
                  </a:lnTo>
                  <a:lnTo>
                    <a:pt x="546227" y="546227"/>
                  </a:lnTo>
                  <a:lnTo>
                    <a:pt x="0" y="546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4" b="4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011680" y="4059555"/>
            <a:ext cx="3017520" cy="731520"/>
            <a:chOff x="0" y="0"/>
            <a:chExt cx="402336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23360" cy="975360"/>
            </a:xfrm>
            <a:custGeom>
              <a:avLst/>
              <a:gdLst/>
              <a:ahLst/>
              <a:cxnLst/>
              <a:rect r="r" b="b" t="t" l="l"/>
              <a:pathLst>
                <a:path h="97536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402336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Little info at creation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97280" y="4918329"/>
            <a:ext cx="384048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Only 7 features — no text, assignee, workload or dependencies.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385435" y="3793998"/>
            <a:ext cx="4371594" cy="2177034"/>
            <a:chOff x="0" y="0"/>
            <a:chExt cx="5828792" cy="29027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828792" cy="2902712"/>
            </a:xfrm>
            <a:custGeom>
              <a:avLst/>
              <a:gdLst/>
              <a:ahLst/>
              <a:cxnLst/>
              <a:rect r="r" b="b" t="t" l="l"/>
              <a:pathLst>
                <a:path h="2902712" w="5828792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5631942" y="0"/>
                  </a:lnTo>
                  <a:cubicBezTo>
                    <a:pt x="5740654" y="0"/>
                    <a:pt x="5828792" y="88138"/>
                    <a:pt x="5828792" y="196850"/>
                  </a:cubicBezTo>
                  <a:lnTo>
                    <a:pt x="5828792" y="2705862"/>
                  </a:lnTo>
                  <a:cubicBezTo>
                    <a:pt x="5828792" y="2814574"/>
                    <a:pt x="5740654" y="2902712"/>
                    <a:pt x="5631942" y="2902712"/>
                  </a:cubicBezTo>
                  <a:lnTo>
                    <a:pt x="196850" y="2902712"/>
                  </a:lnTo>
                  <a:cubicBezTo>
                    <a:pt x="88138" y="2902712"/>
                    <a:pt x="0" y="2814574"/>
                    <a:pt x="0" y="270586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5656583" y="4046858"/>
            <a:ext cx="756923" cy="756923"/>
            <a:chOff x="0" y="0"/>
            <a:chExt cx="1009231" cy="10092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9142" cy="1009142"/>
            </a:xfrm>
            <a:custGeom>
              <a:avLst/>
              <a:gdLst/>
              <a:ahLst/>
              <a:cxnLst/>
              <a:rect r="r" b="b" t="t" l="l"/>
              <a:pathLst>
                <a:path h="1009142" w="1009142">
                  <a:moveTo>
                    <a:pt x="0" y="201803"/>
                  </a:moveTo>
                  <a:cubicBezTo>
                    <a:pt x="0" y="90424"/>
                    <a:pt x="90424" y="0"/>
                    <a:pt x="201803" y="0"/>
                  </a:cubicBezTo>
                  <a:lnTo>
                    <a:pt x="807339" y="0"/>
                  </a:lnTo>
                  <a:cubicBezTo>
                    <a:pt x="918845" y="0"/>
                    <a:pt x="1009142" y="90424"/>
                    <a:pt x="1009142" y="201803"/>
                  </a:cubicBezTo>
                  <a:lnTo>
                    <a:pt x="1009142" y="807339"/>
                  </a:lnTo>
                  <a:cubicBezTo>
                    <a:pt x="1009142" y="918845"/>
                    <a:pt x="918718" y="1009142"/>
                    <a:pt x="807339" y="1009142"/>
                  </a:cubicBezTo>
                  <a:lnTo>
                    <a:pt x="201803" y="1009142"/>
                  </a:lnTo>
                  <a:cubicBezTo>
                    <a:pt x="90424" y="1009269"/>
                    <a:pt x="0" y="918845"/>
                    <a:pt x="0" y="807339"/>
                  </a:cubicBezTo>
                  <a:close/>
                </a:path>
              </a:pathLst>
            </a:custGeom>
            <a:solidFill>
              <a:srgbClr val="EEF0FE"/>
            </a:solidFill>
            <a:ln w="25400" cap="sq">
              <a:solidFill>
                <a:srgbClr val="EEF0FE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5830214" y="4220489"/>
            <a:ext cx="409651" cy="409651"/>
            <a:chOff x="0" y="0"/>
            <a:chExt cx="546202" cy="546202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546227" cy="546227"/>
            </a:xfrm>
            <a:custGeom>
              <a:avLst/>
              <a:gdLst/>
              <a:ahLst/>
              <a:cxnLst/>
              <a:rect r="r" b="b" t="t" l="l"/>
              <a:pathLst>
                <a:path h="546227" w="546227">
                  <a:moveTo>
                    <a:pt x="0" y="0"/>
                  </a:moveTo>
                  <a:lnTo>
                    <a:pt x="546227" y="0"/>
                  </a:lnTo>
                  <a:lnTo>
                    <a:pt x="546227" y="546227"/>
                  </a:lnTo>
                  <a:lnTo>
                    <a:pt x="0" y="546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4" b="4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583680" y="4059555"/>
            <a:ext cx="3017520" cy="731520"/>
            <a:chOff x="0" y="0"/>
            <a:chExt cx="4023360" cy="975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23360" cy="975360"/>
            </a:xfrm>
            <a:custGeom>
              <a:avLst/>
              <a:gdLst/>
              <a:ahLst/>
              <a:cxnLst/>
              <a:rect r="r" b="b" t="t" l="l"/>
              <a:pathLst>
                <a:path h="97536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402336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Distribution shift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5669280" y="4918329"/>
            <a:ext cx="384048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Mean resolution 239 d (train) → 56 d (test).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13435" y="6171438"/>
            <a:ext cx="4371594" cy="2177034"/>
            <a:chOff x="0" y="0"/>
            <a:chExt cx="5828792" cy="290271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28792" cy="2902712"/>
            </a:xfrm>
            <a:custGeom>
              <a:avLst/>
              <a:gdLst/>
              <a:ahLst/>
              <a:cxnLst/>
              <a:rect r="r" b="b" t="t" l="l"/>
              <a:pathLst>
                <a:path h="2902712" w="5828792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5631942" y="0"/>
                  </a:lnTo>
                  <a:cubicBezTo>
                    <a:pt x="5740654" y="0"/>
                    <a:pt x="5828792" y="88138"/>
                    <a:pt x="5828792" y="196850"/>
                  </a:cubicBezTo>
                  <a:lnTo>
                    <a:pt x="5828792" y="2705862"/>
                  </a:lnTo>
                  <a:cubicBezTo>
                    <a:pt x="5828792" y="2814574"/>
                    <a:pt x="5740654" y="2902712"/>
                    <a:pt x="5631942" y="2902712"/>
                  </a:cubicBezTo>
                  <a:lnTo>
                    <a:pt x="196850" y="2902712"/>
                  </a:lnTo>
                  <a:cubicBezTo>
                    <a:pt x="88138" y="2902712"/>
                    <a:pt x="0" y="2814574"/>
                    <a:pt x="0" y="270586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84583" y="6424298"/>
            <a:ext cx="756923" cy="756923"/>
            <a:chOff x="0" y="0"/>
            <a:chExt cx="1009231" cy="100923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9142" cy="1009142"/>
            </a:xfrm>
            <a:custGeom>
              <a:avLst/>
              <a:gdLst/>
              <a:ahLst/>
              <a:cxnLst/>
              <a:rect r="r" b="b" t="t" l="l"/>
              <a:pathLst>
                <a:path h="1009142" w="1009142">
                  <a:moveTo>
                    <a:pt x="0" y="201803"/>
                  </a:moveTo>
                  <a:cubicBezTo>
                    <a:pt x="0" y="90424"/>
                    <a:pt x="90424" y="0"/>
                    <a:pt x="201803" y="0"/>
                  </a:cubicBezTo>
                  <a:lnTo>
                    <a:pt x="807339" y="0"/>
                  </a:lnTo>
                  <a:cubicBezTo>
                    <a:pt x="918845" y="0"/>
                    <a:pt x="1009142" y="90424"/>
                    <a:pt x="1009142" y="201803"/>
                  </a:cubicBezTo>
                  <a:lnTo>
                    <a:pt x="1009142" y="807339"/>
                  </a:lnTo>
                  <a:cubicBezTo>
                    <a:pt x="1009142" y="918845"/>
                    <a:pt x="918718" y="1009142"/>
                    <a:pt x="807339" y="1009142"/>
                  </a:cubicBezTo>
                  <a:lnTo>
                    <a:pt x="201803" y="1009142"/>
                  </a:lnTo>
                  <a:cubicBezTo>
                    <a:pt x="90424" y="1009269"/>
                    <a:pt x="0" y="918845"/>
                    <a:pt x="0" y="807339"/>
                  </a:cubicBezTo>
                  <a:close/>
                </a:path>
              </a:pathLst>
            </a:custGeom>
            <a:solidFill>
              <a:srgbClr val="EEF0FE"/>
            </a:solidFill>
            <a:ln w="25400" cap="sq">
              <a:solidFill>
                <a:srgbClr val="EEF0FE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58214" y="6597929"/>
            <a:ext cx="409651" cy="409651"/>
            <a:chOff x="0" y="0"/>
            <a:chExt cx="546202" cy="546202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546227" cy="546227"/>
            </a:xfrm>
            <a:custGeom>
              <a:avLst/>
              <a:gdLst/>
              <a:ahLst/>
              <a:cxnLst/>
              <a:rect r="r" b="b" t="t" l="l"/>
              <a:pathLst>
                <a:path h="546227" w="546227">
                  <a:moveTo>
                    <a:pt x="0" y="0"/>
                  </a:moveTo>
                  <a:lnTo>
                    <a:pt x="546227" y="0"/>
                  </a:lnTo>
                  <a:lnTo>
                    <a:pt x="546227" y="546227"/>
                  </a:lnTo>
                  <a:lnTo>
                    <a:pt x="0" y="546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4" b="4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011680" y="6436995"/>
            <a:ext cx="3017520" cy="731520"/>
            <a:chOff x="0" y="0"/>
            <a:chExt cx="4023360" cy="975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023360" cy="975360"/>
            </a:xfrm>
            <a:custGeom>
              <a:avLst/>
              <a:gdLst/>
              <a:ahLst/>
              <a:cxnLst/>
              <a:rect r="r" b="b" t="t" l="l"/>
              <a:pathLst>
                <a:path h="97536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402336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Right-censoring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097280" y="7295769"/>
            <a:ext cx="384048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Recent long issues are still open, so missing from test.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5385435" y="6171438"/>
            <a:ext cx="4371594" cy="2177034"/>
            <a:chOff x="0" y="0"/>
            <a:chExt cx="5828792" cy="290271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28792" cy="2902712"/>
            </a:xfrm>
            <a:custGeom>
              <a:avLst/>
              <a:gdLst/>
              <a:ahLst/>
              <a:cxnLst/>
              <a:rect r="r" b="b" t="t" l="l"/>
              <a:pathLst>
                <a:path h="2902712" w="5828792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5631942" y="0"/>
                  </a:lnTo>
                  <a:cubicBezTo>
                    <a:pt x="5740654" y="0"/>
                    <a:pt x="5828792" y="88138"/>
                    <a:pt x="5828792" y="196850"/>
                  </a:cubicBezTo>
                  <a:lnTo>
                    <a:pt x="5828792" y="2705862"/>
                  </a:lnTo>
                  <a:cubicBezTo>
                    <a:pt x="5828792" y="2814574"/>
                    <a:pt x="5740654" y="2902712"/>
                    <a:pt x="5631942" y="2902712"/>
                  </a:cubicBezTo>
                  <a:lnTo>
                    <a:pt x="196850" y="2902712"/>
                  </a:lnTo>
                  <a:cubicBezTo>
                    <a:pt x="88138" y="2902712"/>
                    <a:pt x="0" y="2814574"/>
                    <a:pt x="0" y="270586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5656583" y="6424298"/>
            <a:ext cx="756923" cy="756923"/>
            <a:chOff x="0" y="0"/>
            <a:chExt cx="1009231" cy="100923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09142" cy="1009142"/>
            </a:xfrm>
            <a:custGeom>
              <a:avLst/>
              <a:gdLst/>
              <a:ahLst/>
              <a:cxnLst/>
              <a:rect r="r" b="b" t="t" l="l"/>
              <a:pathLst>
                <a:path h="1009142" w="1009142">
                  <a:moveTo>
                    <a:pt x="0" y="201803"/>
                  </a:moveTo>
                  <a:cubicBezTo>
                    <a:pt x="0" y="90424"/>
                    <a:pt x="90424" y="0"/>
                    <a:pt x="201803" y="0"/>
                  </a:cubicBezTo>
                  <a:lnTo>
                    <a:pt x="807339" y="0"/>
                  </a:lnTo>
                  <a:cubicBezTo>
                    <a:pt x="918845" y="0"/>
                    <a:pt x="1009142" y="90424"/>
                    <a:pt x="1009142" y="201803"/>
                  </a:cubicBezTo>
                  <a:lnTo>
                    <a:pt x="1009142" y="807339"/>
                  </a:lnTo>
                  <a:cubicBezTo>
                    <a:pt x="1009142" y="918845"/>
                    <a:pt x="918718" y="1009142"/>
                    <a:pt x="807339" y="1009142"/>
                  </a:cubicBezTo>
                  <a:lnTo>
                    <a:pt x="201803" y="1009142"/>
                  </a:lnTo>
                  <a:cubicBezTo>
                    <a:pt x="90424" y="1009269"/>
                    <a:pt x="0" y="918845"/>
                    <a:pt x="0" y="807339"/>
                  </a:cubicBezTo>
                  <a:close/>
                </a:path>
              </a:pathLst>
            </a:custGeom>
            <a:solidFill>
              <a:srgbClr val="EEF0FE"/>
            </a:solidFill>
            <a:ln w="25400" cap="sq">
              <a:solidFill>
                <a:srgbClr val="EEF0FE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5830214" y="6597929"/>
            <a:ext cx="409651" cy="409651"/>
            <a:chOff x="0" y="0"/>
            <a:chExt cx="546202" cy="546202"/>
          </a:xfrm>
        </p:grpSpPr>
        <p:sp>
          <p:nvSpPr>
            <p:cNvPr name="Freeform 50" id="50" descr="preencoded.png"/>
            <p:cNvSpPr/>
            <p:nvPr/>
          </p:nvSpPr>
          <p:spPr>
            <a:xfrm flipH="false" flipV="false" rot="0">
              <a:off x="0" y="0"/>
              <a:ext cx="546227" cy="546227"/>
            </a:xfrm>
            <a:custGeom>
              <a:avLst/>
              <a:gdLst/>
              <a:ahLst/>
              <a:cxnLst/>
              <a:rect r="r" b="b" t="t" l="l"/>
              <a:pathLst>
                <a:path h="546227" w="546227">
                  <a:moveTo>
                    <a:pt x="0" y="0"/>
                  </a:moveTo>
                  <a:lnTo>
                    <a:pt x="546227" y="0"/>
                  </a:lnTo>
                  <a:lnTo>
                    <a:pt x="546227" y="546227"/>
                  </a:lnTo>
                  <a:lnTo>
                    <a:pt x="0" y="546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4" b="4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6583680" y="6436995"/>
            <a:ext cx="3017520" cy="731520"/>
            <a:chOff x="0" y="0"/>
            <a:chExt cx="4023360" cy="9753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023360" cy="975360"/>
            </a:xfrm>
            <a:custGeom>
              <a:avLst/>
              <a:gdLst/>
              <a:ahLst/>
              <a:cxnLst/>
              <a:rect r="r" b="b" t="t" l="l"/>
              <a:pathLst>
                <a:path h="97536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402336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 extrapolation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5669280" y="7295769"/>
            <a:ext cx="384048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created_year can’t generalise to unseen years.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0385679" y="3640121"/>
            <a:ext cx="7242763" cy="4708351"/>
            <a:chOff x="0" y="0"/>
            <a:chExt cx="9657017" cy="627780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657018" cy="6277802"/>
            </a:xfrm>
            <a:custGeom>
              <a:avLst/>
              <a:gdLst/>
              <a:ahLst/>
              <a:cxnLst/>
              <a:rect r="r" b="b" t="t" l="l"/>
              <a:pathLst>
                <a:path h="6277802" w="9657018">
                  <a:moveTo>
                    <a:pt x="0" y="334888"/>
                  </a:moveTo>
                  <a:cubicBezTo>
                    <a:pt x="0" y="149801"/>
                    <a:pt x="86788" y="0"/>
                    <a:pt x="194018" y="0"/>
                  </a:cubicBezTo>
                  <a:lnTo>
                    <a:pt x="9463000" y="0"/>
                  </a:lnTo>
                  <a:cubicBezTo>
                    <a:pt x="9570230" y="0"/>
                    <a:pt x="9657018" y="149801"/>
                    <a:pt x="9657018" y="334888"/>
                  </a:cubicBezTo>
                  <a:lnTo>
                    <a:pt x="9657018" y="5942913"/>
                  </a:lnTo>
                  <a:cubicBezTo>
                    <a:pt x="9657018" y="6127784"/>
                    <a:pt x="9570230" y="6277802"/>
                    <a:pt x="9463000" y="6277802"/>
                  </a:cubicBezTo>
                  <a:lnTo>
                    <a:pt x="194018" y="6277802"/>
                  </a:lnTo>
                  <a:cubicBezTo>
                    <a:pt x="86788" y="6277802"/>
                    <a:pt x="0" y="6128000"/>
                    <a:pt x="0" y="594291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7F7"/>
              </a:solidFill>
              <a:prstDash val="solid"/>
              <a:miter/>
            </a:ln>
          </p:spPr>
        </p:sp>
      </p:grpSp>
      <p:pic>
        <p:nvPicPr>
          <p:cNvPr name="Picture 57" id="5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206383" y="3117861"/>
            <a:ext cx="9126923" cy="57391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92640" y="0"/>
            <a:ext cx="8595360" cy="10287000"/>
            <a:chOff x="0" y="0"/>
            <a:chExt cx="11460480" cy="13716000"/>
          </a:xfrm>
        </p:grpSpPr>
        <p:sp>
          <p:nvSpPr>
            <p:cNvPr name="Freeform 3" id="3" descr="swirl.png"/>
            <p:cNvSpPr/>
            <p:nvPr/>
          </p:nvSpPr>
          <p:spPr>
            <a:xfrm flipH="false" flipV="false" rot="0">
              <a:off x="0" y="0"/>
              <a:ext cx="1146048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3" r="0" b="-1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48640"/>
            <a:ext cx="5486400" cy="457200"/>
            <a:chOff x="0" y="0"/>
            <a:chExt cx="73152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73152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b="true" sz="1599" spc="599">
                  <a:solidFill>
                    <a:srgbClr val="4F6B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SCALEFLOW  ◇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63040" y="3657600"/>
            <a:ext cx="9144000" cy="2158136"/>
            <a:chOff x="0" y="0"/>
            <a:chExt cx="12192000" cy="28775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92000" cy="2877515"/>
            </a:xfrm>
            <a:custGeom>
              <a:avLst/>
              <a:gdLst/>
              <a:ahLst/>
              <a:cxnLst/>
              <a:rect r="r" b="b" t="t" l="l"/>
              <a:pathLst>
                <a:path h="287751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2877515"/>
                  </a:lnTo>
                  <a:lnTo>
                    <a:pt x="0" y="28775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188" r="0" b="-2492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2192000" cy="2877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60"/>
                </a:lnSpc>
              </a:pPr>
              <a:r>
                <a:rPr lang="en-US" b="true" sz="10800">
                  <a:solidFill>
                    <a:srgbClr val="4F6B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Saba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3040" y="5486400"/>
            <a:ext cx="9144000" cy="731520"/>
            <a:chOff x="0" y="0"/>
            <a:chExt cx="1219200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920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219200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AI / ML Track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3040" y="6217920"/>
            <a:ext cx="9144000" cy="548640"/>
            <a:chOff x="0" y="0"/>
            <a:chExt cx="121920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9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21920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B647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ML</a:t>
              </a:r>
              <a:r>
                <a:rPr lang="en-US" sz="2000">
                  <a:solidFill>
                    <a:srgbClr val="5B647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models  ·  evaluation  ·  AI analysis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02336"/>
            <a:ext cx="7315200" cy="457200"/>
            <a:chOff x="0" y="0"/>
            <a:chExt cx="97536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97536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799">
                  <a:solidFill>
                    <a:srgbClr val="4A5B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SCALEFLOW  ◇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14400"/>
            <a:ext cx="14630400" cy="457200"/>
            <a:chOff x="0" y="0"/>
            <a:chExt cx="195072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507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99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TASK 01  ·  DATA PREPARATION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371600"/>
            <a:ext cx="16459200" cy="914400"/>
            <a:chOff x="0" y="0"/>
            <a:chExt cx="21945600" cy="121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B21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Preparing the Jira Ticket Data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2322576"/>
            <a:ext cx="16459200" cy="548640"/>
            <a:chOff x="0" y="0"/>
            <a:chExt cx="219456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B55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From raw tickets to a model-ready dataset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04875" y="3190875"/>
            <a:ext cx="3859530" cy="1573530"/>
            <a:chOff x="0" y="0"/>
            <a:chExt cx="5146040" cy="2098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46040" cy="2098040"/>
            </a:xfrm>
            <a:custGeom>
              <a:avLst/>
              <a:gdLst/>
              <a:ahLst/>
              <a:cxnLst/>
              <a:rect r="r" b="b" t="t" l="l"/>
              <a:pathLst>
                <a:path h="2098040" w="5146040">
                  <a:moveTo>
                    <a:pt x="0" y="296164"/>
                  </a:moveTo>
                  <a:cubicBezTo>
                    <a:pt x="0" y="132588"/>
                    <a:pt x="132588" y="0"/>
                    <a:pt x="296164" y="0"/>
                  </a:cubicBezTo>
                  <a:lnTo>
                    <a:pt x="4849876" y="0"/>
                  </a:lnTo>
                  <a:cubicBezTo>
                    <a:pt x="5013452" y="0"/>
                    <a:pt x="5146040" y="132588"/>
                    <a:pt x="5146040" y="296164"/>
                  </a:cubicBezTo>
                  <a:lnTo>
                    <a:pt x="5146040" y="1801876"/>
                  </a:lnTo>
                  <a:cubicBezTo>
                    <a:pt x="5146040" y="1965452"/>
                    <a:pt x="5013452" y="2098040"/>
                    <a:pt x="4849876" y="2098040"/>
                  </a:cubicBezTo>
                  <a:lnTo>
                    <a:pt x="296164" y="2098040"/>
                  </a:lnTo>
                  <a:cubicBezTo>
                    <a:pt x="132588" y="2098040"/>
                    <a:pt x="0" y="1965452"/>
                    <a:pt x="0" y="180187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8F5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76023" y="3553463"/>
            <a:ext cx="848363" cy="848363"/>
            <a:chOff x="0" y="0"/>
            <a:chExt cx="1131151" cy="11311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31189" cy="1131062"/>
            </a:xfrm>
            <a:custGeom>
              <a:avLst/>
              <a:gdLst/>
              <a:ahLst/>
              <a:cxnLst/>
              <a:rect r="r" b="b" t="t" l="l"/>
              <a:pathLst>
                <a:path h="1131062" w="1131189">
                  <a:moveTo>
                    <a:pt x="0" y="251333"/>
                  </a:moveTo>
                  <a:cubicBezTo>
                    <a:pt x="0" y="112522"/>
                    <a:pt x="112522" y="0"/>
                    <a:pt x="251333" y="0"/>
                  </a:cubicBezTo>
                  <a:lnTo>
                    <a:pt x="879729" y="0"/>
                  </a:lnTo>
                  <a:cubicBezTo>
                    <a:pt x="1018667" y="0"/>
                    <a:pt x="1131189" y="112522"/>
                    <a:pt x="1131189" y="251333"/>
                  </a:cubicBezTo>
                  <a:lnTo>
                    <a:pt x="1131189" y="879729"/>
                  </a:lnTo>
                  <a:cubicBezTo>
                    <a:pt x="1131189" y="1018540"/>
                    <a:pt x="1018667" y="1131062"/>
                    <a:pt x="879856" y="1131062"/>
                  </a:cubicBezTo>
                  <a:lnTo>
                    <a:pt x="251333" y="1131062"/>
                  </a:lnTo>
                  <a:cubicBezTo>
                    <a:pt x="112522" y="1131189"/>
                    <a:pt x="0" y="1018667"/>
                    <a:pt x="0" y="879729"/>
                  </a:cubicBezTo>
                  <a:close/>
                </a:path>
              </a:pathLst>
            </a:custGeom>
            <a:solidFill>
              <a:srgbClr val="ECEEFF"/>
            </a:solidFill>
            <a:ln w="25400" cap="sq">
              <a:solidFill>
                <a:srgbClr val="ECEE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410919" y="3788359"/>
            <a:ext cx="378562" cy="378562"/>
            <a:chOff x="0" y="0"/>
            <a:chExt cx="504749" cy="504749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504698" cy="504698"/>
            </a:xfrm>
            <a:custGeom>
              <a:avLst/>
              <a:gdLst/>
              <a:ahLst/>
              <a:cxnLst/>
              <a:rect r="r" b="b" t="t" l="l"/>
              <a:pathLst>
                <a:path h="504698" w="504698">
                  <a:moveTo>
                    <a:pt x="0" y="0"/>
                  </a:moveTo>
                  <a:lnTo>
                    <a:pt x="504698" y="0"/>
                  </a:lnTo>
                  <a:lnTo>
                    <a:pt x="504698" y="504698"/>
                  </a:lnTo>
                  <a:lnTo>
                    <a:pt x="0" y="504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0" b="-1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231136" y="3346704"/>
            <a:ext cx="2340864" cy="777240"/>
            <a:chOff x="0" y="0"/>
            <a:chExt cx="3121152" cy="1036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21152" cy="1036320"/>
            </a:xfrm>
            <a:custGeom>
              <a:avLst/>
              <a:gdLst/>
              <a:ahLst/>
              <a:cxnLst/>
              <a:rect r="r" b="b" t="t" l="l"/>
              <a:pathLst>
                <a:path h="103632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36320"/>
                  </a:lnTo>
                  <a:lnTo>
                    <a:pt x="0" y="1036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84" r="0" b="-868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121152" cy="10458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4A5B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1,192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231136" y="4036314"/>
            <a:ext cx="2340864" cy="67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clean tickets (from 1,193 raw)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111115" y="3190875"/>
            <a:ext cx="3859530" cy="1573530"/>
            <a:chOff x="0" y="0"/>
            <a:chExt cx="5146040" cy="2098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46040" cy="2098040"/>
            </a:xfrm>
            <a:custGeom>
              <a:avLst/>
              <a:gdLst/>
              <a:ahLst/>
              <a:cxnLst/>
              <a:rect r="r" b="b" t="t" l="l"/>
              <a:pathLst>
                <a:path h="2098040" w="5146040">
                  <a:moveTo>
                    <a:pt x="0" y="296164"/>
                  </a:moveTo>
                  <a:cubicBezTo>
                    <a:pt x="0" y="132588"/>
                    <a:pt x="132588" y="0"/>
                    <a:pt x="296164" y="0"/>
                  </a:cubicBezTo>
                  <a:lnTo>
                    <a:pt x="4849876" y="0"/>
                  </a:lnTo>
                  <a:cubicBezTo>
                    <a:pt x="5013452" y="0"/>
                    <a:pt x="5146040" y="132588"/>
                    <a:pt x="5146040" y="296164"/>
                  </a:cubicBezTo>
                  <a:lnTo>
                    <a:pt x="5146040" y="1801876"/>
                  </a:lnTo>
                  <a:cubicBezTo>
                    <a:pt x="5146040" y="1965452"/>
                    <a:pt x="5013452" y="2098040"/>
                    <a:pt x="4849876" y="2098040"/>
                  </a:cubicBezTo>
                  <a:lnTo>
                    <a:pt x="296164" y="2098040"/>
                  </a:lnTo>
                  <a:cubicBezTo>
                    <a:pt x="132588" y="2098040"/>
                    <a:pt x="0" y="1965452"/>
                    <a:pt x="0" y="180187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8F5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5382263" y="3553463"/>
            <a:ext cx="848363" cy="848363"/>
            <a:chOff x="0" y="0"/>
            <a:chExt cx="1131151" cy="11311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31189" cy="1131062"/>
            </a:xfrm>
            <a:custGeom>
              <a:avLst/>
              <a:gdLst/>
              <a:ahLst/>
              <a:cxnLst/>
              <a:rect r="r" b="b" t="t" l="l"/>
              <a:pathLst>
                <a:path h="1131062" w="1131189">
                  <a:moveTo>
                    <a:pt x="0" y="251333"/>
                  </a:moveTo>
                  <a:cubicBezTo>
                    <a:pt x="0" y="112522"/>
                    <a:pt x="112522" y="0"/>
                    <a:pt x="251333" y="0"/>
                  </a:cubicBezTo>
                  <a:lnTo>
                    <a:pt x="879729" y="0"/>
                  </a:lnTo>
                  <a:cubicBezTo>
                    <a:pt x="1018667" y="0"/>
                    <a:pt x="1131189" y="112522"/>
                    <a:pt x="1131189" y="251333"/>
                  </a:cubicBezTo>
                  <a:lnTo>
                    <a:pt x="1131189" y="879729"/>
                  </a:lnTo>
                  <a:cubicBezTo>
                    <a:pt x="1131189" y="1018540"/>
                    <a:pt x="1018667" y="1131062"/>
                    <a:pt x="879856" y="1131062"/>
                  </a:cubicBezTo>
                  <a:lnTo>
                    <a:pt x="251333" y="1131062"/>
                  </a:lnTo>
                  <a:cubicBezTo>
                    <a:pt x="112522" y="1131189"/>
                    <a:pt x="0" y="1018667"/>
                    <a:pt x="0" y="879729"/>
                  </a:cubicBezTo>
                  <a:close/>
                </a:path>
              </a:pathLst>
            </a:custGeom>
            <a:solidFill>
              <a:srgbClr val="ECEEFF"/>
            </a:solidFill>
            <a:ln w="25400" cap="sq">
              <a:solidFill>
                <a:srgbClr val="ECEEFF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5617159" y="3788359"/>
            <a:ext cx="378562" cy="378562"/>
            <a:chOff x="0" y="0"/>
            <a:chExt cx="504749" cy="504749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504698" cy="504698"/>
            </a:xfrm>
            <a:custGeom>
              <a:avLst/>
              <a:gdLst/>
              <a:ahLst/>
              <a:cxnLst/>
              <a:rect r="r" b="b" t="t" l="l"/>
              <a:pathLst>
                <a:path h="504698" w="504698">
                  <a:moveTo>
                    <a:pt x="0" y="0"/>
                  </a:moveTo>
                  <a:lnTo>
                    <a:pt x="504698" y="0"/>
                  </a:lnTo>
                  <a:lnTo>
                    <a:pt x="504698" y="504698"/>
                  </a:lnTo>
                  <a:lnTo>
                    <a:pt x="0" y="504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0" b="-1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437376" y="3346704"/>
            <a:ext cx="2340864" cy="777240"/>
            <a:chOff x="0" y="0"/>
            <a:chExt cx="3121152" cy="10363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21152" cy="1036320"/>
            </a:xfrm>
            <a:custGeom>
              <a:avLst/>
              <a:gdLst/>
              <a:ahLst/>
              <a:cxnLst/>
              <a:rect r="r" b="b" t="t" l="l"/>
              <a:pathLst>
                <a:path h="103632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36320"/>
                  </a:lnTo>
                  <a:lnTo>
                    <a:pt x="0" y="1036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84" r="0" b="-868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3121152" cy="10458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E0457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18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437376" y="4036314"/>
            <a:ext cx="2340864" cy="67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model features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317355" y="3190875"/>
            <a:ext cx="3859530" cy="1573530"/>
            <a:chOff x="0" y="0"/>
            <a:chExt cx="5146040" cy="2098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46040" cy="2098040"/>
            </a:xfrm>
            <a:custGeom>
              <a:avLst/>
              <a:gdLst/>
              <a:ahLst/>
              <a:cxnLst/>
              <a:rect r="r" b="b" t="t" l="l"/>
              <a:pathLst>
                <a:path h="2098040" w="5146040">
                  <a:moveTo>
                    <a:pt x="0" y="296164"/>
                  </a:moveTo>
                  <a:cubicBezTo>
                    <a:pt x="0" y="132588"/>
                    <a:pt x="132588" y="0"/>
                    <a:pt x="296164" y="0"/>
                  </a:cubicBezTo>
                  <a:lnTo>
                    <a:pt x="4849876" y="0"/>
                  </a:lnTo>
                  <a:cubicBezTo>
                    <a:pt x="5013452" y="0"/>
                    <a:pt x="5146040" y="132588"/>
                    <a:pt x="5146040" y="296164"/>
                  </a:cubicBezTo>
                  <a:lnTo>
                    <a:pt x="5146040" y="1801876"/>
                  </a:lnTo>
                  <a:cubicBezTo>
                    <a:pt x="5146040" y="1965452"/>
                    <a:pt x="5013452" y="2098040"/>
                    <a:pt x="4849876" y="2098040"/>
                  </a:cubicBezTo>
                  <a:lnTo>
                    <a:pt x="296164" y="2098040"/>
                  </a:lnTo>
                  <a:cubicBezTo>
                    <a:pt x="132588" y="2098040"/>
                    <a:pt x="0" y="1965452"/>
                    <a:pt x="0" y="180187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8F5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588503" y="3553463"/>
            <a:ext cx="848363" cy="848363"/>
            <a:chOff x="0" y="0"/>
            <a:chExt cx="1131151" cy="113115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31189" cy="1131062"/>
            </a:xfrm>
            <a:custGeom>
              <a:avLst/>
              <a:gdLst/>
              <a:ahLst/>
              <a:cxnLst/>
              <a:rect r="r" b="b" t="t" l="l"/>
              <a:pathLst>
                <a:path h="1131062" w="1131189">
                  <a:moveTo>
                    <a:pt x="0" y="251333"/>
                  </a:moveTo>
                  <a:cubicBezTo>
                    <a:pt x="0" y="112522"/>
                    <a:pt x="112522" y="0"/>
                    <a:pt x="251333" y="0"/>
                  </a:cubicBezTo>
                  <a:lnTo>
                    <a:pt x="879729" y="0"/>
                  </a:lnTo>
                  <a:cubicBezTo>
                    <a:pt x="1018667" y="0"/>
                    <a:pt x="1131189" y="112522"/>
                    <a:pt x="1131189" y="251333"/>
                  </a:cubicBezTo>
                  <a:lnTo>
                    <a:pt x="1131189" y="879729"/>
                  </a:lnTo>
                  <a:cubicBezTo>
                    <a:pt x="1131189" y="1018540"/>
                    <a:pt x="1018667" y="1131062"/>
                    <a:pt x="879856" y="1131062"/>
                  </a:cubicBezTo>
                  <a:lnTo>
                    <a:pt x="251333" y="1131062"/>
                  </a:lnTo>
                  <a:cubicBezTo>
                    <a:pt x="112522" y="1131189"/>
                    <a:pt x="0" y="1018667"/>
                    <a:pt x="0" y="879729"/>
                  </a:cubicBezTo>
                  <a:close/>
                </a:path>
              </a:pathLst>
            </a:custGeom>
            <a:solidFill>
              <a:srgbClr val="ECEEFF"/>
            </a:solidFill>
            <a:ln w="25400" cap="sq">
              <a:solidFill>
                <a:srgbClr val="ECEEF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823399" y="3788359"/>
            <a:ext cx="378562" cy="378562"/>
            <a:chOff x="0" y="0"/>
            <a:chExt cx="504749" cy="504749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504698" cy="504698"/>
            </a:xfrm>
            <a:custGeom>
              <a:avLst/>
              <a:gdLst/>
              <a:ahLst/>
              <a:cxnLst/>
              <a:rect r="r" b="b" t="t" l="l"/>
              <a:pathLst>
                <a:path h="504698" w="504698">
                  <a:moveTo>
                    <a:pt x="0" y="0"/>
                  </a:moveTo>
                  <a:lnTo>
                    <a:pt x="504698" y="0"/>
                  </a:lnTo>
                  <a:lnTo>
                    <a:pt x="504698" y="504698"/>
                  </a:lnTo>
                  <a:lnTo>
                    <a:pt x="0" y="504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0" b="-1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643616" y="3346704"/>
            <a:ext cx="2340864" cy="777240"/>
            <a:chOff x="0" y="0"/>
            <a:chExt cx="3121152" cy="10363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21152" cy="1036320"/>
            </a:xfrm>
            <a:custGeom>
              <a:avLst/>
              <a:gdLst/>
              <a:ahLst/>
              <a:cxnLst/>
              <a:rect r="r" b="b" t="t" l="l"/>
              <a:pathLst>
                <a:path h="103632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36320"/>
                  </a:lnTo>
                  <a:lnTo>
                    <a:pt x="0" y="1036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84" r="0" b="-868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3121152" cy="105537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953 / 239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643616" y="4036314"/>
            <a:ext cx="234086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train / validation / test, 80/20/20 stratified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3523595" y="3190875"/>
            <a:ext cx="3859530" cy="1573530"/>
            <a:chOff x="0" y="0"/>
            <a:chExt cx="5146040" cy="20980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46040" cy="2098040"/>
            </a:xfrm>
            <a:custGeom>
              <a:avLst/>
              <a:gdLst/>
              <a:ahLst/>
              <a:cxnLst/>
              <a:rect r="r" b="b" t="t" l="l"/>
              <a:pathLst>
                <a:path h="2098040" w="5146040">
                  <a:moveTo>
                    <a:pt x="0" y="296164"/>
                  </a:moveTo>
                  <a:cubicBezTo>
                    <a:pt x="0" y="132588"/>
                    <a:pt x="132588" y="0"/>
                    <a:pt x="296164" y="0"/>
                  </a:cubicBezTo>
                  <a:lnTo>
                    <a:pt x="4849876" y="0"/>
                  </a:lnTo>
                  <a:cubicBezTo>
                    <a:pt x="5013452" y="0"/>
                    <a:pt x="5146040" y="132588"/>
                    <a:pt x="5146040" y="296164"/>
                  </a:cubicBezTo>
                  <a:lnTo>
                    <a:pt x="5146040" y="1801876"/>
                  </a:lnTo>
                  <a:cubicBezTo>
                    <a:pt x="5146040" y="1965452"/>
                    <a:pt x="5013452" y="2098040"/>
                    <a:pt x="4849876" y="2098040"/>
                  </a:cubicBezTo>
                  <a:lnTo>
                    <a:pt x="296164" y="2098040"/>
                  </a:lnTo>
                  <a:cubicBezTo>
                    <a:pt x="132588" y="2098040"/>
                    <a:pt x="0" y="1965452"/>
                    <a:pt x="0" y="180187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8F5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3794743" y="3553463"/>
            <a:ext cx="848363" cy="848363"/>
            <a:chOff x="0" y="0"/>
            <a:chExt cx="1131151" cy="113115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31189" cy="1131062"/>
            </a:xfrm>
            <a:custGeom>
              <a:avLst/>
              <a:gdLst/>
              <a:ahLst/>
              <a:cxnLst/>
              <a:rect r="r" b="b" t="t" l="l"/>
              <a:pathLst>
                <a:path h="1131062" w="1131189">
                  <a:moveTo>
                    <a:pt x="0" y="251333"/>
                  </a:moveTo>
                  <a:cubicBezTo>
                    <a:pt x="0" y="112522"/>
                    <a:pt x="112522" y="0"/>
                    <a:pt x="251333" y="0"/>
                  </a:cubicBezTo>
                  <a:lnTo>
                    <a:pt x="879729" y="0"/>
                  </a:lnTo>
                  <a:cubicBezTo>
                    <a:pt x="1018667" y="0"/>
                    <a:pt x="1131189" y="112522"/>
                    <a:pt x="1131189" y="251333"/>
                  </a:cubicBezTo>
                  <a:lnTo>
                    <a:pt x="1131189" y="879729"/>
                  </a:lnTo>
                  <a:cubicBezTo>
                    <a:pt x="1131189" y="1018540"/>
                    <a:pt x="1018667" y="1131062"/>
                    <a:pt x="879856" y="1131062"/>
                  </a:cubicBezTo>
                  <a:lnTo>
                    <a:pt x="251333" y="1131062"/>
                  </a:lnTo>
                  <a:cubicBezTo>
                    <a:pt x="112522" y="1131189"/>
                    <a:pt x="0" y="1018667"/>
                    <a:pt x="0" y="879729"/>
                  </a:cubicBezTo>
                  <a:close/>
                </a:path>
              </a:pathLst>
            </a:custGeom>
            <a:solidFill>
              <a:srgbClr val="ECEEFF"/>
            </a:solidFill>
            <a:ln w="25400" cap="sq">
              <a:solidFill>
                <a:srgbClr val="ECEEFF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4029639" y="3788359"/>
            <a:ext cx="378562" cy="378562"/>
            <a:chOff x="0" y="0"/>
            <a:chExt cx="504749" cy="504749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504698" cy="504698"/>
            </a:xfrm>
            <a:custGeom>
              <a:avLst/>
              <a:gdLst/>
              <a:ahLst/>
              <a:cxnLst/>
              <a:rect r="r" b="b" t="t" l="l"/>
              <a:pathLst>
                <a:path h="504698" w="504698">
                  <a:moveTo>
                    <a:pt x="0" y="0"/>
                  </a:moveTo>
                  <a:lnTo>
                    <a:pt x="504698" y="0"/>
                  </a:lnTo>
                  <a:lnTo>
                    <a:pt x="504698" y="504698"/>
                  </a:lnTo>
                  <a:lnTo>
                    <a:pt x="0" y="504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0" b="-1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849856" y="3346704"/>
            <a:ext cx="2340864" cy="777240"/>
            <a:chOff x="0" y="0"/>
            <a:chExt cx="3121152" cy="10363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121152" cy="1036320"/>
            </a:xfrm>
            <a:custGeom>
              <a:avLst/>
              <a:gdLst/>
              <a:ahLst/>
              <a:cxnLst/>
              <a:rect r="r" b="b" t="t" l="l"/>
              <a:pathLst>
                <a:path h="103632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036320"/>
                  </a:lnTo>
                  <a:lnTo>
                    <a:pt x="0" y="1036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84" r="0" b="-868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3121152" cy="105537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4A5B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 classes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4849856" y="4036314"/>
            <a:ext cx="2340864" cy="67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Fast ≤30d · Medium · Slow &gt;365d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04875" y="5019675"/>
            <a:ext cx="8065770" cy="3676650"/>
            <a:chOff x="0" y="0"/>
            <a:chExt cx="10754360" cy="4902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754360" cy="4902200"/>
            </a:xfrm>
            <a:custGeom>
              <a:avLst/>
              <a:gdLst/>
              <a:ahLst/>
              <a:cxnLst/>
              <a:rect r="r" b="b" t="t" l="l"/>
              <a:pathLst>
                <a:path h="4902200" w="10754360">
                  <a:moveTo>
                    <a:pt x="0" y="294132"/>
                  </a:moveTo>
                  <a:cubicBezTo>
                    <a:pt x="0" y="131699"/>
                    <a:pt x="131699" y="0"/>
                    <a:pt x="294132" y="0"/>
                  </a:cubicBezTo>
                  <a:lnTo>
                    <a:pt x="10460228" y="0"/>
                  </a:lnTo>
                  <a:cubicBezTo>
                    <a:pt x="10622661" y="0"/>
                    <a:pt x="10754360" y="131699"/>
                    <a:pt x="10754360" y="294132"/>
                  </a:cubicBezTo>
                  <a:lnTo>
                    <a:pt x="10754360" y="4608068"/>
                  </a:lnTo>
                  <a:cubicBezTo>
                    <a:pt x="10754360" y="4770501"/>
                    <a:pt x="10622661" y="4902200"/>
                    <a:pt x="10460228" y="4902200"/>
                  </a:cubicBezTo>
                  <a:lnTo>
                    <a:pt x="294132" y="4902200"/>
                  </a:lnTo>
                  <a:cubicBezTo>
                    <a:pt x="131699" y="4902200"/>
                    <a:pt x="0" y="4770501"/>
                    <a:pt x="0" y="460806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8F5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280160" y="5248656"/>
            <a:ext cx="7315200" cy="548640"/>
            <a:chOff x="0" y="0"/>
            <a:chExt cx="975360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9753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21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Cleaning &amp; target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280160" y="5924550"/>
            <a:ext cx="7315200" cy="257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59" indent="-26543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Masked URLs, IPs, hashes and numbers in text</a:t>
            </a:r>
          </a:p>
          <a:p>
            <a:pPr algn="l" marL="530859" indent="-26543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Truncated long descriptions to 3,000 characters</a:t>
            </a:r>
          </a:p>
          <a:p>
            <a:pPr algn="l" marL="530859" indent="-26543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Dropped duplicates, invalid dates and 1 pre-2019 outlier</a:t>
            </a:r>
          </a:p>
          <a:p>
            <a:pPr algn="l" marL="530859" indent="-26543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Target = Resolved − Created, cut at 30 / 365 days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9317355" y="5019675"/>
            <a:ext cx="8065770" cy="3676650"/>
            <a:chOff x="0" y="0"/>
            <a:chExt cx="10754360" cy="4902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754360" cy="4902200"/>
            </a:xfrm>
            <a:custGeom>
              <a:avLst/>
              <a:gdLst/>
              <a:ahLst/>
              <a:cxnLst/>
              <a:rect r="r" b="b" t="t" l="l"/>
              <a:pathLst>
                <a:path h="4902200" w="10754360">
                  <a:moveTo>
                    <a:pt x="0" y="294132"/>
                  </a:moveTo>
                  <a:cubicBezTo>
                    <a:pt x="0" y="131699"/>
                    <a:pt x="131699" y="0"/>
                    <a:pt x="294132" y="0"/>
                  </a:cubicBezTo>
                  <a:lnTo>
                    <a:pt x="10460228" y="0"/>
                  </a:lnTo>
                  <a:cubicBezTo>
                    <a:pt x="10622661" y="0"/>
                    <a:pt x="10754360" y="131699"/>
                    <a:pt x="10754360" y="294132"/>
                  </a:cubicBezTo>
                  <a:lnTo>
                    <a:pt x="10754360" y="4608068"/>
                  </a:lnTo>
                  <a:cubicBezTo>
                    <a:pt x="10754360" y="4770501"/>
                    <a:pt x="10622661" y="4902200"/>
                    <a:pt x="10460228" y="4902200"/>
                  </a:cubicBezTo>
                  <a:lnTo>
                    <a:pt x="294132" y="4902200"/>
                  </a:lnTo>
                  <a:cubicBezTo>
                    <a:pt x="131699" y="4902200"/>
                    <a:pt x="0" y="4770501"/>
                    <a:pt x="0" y="460806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8F5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9692640" y="5248656"/>
            <a:ext cx="7315200" cy="548640"/>
            <a:chOff x="0" y="0"/>
            <a:chExt cx="975360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9753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21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CV accuracy by feature group</a:t>
              </a:r>
            </a:p>
          </p:txBody>
        </p:sp>
      </p:grpSp>
      <p:pic>
        <p:nvPicPr>
          <p:cNvPr name="Picture 65" id="6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741664" y="5029200"/>
            <a:ext cx="9217152" cy="4279392"/>
          </a:xfrm>
          <a:prstGeom prst="rect">
            <a:avLst/>
          </a:prstGeom>
        </p:spPr>
      </p:pic>
      <p:grpSp>
        <p:nvGrpSpPr>
          <p:cNvPr name="Group 66" id="66"/>
          <p:cNvGrpSpPr/>
          <p:nvPr/>
        </p:nvGrpSpPr>
        <p:grpSpPr>
          <a:xfrm rot="0">
            <a:off x="904875" y="8951595"/>
            <a:ext cx="16478250" cy="842010"/>
            <a:chOff x="0" y="0"/>
            <a:chExt cx="21971000" cy="11226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1971000" cy="1122680"/>
            </a:xfrm>
            <a:custGeom>
              <a:avLst/>
              <a:gdLst/>
              <a:ahLst/>
              <a:cxnLst/>
              <a:rect r="r" b="b" t="t" l="l"/>
              <a:pathLst>
                <a:path h="1122680" w="21971000">
                  <a:moveTo>
                    <a:pt x="0" y="299339"/>
                  </a:moveTo>
                  <a:cubicBezTo>
                    <a:pt x="0" y="133985"/>
                    <a:pt x="133985" y="0"/>
                    <a:pt x="299339" y="0"/>
                  </a:cubicBezTo>
                  <a:lnTo>
                    <a:pt x="21671662" y="0"/>
                  </a:lnTo>
                  <a:cubicBezTo>
                    <a:pt x="21837014" y="0"/>
                    <a:pt x="21971000" y="133985"/>
                    <a:pt x="21971000" y="299339"/>
                  </a:cubicBezTo>
                  <a:lnTo>
                    <a:pt x="21971000" y="823341"/>
                  </a:lnTo>
                  <a:cubicBezTo>
                    <a:pt x="21971000" y="988695"/>
                    <a:pt x="21837014" y="1122680"/>
                    <a:pt x="21671662" y="1122680"/>
                  </a:cubicBezTo>
                  <a:lnTo>
                    <a:pt x="299339" y="1122680"/>
                  </a:lnTo>
                  <a:cubicBezTo>
                    <a:pt x="133985" y="1122680"/>
                    <a:pt x="0" y="988695"/>
                    <a:pt x="0" y="823341"/>
                  </a:cubicBezTo>
                  <a:close/>
                </a:path>
              </a:pathLst>
            </a:custGeom>
            <a:solidFill>
              <a:srgbClr val="E9E6FB"/>
            </a:solidFill>
            <a:ln w="19050" cap="sq">
              <a:solidFill>
                <a:srgbClr val="DCD7F7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243584" y="9144000"/>
            <a:ext cx="457200" cy="457200"/>
            <a:chOff x="0" y="0"/>
            <a:chExt cx="609600" cy="609600"/>
          </a:xfrm>
        </p:grpSpPr>
        <p:sp>
          <p:nvSpPr>
            <p:cNvPr name="Freeform 69" id="69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2011680" y="8961120"/>
            <a:ext cx="15179040" cy="822960"/>
            <a:chOff x="0" y="0"/>
            <a:chExt cx="20238720" cy="10972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0238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390" r="0" b="-30939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202387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B21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rule: </a:t>
              </a:r>
              <a:r>
                <a:rPr lang="en-US" sz="2199">
                  <a:solidFill>
                    <a:srgbClr val="1B2140"/>
                  </a:solidFill>
                  <a:latin typeface="Arial"/>
                  <a:ea typeface="Arial"/>
                  <a:cs typeface="Arial"/>
                  <a:sym typeface="Arial"/>
                </a:rPr>
                <a:t>majority-class baseline is 57.4% — every model must beat it.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02336"/>
            <a:ext cx="7315200" cy="457200"/>
            <a:chOff x="0" y="0"/>
            <a:chExt cx="97536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97536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799">
                  <a:solidFill>
                    <a:srgbClr val="4A5B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SCALEFLOW  ◇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14400"/>
            <a:ext cx="14630400" cy="457200"/>
            <a:chOff x="0" y="0"/>
            <a:chExt cx="195072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507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99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TASK 02  ·  BASELINE MODELS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371600"/>
            <a:ext cx="16459200" cy="914400"/>
            <a:chOff x="0" y="0"/>
            <a:chExt cx="21945600" cy="121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B21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Resolution-Time Prediction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2322576"/>
            <a:ext cx="16459200" cy="548640"/>
            <a:chOff x="0" y="0"/>
            <a:chExt cx="219456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B55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Fast / Medium / Slow classification on Jira tickets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04875" y="3190875"/>
            <a:ext cx="10562659" cy="5981143"/>
            <a:chOff x="0" y="0"/>
            <a:chExt cx="12705080" cy="71942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705080" cy="7194296"/>
            </a:xfrm>
            <a:custGeom>
              <a:avLst/>
              <a:gdLst/>
              <a:ahLst/>
              <a:cxnLst/>
              <a:rect r="r" b="b" t="t" l="l"/>
              <a:pathLst>
                <a:path h="7194296" w="12705080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12411456" y="0"/>
                  </a:lnTo>
                  <a:cubicBezTo>
                    <a:pt x="12573636" y="0"/>
                    <a:pt x="12705080" y="131445"/>
                    <a:pt x="12705080" y="293624"/>
                  </a:cubicBezTo>
                  <a:lnTo>
                    <a:pt x="12705080" y="6900672"/>
                  </a:lnTo>
                  <a:cubicBezTo>
                    <a:pt x="12705080" y="7062851"/>
                    <a:pt x="12573636" y="7194296"/>
                    <a:pt x="12411456" y="7194296"/>
                  </a:cubicBezTo>
                  <a:lnTo>
                    <a:pt x="293624" y="7194296"/>
                  </a:lnTo>
                  <a:cubicBezTo>
                    <a:pt x="131445" y="7194296"/>
                    <a:pt x="0" y="7062851"/>
                    <a:pt x="0" y="690067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8F5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280160" y="3419856"/>
            <a:ext cx="8778240" cy="548640"/>
            <a:chOff x="0" y="0"/>
            <a:chExt cx="1170432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7043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17043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21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Cross-validated accuracy (%)</a:t>
              </a:r>
            </a:p>
          </p:txBody>
        </p:sp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5183" y="2924613"/>
            <a:ext cx="12526601" cy="6446102"/>
          </a:xfrm>
          <a:prstGeom prst="rect">
            <a:avLst/>
          </a:prstGeom>
        </p:spPr>
      </p:pic>
      <p:grpSp>
        <p:nvGrpSpPr>
          <p:cNvPr name="Group 20" id="20"/>
          <p:cNvGrpSpPr/>
          <p:nvPr/>
        </p:nvGrpSpPr>
        <p:grpSpPr>
          <a:xfrm rot="0">
            <a:off x="914400" y="9418432"/>
            <a:ext cx="16478250" cy="842010"/>
            <a:chOff x="0" y="0"/>
            <a:chExt cx="21971000" cy="1122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71000" cy="1122680"/>
            </a:xfrm>
            <a:custGeom>
              <a:avLst/>
              <a:gdLst/>
              <a:ahLst/>
              <a:cxnLst/>
              <a:rect r="r" b="b" t="t" l="l"/>
              <a:pathLst>
                <a:path h="1122680" w="21971000">
                  <a:moveTo>
                    <a:pt x="0" y="299339"/>
                  </a:moveTo>
                  <a:cubicBezTo>
                    <a:pt x="0" y="133985"/>
                    <a:pt x="133985" y="0"/>
                    <a:pt x="299339" y="0"/>
                  </a:cubicBezTo>
                  <a:lnTo>
                    <a:pt x="21671662" y="0"/>
                  </a:lnTo>
                  <a:cubicBezTo>
                    <a:pt x="21837014" y="0"/>
                    <a:pt x="21971000" y="133985"/>
                    <a:pt x="21971000" y="299339"/>
                  </a:cubicBezTo>
                  <a:lnTo>
                    <a:pt x="21971000" y="823341"/>
                  </a:lnTo>
                  <a:cubicBezTo>
                    <a:pt x="21971000" y="988695"/>
                    <a:pt x="21837014" y="1122680"/>
                    <a:pt x="21671662" y="1122680"/>
                  </a:cubicBezTo>
                  <a:lnTo>
                    <a:pt x="299339" y="1122680"/>
                  </a:lnTo>
                  <a:cubicBezTo>
                    <a:pt x="133985" y="1122680"/>
                    <a:pt x="0" y="988695"/>
                    <a:pt x="0" y="823341"/>
                  </a:cubicBezTo>
                  <a:close/>
                </a:path>
              </a:pathLst>
            </a:custGeom>
            <a:solidFill>
              <a:srgbClr val="E9E6FB"/>
            </a:solidFill>
            <a:ln w="19050" cap="sq">
              <a:solidFill>
                <a:srgbClr val="DCD7F7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53109" y="9610837"/>
            <a:ext cx="457200" cy="457200"/>
            <a:chOff x="0" y="0"/>
            <a:chExt cx="609600" cy="6096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021205" y="9427957"/>
            <a:ext cx="15179040" cy="822960"/>
            <a:chOff x="0" y="0"/>
            <a:chExt cx="2023872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238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390" r="0" b="-30939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202387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B21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Result: </a:t>
              </a:r>
              <a:r>
                <a:rPr lang="en-US" sz="2199">
                  <a:solidFill>
                    <a:srgbClr val="1B2140"/>
                  </a:solidFill>
                  <a:latin typeface="Arial"/>
                  <a:ea typeface="Arial"/>
                  <a:cs typeface="Arial"/>
                  <a:sym typeface="Arial"/>
                </a:rPr>
                <a:t>+31 points over the 57.3% baseline; 99.6% of predictions within one class.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85270" y="3419856"/>
            <a:ext cx="6602730" cy="1315574"/>
            <a:chOff x="0" y="0"/>
            <a:chExt cx="8803640" cy="175409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803640" cy="1754099"/>
            </a:xfrm>
            <a:custGeom>
              <a:avLst/>
              <a:gdLst/>
              <a:ahLst/>
              <a:cxnLst/>
              <a:rect r="r" b="b" t="t" l="l"/>
              <a:pathLst>
                <a:path h="1754099" w="8803640">
                  <a:moveTo>
                    <a:pt x="0" y="233913"/>
                  </a:moveTo>
                  <a:cubicBezTo>
                    <a:pt x="0" y="104664"/>
                    <a:pt x="132461" y="0"/>
                    <a:pt x="296037" y="0"/>
                  </a:cubicBezTo>
                  <a:lnTo>
                    <a:pt x="8507603" y="0"/>
                  </a:lnTo>
                  <a:cubicBezTo>
                    <a:pt x="8671052" y="0"/>
                    <a:pt x="8803640" y="104664"/>
                    <a:pt x="8803640" y="233913"/>
                  </a:cubicBezTo>
                  <a:lnTo>
                    <a:pt x="8803640" y="1520185"/>
                  </a:lnTo>
                  <a:cubicBezTo>
                    <a:pt x="8803640" y="1649334"/>
                    <a:pt x="8671179" y="1754099"/>
                    <a:pt x="8507603" y="1754099"/>
                  </a:cubicBezTo>
                  <a:lnTo>
                    <a:pt x="296037" y="1754099"/>
                  </a:lnTo>
                  <a:cubicBezTo>
                    <a:pt x="132461" y="1754099"/>
                    <a:pt x="0" y="1649435"/>
                    <a:pt x="0" y="152018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8F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956413" y="3638879"/>
            <a:ext cx="848363" cy="848363"/>
            <a:chOff x="0" y="0"/>
            <a:chExt cx="1131151" cy="113115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31189" cy="1131062"/>
            </a:xfrm>
            <a:custGeom>
              <a:avLst/>
              <a:gdLst/>
              <a:ahLst/>
              <a:cxnLst/>
              <a:rect r="r" b="b" t="t" l="l"/>
              <a:pathLst>
                <a:path h="1131062" w="1131189">
                  <a:moveTo>
                    <a:pt x="0" y="251333"/>
                  </a:moveTo>
                  <a:cubicBezTo>
                    <a:pt x="0" y="112522"/>
                    <a:pt x="112522" y="0"/>
                    <a:pt x="251333" y="0"/>
                  </a:cubicBezTo>
                  <a:lnTo>
                    <a:pt x="879729" y="0"/>
                  </a:lnTo>
                  <a:cubicBezTo>
                    <a:pt x="1018667" y="0"/>
                    <a:pt x="1131189" y="112522"/>
                    <a:pt x="1131189" y="251333"/>
                  </a:cubicBezTo>
                  <a:lnTo>
                    <a:pt x="1131189" y="879729"/>
                  </a:lnTo>
                  <a:cubicBezTo>
                    <a:pt x="1131189" y="1018540"/>
                    <a:pt x="1018667" y="1131062"/>
                    <a:pt x="879856" y="1131062"/>
                  </a:cubicBezTo>
                  <a:lnTo>
                    <a:pt x="251333" y="1131062"/>
                  </a:lnTo>
                  <a:cubicBezTo>
                    <a:pt x="112522" y="1131189"/>
                    <a:pt x="0" y="1018667"/>
                    <a:pt x="0" y="879729"/>
                  </a:cubicBezTo>
                  <a:close/>
                </a:path>
              </a:pathLst>
            </a:custGeom>
            <a:solidFill>
              <a:srgbClr val="ECEEFF"/>
            </a:solidFill>
            <a:ln w="25400" cap="sq">
              <a:solidFill>
                <a:srgbClr val="ECEEF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191314" y="3888362"/>
            <a:ext cx="378562" cy="378562"/>
            <a:chOff x="0" y="0"/>
            <a:chExt cx="504749" cy="504749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504698" cy="504698"/>
            </a:xfrm>
            <a:custGeom>
              <a:avLst/>
              <a:gdLst/>
              <a:ahLst/>
              <a:cxnLst/>
              <a:rect r="r" b="b" t="t" l="l"/>
              <a:pathLst>
                <a:path h="504698" w="504698">
                  <a:moveTo>
                    <a:pt x="0" y="0"/>
                  </a:moveTo>
                  <a:lnTo>
                    <a:pt x="504698" y="0"/>
                  </a:lnTo>
                  <a:lnTo>
                    <a:pt x="504698" y="504698"/>
                  </a:lnTo>
                  <a:lnTo>
                    <a:pt x="0" y="504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0" b="-1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011531" y="3575685"/>
            <a:ext cx="5084064" cy="908224"/>
            <a:chOff x="0" y="0"/>
            <a:chExt cx="6778752" cy="121096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778752" cy="1210965"/>
            </a:xfrm>
            <a:custGeom>
              <a:avLst/>
              <a:gdLst/>
              <a:ahLst/>
              <a:cxnLst/>
              <a:rect r="r" b="b" t="t" l="l"/>
              <a:pathLst>
                <a:path h="1210965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1210965"/>
                  </a:lnTo>
                  <a:lnTo>
                    <a:pt x="0" y="12109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67" r="0" b="-5437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6778752" cy="123001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4A5B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88.7%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3011531" y="4315587"/>
            <a:ext cx="508406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Test accuracy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685270" y="5033887"/>
            <a:ext cx="6602730" cy="1507084"/>
            <a:chOff x="0" y="0"/>
            <a:chExt cx="8803640" cy="200944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803640" cy="2009445"/>
            </a:xfrm>
            <a:custGeom>
              <a:avLst/>
              <a:gdLst/>
              <a:ahLst/>
              <a:cxnLst/>
              <a:rect r="r" b="b" t="t" l="l"/>
              <a:pathLst>
                <a:path h="2009445" w="8803640">
                  <a:moveTo>
                    <a:pt x="0" y="267964"/>
                  </a:moveTo>
                  <a:cubicBezTo>
                    <a:pt x="0" y="119900"/>
                    <a:pt x="132461" y="0"/>
                    <a:pt x="296037" y="0"/>
                  </a:cubicBezTo>
                  <a:lnTo>
                    <a:pt x="8507603" y="0"/>
                  </a:lnTo>
                  <a:cubicBezTo>
                    <a:pt x="8671052" y="0"/>
                    <a:pt x="8803640" y="119900"/>
                    <a:pt x="8803640" y="267964"/>
                  </a:cubicBezTo>
                  <a:lnTo>
                    <a:pt x="8803640" y="1741481"/>
                  </a:lnTo>
                  <a:cubicBezTo>
                    <a:pt x="8803640" y="1889430"/>
                    <a:pt x="8671179" y="2009445"/>
                    <a:pt x="8507603" y="2009445"/>
                  </a:cubicBezTo>
                  <a:lnTo>
                    <a:pt x="296037" y="2009445"/>
                  </a:lnTo>
                  <a:cubicBezTo>
                    <a:pt x="132461" y="2009445"/>
                    <a:pt x="0" y="1889545"/>
                    <a:pt x="0" y="174148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8F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1956418" y="5442196"/>
            <a:ext cx="848363" cy="848363"/>
            <a:chOff x="0" y="0"/>
            <a:chExt cx="1131151" cy="113115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31189" cy="1131062"/>
            </a:xfrm>
            <a:custGeom>
              <a:avLst/>
              <a:gdLst/>
              <a:ahLst/>
              <a:cxnLst/>
              <a:rect r="r" b="b" t="t" l="l"/>
              <a:pathLst>
                <a:path h="1131062" w="1131189">
                  <a:moveTo>
                    <a:pt x="0" y="251333"/>
                  </a:moveTo>
                  <a:cubicBezTo>
                    <a:pt x="0" y="112522"/>
                    <a:pt x="112522" y="0"/>
                    <a:pt x="251333" y="0"/>
                  </a:cubicBezTo>
                  <a:lnTo>
                    <a:pt x="879729" y="0"/>
                  </a:lnTo>
                  <a:cubicBezTo>
                    <a:pt x="1018667" y="0"/>
                    <a:pt x="1131189" y="112522"/>
                    <a:pt x="1131189" y="251333"/>
                  </a:cubicBezTo>
                  <a:lnTo>
                    <a:pt x="1131189" y="879729"/>
                  </a:lnTo>
                  <a:cubicBezTo>
                    <a:pt x="1131189" y="1018540"/>
                    <a:pt x="1018667" y="1131062"/>
                    <a:pt x="879856" y="1131062"/>
                  </a:cubicBezTo>
                  <a:lnTo>
                    <a:pt x="251333" y="1131062"/>
                  </a:lnTo>
                  <a:cubicBezTo>
                    <a:pt x="112522" y="1131189"/>
                    <a:pt x="0" y="1018667"/>
                    <a:pt x="0" y="879729"/>
                  </a:cubicBezTo>
                  <a:close/>
                </a:path>
              </a:pathLst>
            </a:custGeom>
            <a:solidFill>
              <a:srgbClr val="ECEEFF"/>
            </a:solidFill>
            <a:ln w="25400" cap="sq">
              <a:solidFill>
                <a:srgbClr val="ECEEFF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3011531" y="5189716"/>
            <a:ext cx="5084064" cy="908224"/>
            <a:chOff x="0" y="0"/>
            <a:chExt cx="6778752" cy="121096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778752" cy="1210965"/>
            </a:xfrm>
            <a:custGeom>
              <a:avLst/>
              <a:gdLst/>
              <a:ahLst/>
              <a:cxnLst/>
              <a:rect r="r" b="b" t="t" l="l"/>
              <a:pathLst>
                <a:path h="1210965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1210965"/>
                  </a:lnTo>
                  <a:lnTo>
                    <a:pt x="0" y="12109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67" r="0" b="-5437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6778752" cy="123001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6D4AE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83.6%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3011531" y="5929618"/>
            <a:ext cx="508406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macro F1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1685270" y="6836246"/>
            <a:ext cx="6602730" cy="1507084"/>
            <a:chOff x="0" y="0"/>
            <a:chExt cx="8803640" cy="200944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803640" cy="2009445"/>
            </a:xfrm>
            <a:custGeom>
              <a:avLst/>
              <a:gdLst/>
              <a:ahLst/>
              <a:cxnLst/>
              <a:rect r="r" b="b" t="t" l="l"/>
              <a:pathLst>
                <a:path h="2009445" w="8803640">
                  <a:moveTo>
                    <a:pt x="0" y="267964"/>
                  </a:moveTo>
                  <a:cubicBezTo>
                    <a:pt x="0" y="119900"/>
                    <a:pt x="132461" y="0"/>
                    <a:pt x="296037" y="0"/>
                  </a:cubicBezTo>
                  <a:lnTo>
                    <a:pt x="8507603" y="0"/>
                  </a:lnTo>
                  <a:cubicBezTo>
                    <a:pt x="8671052" y="0"/>
                    <a:pt x="8803640" y="119900"/>
                    <a:pt x="8803640" y="267964"/>
                  </a:cubicBezTo>
                  <a:lnTo>
                    <a:pt x="8803640" y="1741481"/>
                  </a:lnTo>
                  <a:cubicBezTo>
                    <a:pt x="8803640" y="1889430"/>
                    <a:pt x="8671179" y="2009445"/>
                    <a:pt x="8507603" y="2009445"/>
                  </a:cubicBezTo>
                  <a:lnTo>
                    <a:pt x="296037" y="2009445"/>
                  </a:lnTo>
                  <a:cubicBezTo>
                    <a:pt x="132461" y="2009445"/>
                    <a:pt x="0" y="1889545"/>
                    <a:pt x="0" y="174148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8F5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1956418" y="7244554"/>
            <a:ext cx="848363" cy="848363"/>
            <a:chOff x="0" y="0"/>
            <a:chExt cx="1131151" cy="113115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31189" cy="1131062"/>
            </a:xfrm>
            <a:custGeom>
              <a:avLst/>
              <a:gdLst/>
              <a:ahLst/>
              <a:cxnLst/>
              <a:rect r="r" b="b" t="t" l="l"/>
              <a:pathLst>
                <a:path h="1131062" w="1131189">
                  <a:moveTo>
                    <a:pt x="0" y="251333"/>
                  </a:moveTo>
                  <a:cubicBezTo>
                    <a:pt x="0" y="112522"/>
                    <a:pt x="112522" y="0"/>
                    <a:pt x="251333" y="0"/>
                  </a:cubicBezTo>
                  <a:lnTo>
                    <a:pt x="879729" y="0"/>
                  </a:lnTo>
                  <a:cubicBezTo>
                    <a:pt x="1018667" y="0"/>
                    <a:pt x="1131189" y="112522"/>
                    <a:pt x="1131189" y="251333"/>
                  </a:cubicBezTo>
                  <a:lnTo>
                    <a:pt x="1131189" y="879729"/>
                  </a:lnTo>
                  <a:cubicBezTo>
                    <a:pt x="1131189" y="1018540"/>
                    <a:pt x="1018667" y="1131062"/>
                    <a:pt x="879856" y="1131062"/>
                  </a:cubicBezTo>
                  <a:lnTo>
                    <a:pt x="251333" y="1131062"/>
                  </a:lnTo>
                  <a:cubicBezTo>
                    <a:pt x="112522" y="1131189"/>
                    <a:pt x="0" y="1018667"/>
                    <a:pt x="0" y="879729"/>
                  </a:cubicBezTo>
                  <a:close/>
                </a:path>
              </a:pathLst>
            </a:custGeom>
            <a:solidFill>
              <a:srgbClr val="ECEEFF"/>
            </a:solidFill>
            <a:ln w="25400" cap="sq">
              <a:solidFill>
                <a:srgbClr val="ECEEFF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3011531" y="6992075"/>
            <a:ext cx="5084064" cy="908224"/>
            <a:chOff x="0" y="0"/>
            <a:chExt cx="6778752" cy="121096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778752" cy="1210965"/>
            </a:xfrm>
            <a:custGeom>
              <a:avLst/>
              <a:gdLst/>
              <a:ahLst/>
              <a:cxnLst/>
              <a:rect r="r" b="b" t="t" l="l"/>
              <a:pathLst>
                <a:path h="1210965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1210965"/>
                  </a:lnTo>
                  <a:lnTo>
                    <a:pt x="0" y="12109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67" r="0" b="-5437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6778752" cy="123001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E0457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</a:t>
              </a:r>
              <a:r>
                <a:rPr lang="en-US" sz="4400" b="true">
                  <a:solidFill>
                    <a:srgbClr val="E0457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.953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3011531" y="7731977"/>
            <a:ext cx="508406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ROC-AUC 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2191314" y="7479455"/>
            <a:ext cx="378562" cy="378562"/>
            <a:chOff x="0" y="0"/>
            <a:chExt cx="504749" cy="504749"/>
          </a:xfrm>
        </p:grpSpPr>
        <p:sp>
          <p:nvSpPr>
            <p:cNvPr name="Freeform 54" id="54" descr="preencoded.png"/>
            <p:cNvSpPr/>
            <p:nvPr/>
          </p:nvSpPr>
          <p:spPr>
            <a:xfrm flipH="false" flipV="false" rot="0">
              <a:off x="0" y="0"/>
              <a:ext cx="504698" cy="504698"/>
            </a:xfrm>
            <a:custGeom>
              <a:avLst/>
              <a:gdLst/>
              <a:ahLst/>
              <a:cxnLst/>
              <a:rect r="r" b="b" t="t" l="l"/>
              <a:pathLst>
                <a:path h="504698" w="504698">
                  <a:moveTo>
                    <a:pt x="0" y="0"/>
                  </a:moveTo>
                  <a:lnTo>
                    <a:pt x="504698" y="0"/>
                  </a:lnTo>
                  <a:lnTo>
                    <a:pt x="504698" y="504698"/>
                  </a:lnTo>
                  <a:lnTo>
                    <a:pt x="0" y="504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0" b="-1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191314" y="5677096"/>
            <a:ext cx="378562" cy="378562"/>
            <a:chOff x="0" y="0"/>
            <a:chExt cx="504749" cy="504749"/>
          </a:xfrm>
        </p:grpSpPr>
        <p:sp>
          <p:nvSpPr>
            <p:cNvPr name="Freeform 56" id="56" descr="preencoded.png"/>
            <p:cNvSpPr/>
            <p:nvPr/>
          </p:nvSpPr>
          <p:spPr>
            <a:xfrm flipH="false" flipV="false" rot="0">
              <a:off x="0" y="0"/>
              <a:ext cx="504698" cy="504698"/>
            </a:xfrm>
            <a:custGeom>
              <a:avLst/>
              <a:gdLst/>
              <a:ahLst/>
              <a:cxnLst/>
              <a:rect r="r" b="b" t="t" l="l"/>
              <a:pathLst>
                <a:path h="504698" w="504698">
                  <a:moveTo>
                    <a:pt x="0" y="0"/>
                  </a:moveTo>
                  <a:lnTo>
                    <a:pt x="504698" y="0"/>
                  </a:lnTo>
                  <a:lnTo>
                    <a:pt x="504698" y="504698"/>
                  </a:lnTo>
                  <a:lnTo>
                    <a:pt x="0" y="504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0" b="-10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02336"/>
            <a:ext cx="7315200" cy="457200"/>
            <a:chOff x="0" y="0"/>
            <a:chExt cx="97536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97536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799">
                  <a:solidFill>
                    <a:srgbClr val="4A5B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SCALEFLOW  ◇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14400"/>
            <a:ext cx="14630400" cy="457200"/>
            <a:chOff x="0" y="0"/>
            <a:chExt cx="195072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5072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99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TASK 03  ·  BOTTLENECK DETECTION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371600"/>
            <a:ext cx="16459200" cy="914400"/>
            <a:chOff x="0" y="0"/>
            <a:chExt cx="21945600" cy="121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B21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Detecting Bottleneck Issues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2322576"/>
            <a:ext cx="16459200" cy="548640"/>
            <a:chOff x="0" y="0"/>
            <a:chExt cx="219456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B55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Unsupervised Isolation Forest — no labeled bottlenecks exist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04875" y="3190875"/>
            <a:ext cx="3164586" cy="2487930"/>
            <a:chOff x="0" y="0"/>
            <a:chExt cx="4219448" cy="331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19448" cy="3317240"/>
            </a:xfrm>
            <a:custGeom>
              <a:avLst/>
              <a:gdLst/>
              <a:ahLst/>
              <a:cxnLst/>
              <a:rect r="r" b="b" t="t" l="l"/>
              <a:pathLst>
                <a:path h="3317240" w="4219448">
                  <a:moveTo>
                    <a:pt x="0" y="294894"/>
                  </a:moveTo>
                  <a:cubicBezTo>
                    <a:pt x="0" y="132080"/>
                    <a:pt x="132080" y="0"/>
                    <a:pt x="294894" y="0"/>
                  </a:cubicBezTo>
                  <a:lnTo>
                    <a:pt x="3924554" y="0"/>
                  </a:lnTo>
                  <a:cubicBezTo>
                    <a:pt x="4087368" y="0"/>
                    <a:pt x="4219448" y="132080"/>
                    <a:pt x="4219448" y="294894"/>
                  </a:cubicBezTo>
                  <a:lnTo>
                    <a:pt x="4219448" y="3022346"/>
                  </a:lnTo>
                  <a:cubicBezTo>
                    <a:pt x="4219448" y="3185160"/>
                    <a:pt x="4087368" y="3317240"/>
                    <a:pt x="3924554" y="3317240"/>
                  </a:cubicBezTo>
                  <a:lnTo>
                    <a:pt x="294894" y="3317240"/>
                  </a:lnTo>
                  <a:cubicBezTo>
                    <a:pt x="132080" y="3317240"/>
                    <a:pt x="0" y="3185160"/>
                    <a:pt x="0" y="302234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8F5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21159" y="3407159"/>
            <a:ext cx="756923" cy="756923"/>
            <a:chOff x="0" y="0"/>
            <a:chExt cx="1009231" cy="10092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252349"/>
                  </a:moveTo>
                  <a:cubicBezTo>
                    <a:pt x="0" y="112903"/>
                    <a:pt x="112903" y="0"/>
                    <a:pt x="252349" y="0"/>
                  </a:cubicBezTo>
                  <a:lnTo>
                    <a:pt x="756920" y="0"/>
                  </a:lnTo>
                  <a:cubicBezTo>
                    <a:pt x="896239" y="0"/>
                    <a:pt x="1009269" y="112903"/>
                    <a:pt x="1009269" y="252349"/>
                  </a:cubicBezTo>
                  <a:lnTo>
                    <a:pt x="1009269" y="756920"/>
                  </a:lnTo>
                  <a:cubicBezTo>
                    <a:pt x="1009269" y="896239"/>
                    <a:pt x="896366" y="1009269"/>
                    <a:pt x="756920" y="1009269"/>
                  </a:cubicBezTo>
                  <a:lnTo>
                    <a:pt x="252349" y="1009269"/>
                  </a:lnTo>
                  <a:cubicBezTo>
                    <a:pt x="112903" y="1009269"/>
                    <a:pt x="0" y="896239"/>
                    <a:pt x="0" y="756920"/>
                  </a:cubicBezTo>
                  <a:close/>
                </a:path>
              </a:pathLst>
            </a:custGeom>
            <a:solidFill>
              <a:srgbClr val="ECEEFF"/>
            </a:solidFill>
            <a:ln w="25400" cap="sq">
              <a:solidFill>
                <a:srgbClr val="ECEE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331366" y="3617366"/>
            <a:ext cx="336499" cy="336499"/>
            <a:chOff x="0" y="0"/>
            <a:chExt cx="448666" cy="448666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448691" cy="448691"/>
            </a:xfrm>
            <a:custGeom>
              <a:avLst/>
              <a:gdLst/>
              <a:ahLst/>
              <a:cxnLst/>
              <a:rect r="r" b="b" t="t" l="l"/>
              <a:pathLst>
                <a:path h="448691" w="448691">
                  <a:moveTo>
                    <a:pt x="0" y="0"/>
                  </a:moveTo>
                  <a:lnTo>
                    <a:pt x="448691" y="0"/>
                  </a:lnTo>
                  <a:lnTo>
                    <a:pt x="448691" y="448691"/>
                  </a:lnTo>
                  <a:lnTo>
                    <a:pt x="0" y="448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5" b="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33856" y="4279392"/>
            <a:ext cx="2779776" cy="457200"/>
            <a:chOff x="0" y="0"/>
            <a:chExt cx="3706368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06368" cy="609600"/>
            </a:xfrm>
            <a:custGeom>
              <a:avLst/>
              <a:gdLst/>
              <a:ahLst/>
              <a:cxnLst/>
              <a:rect r="r" b="b" t="t" l="l"/>
              <a:pathLst>
                <a:path h="60960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469" r="0" b="-6846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3706368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B21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Time &amp; Duration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33856" y="4718304"/>
            <a:ext cx="2779776" cy="365760"/>
            <a:chOff x="0" y="0"/>
            <a:chExt cx="3706368" cy="487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706368" cy="487680"/>
            </a:xfrm>
            <a:custGeom>
              <a:avLst/>
              <a:gdLst/>
              <a:ahLst/>
              <a:cxnLst/>
              <a:rect r="r" b="b" t="t" l="l"/>
              <a:pathLst>
                <a:path h="48768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3706368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4A5B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 features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33856" y="5065014"/>
            <a:ext cx="2779776" cy="53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cycle time, age, worklogs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233291" y="3190875"/>
            <a:ext cx="3164586" cy="2487930"/>
            <a:chOff x="0" y="0"/>
            <a:chExt cx="4219448" cy="3317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19448" cy="3317240"/>
            </a:xfrm>
            <a:custGeom>
              <a:avLst/>
              <a:gdLst/>
              <a:ahLst/>
              <a:cxnLst/>
              <a:rect r="r" b="b" t="t" l="l"/>
              <a:pathLst>
                <a:path h="3317240" w="4219448">
                  <a:moveTo>
                    <a:pt x="0" y="294894"/>
                  </a:moveTo>
                  <a:cubicBezTo>
                    <a:pt x="0" y="132080"/>
                    <a:pt x="132080" y="0"/>
                    <a:pt x="294894" y="0"/>
                  </a:cubicBezTo>
                  <a:lnTo>
                    <a:pt x="3924554" y="0"/>
                  </a:lnTo>
                  <a:cubicBezTo>
                    <a:pt x="4087368" y="0"/>
                    <a:pt x="4219448" y="132080"/>
                    <a:pt x="4219448" y="294894"/>
                  </a:cubicBezTo>
                  <a:lnTo>
                    <a:pt x="4219448" y="3022346"/>
                  </a:lnTo>
                  <a:cubicBezTo>
                    <a:pt x="4219448" y="3185160"/>
                    <a:pt x="4087368" y="3317240"/>
                    <a:pt x="3924554" y="3317240"/>
                  </a:cubicBezTo>
                  <a:lnTo>
                    <a:pt x="294894" y="3317240"/>
                  </a:lnTo>
                  <a:cubicBezTo>
                    <a:pt x="132080" y="3317240"/>
                    <a:pt x="0" y="3185160"/>
                    <a:pt x="0" y="302234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8F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4449575" y="3407159"/>
            <a:ext cx="756923" cy="756923"/>
            <a:chOff x="0" y="0"/>
            <a:chExt cx="1009231" cy="10092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252349"/>
                  </a:moveTo>
                  <a:cubicBezTo>
                    <a:pt x="0" y="112903"/>
                    <a:pt x="112903" y="0"/>
                    <a:pt x="252349" y="0"/>
                  </a:cubicBezTo>
                  <a:lnTo>
                    <a:pt x="756920" y="0"/>
                  </a:lnTo>
                  <a:cubicBezTo>
                    <a:pt x="896239" y="0"/>
                    <a:pt x="1009269" y="112903"/>
                    <a:pt x="1009269" y="252349"/>
                  </a:cubicBezTo>
                  <a:lnTo>
                    <a:pt x="1009269" y="756920"/>
                  </a:lnTo>
                  <a:cubicBezTo>
                    <a:pt x="1009269" y="896239"/>
                    <a:pt x="896366" y="1009269"/>
                    <a:pt x="756920" y="1009269"/>
                  </a:cubicBezTo>
                  <a:lnTo>
                    <a:pt x="252349" y="1009269"/>
                  </a:lnTo>
                  <a:cubicBezTo>
                    <a:pt x="112903" y="1009269"/>
                    <a:pt x="0" y="896239"/>
                    <a:pt x="0" y="756920"/>
                  </a:cubicBezTo>
                  <a:close/>
                </a:path>
              </a:pathLst>
            </a:custGeom>
            <a:solidFill>
              <a:srgbClr val="ECEEFF"/>
            </a:solidFill>
            <a:ln w="25400" cap="sq">
              <a:solidFill>
                <a:srgbClr val="ECEEF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4659782" y="3617366"/>
            <a:ext cx="336499" cy="336499"/>
            <a:chOff x="0" y="0"/>
            <a:chExt cx="448666" cy="448666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448691" cy="448691"/>
            </a:xfrm>
            <a:custGeom>
              <a:avLst/>
              <a:gdLst/>
              <a:ahLst/>
              <a:cxnLst/>
              <a:rect r="r" b="b" t="t" l="l"/>
              <a:pathLst>
                <a:path h="448691" w="448691">
                  <a:moveTo>
                    <a:pt x="0" y="0"/>
                  </a:moveTo>
                  <a:lnTo>
                    <a:pt x="448691" y="0"/>
                  </a:lnTo>
                  <a:lnTo>
                    <a:pt x="448691" y="448691"/>
                  </a:lnTo>
                  <a:lnTo>
                    <a:pt x="0" y="448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5" b="5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462272" y="4279392"/>
            <a:ext cx="2779776" cy="457200"/>
            <a:chOff x="0" y="0"/>
            <a:chExt cx="3706368" cy="609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706368" cy="609600"/>
            </a:xfrm>
            <a:custGeom>
              <a:avLst/>
              <a:gdLst/>
              <a:ahLst/>
              <a:cxnLst/>
              <a:rect r="r" b="b" t="t" l="l"/>
              <a:pathLst>
                <a:path h="60960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469" r="0" b="-6846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3706368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B21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Process Friction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462272" y="4718304"/>
            <a:ext cx="2779776" cy="365760"/>
            <a:chOff x="0" y="0"/>
            <a:chExt cx="3706368" cy="4876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706368" cy="487680"/>
            </a:xfrm>
            <a:custGeom>
              <a:avLst/>
              <a:gdLst/>
              <a:ahLst/>
              <a:cxnLst/>
              <a:rect r="r" b="b" t="t" l="l"/>
              <a:pathLst>
                <a:path h="48768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3706368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0457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 features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4462272" y="5065014"/>
            <a:ext cx="2779776" cy="53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reassignments, reopens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7561707" y="3190875"/>
            <a:ext cx="3164586" cy="2487930"/>
            <a:chOff x="0" y="0"/>
            <a:chExt cx="4219448" cy="3317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19448" cy="3317240"/>
            </a:xfrm>
            <a:custGeom>
              <a:avLst/>
              <a:gdLst/>
              <a:ahLst/>
              <a:cxnLst/>
              <a:rect r="r" b="b" t="t" l="l"/>
              <a:pathLst>
                <a:path h="3317240" w="4219448">
                  <a:moveTo>
                    <a:pt x="0" y="294894"/>
                  </a:moveTo>
                  <a:cubicBezTo>
                    <a:pt x="0" y="132080"/>
                    <a:pt x="132080" y="0"/>
                    <a:pt x="294894" y="0"/>
                  </a:cubicBezTo>
                  <a:lnTo>
                    <a:pt x="3924554" y="0"/>
                  </a:lnTo>
                  <a:cubicBezTo>
                    <a:pt x="4087368" y="0"/>
                    <a:pt x="4219448" y="132080"/>
                    <a:pt x="4219448" y="294894"/>
                  </a:cubicBezTo>
                  <a:lnTo>
                    <a:pt x="4219448" y="3022346"/>
                  </a:lnTo>
                  <a:cubicBezTo>
                    <a:pt x="4219448" y="3185160"/>
                    <a:pt x="4087368" y="3317240"/>
                    <a:pt x="3924554" y="3317240"/>
                  </a:cubicBezTo>
                  <a:lnTo>
                    <a:pt x="294894" y="3317240"/>
                  </a:lnTo>
                  <a:cubicBezTo>
                    <a:pt x="132080" y="3317240"/>
                    <a:pt x="0" y="3185160"/>
                    <a:pt x="0" y="302234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8F5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7777991" y="3407159"/>
            <a:ext cx="756923" cy="756923"/>
            <a:chOff x="0" y="0"/>
            <a:chExt cx="1009231" cy="100923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252349"/>
                  </a:moveTo>
                  <a:cubicBezTo>
                    <a:pt x="0" y="112903"/>
                    <a:pt x="112903" y="0"/>
                    <a:pt x="252349" y="0"/>
                  </a:cubicBezTo>
                  <a:lnTo>
                    <a:pt x="756920" y="0"/>
                  </a:lnTo>
                  <a:cubicBezTo>
                    <a:pt x="896239" y="0"/>
                    <a:pt x="1009269" y="112903"/>
                    <a:pt x="1009269" y="252349"/>
                  </a:cubicBezTo>
                  <a:lnTo>
                    <a:pt x="1009269" y="756920"/>
                  </a:lnTo>
                  <a:cubicBezTo>
                    <a:pt x="1009269" y="896239"/>
                    <a:pt x="896366" y="1009269"/>
                    <a:pt x="756920" y="1009269"/>
                  </a:cubicBezTo>
                  <a:lnTo>
                    <a:pt x="252349" y="1009269"/>
                  </a:lnTo>
                  <a:cubicBezTo>
                    <a:pt x="112903" y="1009269"/>
                    <a:pt x="0" y="896239"/>
                    <a:pt x="0" y="756920"/>
                  </a:cubicBezTo>
                  <a:close/>
                </a:path>
              </a:pathLst>
            </a:custGeom>
            <a:solidFill>
              <a:srgbClr val="ECEEFF"/>
            </a:solidFill>
            <a:ln w="25400" cap="sq">
              <a:solidFill>
                <a:srgbClr val="ECEEF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7988198" y="3617366"/>
            <a:ext cx="336499" cy="336499"/>
            <a:chOff x="0" y="0"/>
            <a:chExt cx="448666" cy="448666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448691" cy="448691"/>
            </a:xfrm>
            <a:custGeom>
              <a:avLst/>
              <a:gdLst/>
              <a:ahLst/>
              <a:cxnLst/>
              <a:rect r="r" b="b" t="t" l="l"/>
              <a:pathLst>
                <a:path h="448691" w="448691">
                  <a:moveTo>
                    <a:pt x="0" y="0"/>
                  </a:moveTo>
                  <a:lnTo>
                    <a:pt x="448691" y="0"/>
                  </a:lnTo>
                  <a:lnTo>
                    <a:pt x="448691" y="448691"/>
                  </a:lnTo>
                  <a:lnTo>
                    <a:pt x="0" y="448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5" b="5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790688" y="4279392"/>
            <a:ext cx="2779776" cy="457200"/>
            <a:chOff x="0" y="0"/>
            <a:chExt cx="3706368" cy="609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706368" cy="609600"/>
            </a:xfrm>
            <a:custGeom>
              <a:avLst/>
              <a:gdLst/>
              <a:ahLst/>
              <a:cxnLst/>
              <a:rect r="r" b="b" t="t" l="l"/>
              <a:pathLst>
                <a:path h="60960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469" r="0" b="-6846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3706368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B21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Dependencies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790688" y="4718304"/>
            <a:ext cx="2779776" cy="365760"/>
            <a:chOff x="0" y="0"/>
            <a:chExt cx="3706368" cy="4876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706368" cy="487680"/>
            </a:xfrm>
            <a:custGeom>
              <a:avLst/>
              <a:gdLst/>
              <a:ahLst/>
              <a:cxnLst/>
              <a:rect r="r" b="b" t="t" l="l"/>
              <a:pathLst>
                <a:path h="48768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3706368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4A5B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 features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7790688" y="5065014"/>
            <a:ext cx="2779776" cy="53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blocking / blocked-by, links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0890123" y="3190875"/>
            <a:ext cx="3164586" cy="2487930"/>
            <a:chOff x="0" y="0"/>
            <a:chExt cx="4219448" cy="33172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219448" cy="3317240"/>
            </a:xfrm>
            <a:custGeom>
              <a:avLst/>
              <a:gdLst/>
              <a:ahLst/>
              <a:cxnLst/>
              <a:rect r="r" b="b" t="t" l="l"/>
              <a:pathLst>
                <a:path h="3317240" w="4219448">
                  <a:moveTo>
                    <a:pt x="0" y="294894"/>
                  </a:moveTo>
                  <a:cubicBezTo>
                    <a:pt x="0" y="132080"/>
                    <a:pt x="132080" y="0"/>
                    <a:pt x="294894" y="0"/>
                  </a:cubicBezTo>
                  <a:lnTo>
                    <a:pt x="3924554" y="0"/>
                  </a:lnTo>
                  <a:cubicBezTo>
                    <a:pt x="4087368" y="0"/>
                    <a:pt x="4219448" y="132080"/>
                    <a:pt x="4219448" y="294894"/>
                  </a:cubicBezTo>
                  <a:lnTo>
                    <a:pt x="4219448" y="3022346"/>
                  </a:lnTo>
                  <a:cubicBezTo>
                    <a:pt x="4219448" y="3185160"/>
                    <a:pt x="4087368" y="3317240"/>
                    <a:pt x="3924554" y="3317240"/>
                  </a:cubicBezTo>
                  <a:lnTo>
                    <a:pt x="294894" y="3317240"/>
                  </a:lnTo>
                  <a:cubicBezTo>
                    <a:pt x="132080" y="3317240"/>
                    <a:pt x="0" y="3185160"/>
                    <a:pt x="0" y="302234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8F5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1106407" y="3407159"/>
            <a:ext cx="756923" cy="756923"/>
            <a:chOff x="0" y="0"/>
            <a:chExt cx="1009231" cy="100923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252349"/>
                  </a:moveTo>
                  <a:cubicBezTo>
                    <a:pt x="0" y="112903"/>
                    <a:pt x="112903" y="0"/>
                    <a:pt x="252349" y="0"/>
                  </a:cubicBezTo>
                  <a:lnTo>
                    <a:pt x="756920" y="0"/>
                  </a:lnTo>
                  <a:cubicBezTo>
                    <a:pt x="896239" y="0"/>
                    <a:pt x="1009269" y="112903"/>
                    <a:pt x="1009269" y="252349"/>
                  </a:cubicBezTo>
                  <a:lnTo>
                    <a:pt x="1009269" y="756920"/>
                  </a:lnTo>
                  <a:cubicBezTo>
                    <a:pt x="1009269" y="896239"/>
                    <a:pt x="896366" y="1009269"/>
                    <a:pt x="756920" y="1009269"/>
                  </a:cubicBezTo>
                  <a:lnTo>
                    <a:pt x="252349" y="1009269"/>
                  </a:lnTo>
                  <a:cubicBezTo>
                    <a:pt x="112903" y="1009269"/>
                    <a:pt x="0" y="896239"/>
                    <a:pt x="0" y="756920"/>
                  </a:cubicBezTo>
                  <a:close/>
                </a:path>
              </a:pathLst>
            </a:custGeom>
            <a:solidFill>
              <a:srgbClr val="ECEEFF"/>
            </a:solidFill>
            <a:ln w="25400" cap="sq">
              <a:solidFill>
                <a:srgbClr val="ECEEFF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1316614" y="3617366"/>
            <a:ext cx="336499" cy="336499"/>
            <a:chOff x="0" y="0"/>
            <a:chExt cx="448666" cy="448666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448691" cy="448691"/>
            </a:xfrm>
            <a:custGeom>
              <a:avLst/>
              <a:gdLst/>
              <a:ahLst/>
              <a:cxnLst/>
              <a:rect r="r" b="b" t="t" l="l"/>
              <a:pathLst>
                <a:path h="448691" w="448691">
                  <a:moveTo>
                    <a:pt x="0" y="0"/>
                  </a:moveTo>
                  <a:lnTo>
                    <a:pt x="448691" y="0"/>
                  </a:lnTo>
                  <a:lnTo>
                    <a:pt x="448691" y="448691"/>
                  </a:lnTo>
                  <a:lnTo>
                    <a:pt x="0" y="448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5" b="5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119104" y="4279392"/>
            <a:ext cx="2779776" cy="457200"/>
            <a:chOff x="0" y="0"/>
            <a:chExt cx="3706368" cy="6096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706368" cy="609600"/>
            </a:xfrm>
            <a:custGeom>
              <a:avLst/>
              <a:gdLst/>
              <a:ahLst/>
              <a:cxnLst/>
              <a:rect r="r" b="b" t="t" l="l"/>
              <a:pathLst>
                <a:path h="60960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469" r="0" b="-6846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3706368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B21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Collaboration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119104" y="4718304"/>
            <a:ext cx="2779776" cy="365760"/>
            <a:chOff x="0" y="0"/>
            <a:chExt cx="3706368" cy="4876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706368" cy="487680"/>
            </a:xfrm>
            <a:custGeom>
              <a:avLst/>
              <a:gdLst/>
              <a:ahLst/>
              <a:cxnLst/>
              <a:rect r="r" b="b" t="t" l="l"/>
              <a:pathLst>
                <a:path h="48768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3706368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0457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 features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1119104" y="5065014"/>
            <a:ext cx="2779776" cy="53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comments, work sessions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4218539" y="3190875"/>
            <a:ext cx="3164586" cy="2487930"/>
            <a:chOff x="0" y="0"/>
            <a:chExt cx="4219448" cy="33172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19448" cy="3317240"/>
            </a:xfrm>
            <a:custGeom>
              <a:avLst/>
              <a:gdLst/>
              <a:ahLst/>
              <a:cxnLst/>
              <a:rect r="r" b="b" t="t" l="l"/>
              <a:pathLst>
                <a:path h="3317240" w="4219448">
                  <a:moveTo>
                    <a:pt x="0" y="294894"/>
                  </a:moveTo>
                  <a:cubicBezTo>
                    <a:pt x="0" y="132080"/>
                    <a:pt x="132080" y="0"/>
                    <a:pt x="294894" y="0"/>
                  </a:cubicBezTo>
                  <a:lnTo>
                    <a:pt x="3924554" y="0"/>
                  </a:lnTo>
                  <a:cubicBezTo>
                    <a:pt x="4087368" y="0"/>
                    <a:pt x="4219448" y="132080"/>
                    <a:pt x="4219448" y="294894"/>
                  </a:cubicBezTo>
                  <a:lnTo>
                    <a:pt x="4219448" y="3022346"/>
                  </a:lnTo>
                  <a:cubicBezTo>
                    <a:pt x="4219448" y="3185160"/>
                    <a:pt x="4087368" y="3317240"/>
                    <a:pt x="3924554" y="3317240"/>
                  </a:cubicBezTo>
                  <a:lnTo>
                    <a:pt x="294894" y="3317240"/>
                  </a:lnTo>
                  <a:cubicBezTo>
                    <a:pt x="132080" y="3317240"/>
                    <a:pt x="0" y="3185160"/>
                    <a:pt x="0" y="302234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8F5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4434823" y="3407159"/>
            <a:ext cx="756923" cy="756923"/>
            <a:chOff x="0" y="0"/>
            <a:chExt cx="1009231" cy="100923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252349"/>
                  </a:moveTo>
                  <a:cubicBezTo>
                    <a:pt x="0" y="112903"/>
                    <a:pt x="112903" y="0"/>
                    <a:pt x="252349" y="0"/>
                  </a:cubicBezTo>
                  <a:lnTo>
                    <a:pt x="756920" y="0"/>
                  </a:lnTo>
                  <a:cubicBezTo>
                    <a:pt x="896239" y="0"/>
                    <a:pt x="1009269" y="112903"/>
                    <a:pt x="1009269" y="252349"/>
                  </a:cubicBezTo>
                  <a:lnTo>
                    <a:pt x="1009269" y="756920"/>
                  </a:lnTo>
                  <a:cubicBezTo>
                    <a:pt x="1009269" y="896239"/>
                    <a:pt x="896366" y="1009269"/>
                    <a:pt x="756920" y="1009269"/>
                  </a:cubicBezTo>
                  <a:lnTo>
                    <a:pt x="252349" y="1009269"/>
                  </a:lnTo>
                  <a:cubicBezTo>
                    <a:pt x="112903" y="1009269"/>
                    <a:pt x="0" y="896239"/>
                    <a:pt x="0" y="756920"/>
                  </a:cubicBezTo>
                  <a:close/>
                </a:path>
              </a:pathLst>
            </a:custGeom>
            <a:solidFill>
              <a:srgbClr val="ECEEFF"/>
            </a:solidFill>
            <a:ln w="25400" cap="sq">
              <a:solidFill>
                <a:srgbClr val="ECEEFF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4645030" y="3617366"/>
            <a:ext cx="336499" cy="336499"/>
            <a:chOff x="0" y="0"/>
            <a:chExt cx="448666" cy="448666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448691" cy="448691"/>
            </a:xfrm>
            <a:custGeom>
              <a:avLst/>
              <a:gdLst/>
              <a:ahLst/>
              <a:cxnLst/>
              <a:rect r="r" b="b" t="t" l="l"/>
              <a:pathLst>
                <a:path h="448691" w="448691">
                  <a:moveTo>
                    <a:pt x="0" y="0"/>
                  </a:moveTo>
                  <a:lnTo>
                    <a:pt x="448691" y="0"/>
                  </a:lnTo>
                  <a:lnTo>
                    <a:pt x="448691" y="448691"/>
                  </a:lnTo>
                  <a:lnTo>
                    <a:pt x="0" y="448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5" b="5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4447520" y="4279392"/>
            <a:ext cx="2779776" cy="457200"/>
            <a:chOff x="0" y="0"/>
            <a:chExt cx="3706368" cy="6096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706368" cy="609600"/>
            </a:xfrm>
            <a:custGeom>
              <a:avLst/>
              <a:gdLst/>
              <a:ahLst/>
              <a:cxnLst/>
              <a:rect r="r" b="b" t="t" l="l"/>
              <a:pathLst>
                <a:path h="60960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469" r="0" b="-6846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3706368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B21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Rework &amp; Status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4447520" y="4718304"/>
            <a:ext cx="2779776" cy="365760"/>
            <a:chOff x="0" y="0"/>
            <a:chExt cx="3706368" cy="4876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706368" cy="487680"/>
            </a:xfrm>
            <a:custGeom>
              <a:avLst/>
              <a:gdLst/>
              <a:ahLst/>
              <a:cxnLst/>
              <a:rect r="r" b="b" t="t" l="l"/>
              <a:pathLst>
                <a:path h="48768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3706368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4A5B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 features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14447520" y="5065014"/>
            <a:ext cx="2779776" cy="53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rework, long-running, stale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904875" y="5934075"/>
            <a:ext cx="5267706" cy="2670810"/>
            <a:chOff x="0" y="0"/>
            <a:chExt cx="7023608" cy="356108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023608" cy="3561080"/>
            </a:xfrm>
            <a:custGeom>
              <a:avLst/>
              <a:gdLst/>
              <a:ahLst/>
              <a:cxnLst/>
              <a:rect r="r" b="b" t="t" l="l"/>
              <a:pathLst>
                <a:path h="3561080" w="7023608">
                  <a:moveTo>
                    <a:pt x="0" y="294767"/>
                  </a:moveTo>
                  <a:cubicBezTo>
                    <a:pt x="0" y="131953"/>
                    <a:pt x="131953" y="0"/>
                    <a:pt x="294767" y="0"/>
                  </a:cubicBezTo>
                  <a:lnTo>
                    <a:pt x="6728841" y="0"/>
                  </a:lnTo>
                  <a:cubicBezTo>
                    <a:pt x="6891655" y="0"/>
                    <a:pt x="7023608" y="131953"/>
                    <a:pt x="7023608" y="294767"/>
                  </a:cubicBezTo>
                  <a:lnTo>
                    <a:pt x="7023608" y="3266313"/>
                  </a:lnTo>
                  <a:cubicBezTo>
                    <a:pt x="7023608" y="3429127"/>
                    <a:pt x="6891655" y="3561080"/>
                    <a:pt x="6728841" y="3561080"/>
                  </a:cubicBezTo>
                  <a:lnTo>
                    <a:pt x="294767" y="3561080"/>
                  </a:lnTo>
                  <a:cubicBezTo>
                    <a:pt x="131953" y="3561080"/>
                    <a:pt x="0" y="3429127"/>
                    <a:pt x="0" y="326631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8F5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1176023" y="6205223"/>
            <a:ext cx="793499" cy="793499"/>
            <a:chOff x="0" y="0"/>
            <a:chExt cx="1057999" cy="105799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251968"/>
                  </a:moveTo>
                  <a:cubicBezTo>
                    <a:pt x="0" y="112776"/>
                    <a:pt x="112776" y="0"/>
                    <a:pt x="251968" y="0"/>
                  </a:cubicBezTo>
                  <a:lnTo>
                    <a:pt x="806069" y="0"/>
                  </a:lnTo>
                  <a:cubicBezTo>
                    <a:pt x="945261" y="0"/>
                    <a:pt x="1058037" y="112776"/>
                    <a:pt x="1058037" y="251968"/>
                  </a:cubicBezTo>
                  <a:lnTo>
                    <a:pt x="1058037" y="806069"/>
                  </a:lnTo>
                  <a:cubicBezTo>
                    <a:pt x="1058037" y="945134"/>
                    <a:pt x="945261" y="1058037"/>
                    <a:pt x="806069" y="1058037"/>
                  </a:cubicBezTo>
                  <a:lnTo>
                    <a:pt x="251968" y="1058037"/>
                  </a:lnTo>
                  <a:cubicBezTo>
                    <a:pt x="112776" y="1058037"/>
                    <a:pt x="0" y="945261"/>
                    <a:pt x="0" y="806069"/>
                  </a:cubicBezTo>
                  <a:close/>
                </a:path>
              </a:pathLst>
            </a:custGeom>
            <a:solidFill>
              <a:srgbClr val="ECEEFF"/>
            </a:solidFill>
            <a:ln w="25400" cap="sq">
              <a:solidFill>
                <a:srgbClr val="ECEEFF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396108" y="6425308"/>
            <a:ext cx="353320" cy="353320"/>
            <a:chOff x="0" y="0"/>
            <a:chExt cx="471094" cy="471094"/>
          </a:xfrm>
        </p:grpSpPr>
        <p:sp>
          <p:nvSpPr>
            <p:cNvPr name="Freeform 84" id="84" descr="preencoded.png"/>
            <p:cNvSpPr/>
            <p:nvPr/>
          </p:nvSpPr>
          <p:spPr>
            <a:xfrm flipH="false" flipV="false" rot="0">
              <a:off x="0" y="0"/>
              <a:ext cx="471043" cy="471043"/>
            </a:xfrm>
            <a:custGeom>
              <a:avLst/>
              <a:gdLst/>
              <a:ahLst/>
              <a:cxnLst/>
              <a:rect r="r" b="b" t="t" l="l"/>
              <a:pathLst>
                <a:path h="471043" w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0" b="-10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188720" y="7132320"/>
            <a:ext cx="4700016" cy="640080"/>
            <a:chOff x="0" y="0"/>
            <a:chExt cx="6266688" cy="8534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266688" cy="853440"/>
            </a:xfrm>
            <a:custGeom>
              <a:avLst/>
              <a:gdLst/>
              <a:ahLst/>
              <a:cxnLst/>
              <a:rect r="r" b="b" t="t" l="l"/>
              <a:pathLst>
                <a:path h="853440" w="6266688">
                  <a:moveTo>
                    <a:pt x="0" y="0"/>
                  </a:moveTo>
                  <a:lnTo>
                    <a:pt x="6266688" y="0"/>
                  </a:lnTo>
                  <a:lnTo>
                    <a:pt x="626668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075" r="0" b="-9307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6266688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4A5B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26 features</a:t>
              </a:r>
            </a:p>
          </p:txBody>
        </p:sp>
      </p:grpSp>
      <p:sp>
        <p:nvSpPr>
          <p:cNvPr name="TextBox 88" id="88"/>
          <p:cNvSpPr txBox="true"/>
          <p:nvPr/>
        </p:nvSpPr>
        <p:spPr>
          <a:xfrm rot="0">
            <a:off x="1188720" y="7762875"/>
            <a:ext cx="4700016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Curated across 5 groups; median-imputed and standardized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6510147" y="5934075"/>
            <a:ext cx="5267706" cy="2670810"/>
            <a:chOff x="0" y="0"/>
            <a:chExt cx="7023608" cy="35610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023608" cy="3561080"/>
            </a:xfrm>
            <a:custGeom>
              <a:avLst/>
              <a:gdLst/>
              <a:ahLst/>
              <a:cxnLst/>
              <a:rect r="r" b="b" t="t" l="l"/>
              <a:pathLst>
                <a:path h="3561080" w="7023608">
                  <a:moveTo>
                    <a:pt x="0" y="294767"/>
                  </a:moveTo>
                  <a:cubicBezTo>
                    <a:pt x="0" y="131953"/>
                    <a:pt x="131953" y="0"/>
                    <a:pt x="294767" y="0"/>
                  </a:cubicBezTo>
                  <a:lnTo>
                    <a:pt x="6728841" y="0"/>
                  </a:lnTo>
                  <a:cubicBezTo>
                    <a:pt x="6891655" y="0"/>
                    <a:pt x="7023608" y="131953"/>
                    <a:pt x="7023608" y="294767"/>
                  </a:cubicBezTo>
                  <a:lnTo>
                    <a:pt x="7023608" y="3266313"/>
                  </a:lnTo>
                  <a:cubicBezTo>
                    <a:pt x="7023608" y="3429127"/>
                    <a:pt x="6891655" y="3561080"/>
                    <a:pt x="6728841" y="3561080"/>
                  </a:cubicBezTo>
                  <a:lnTo>
                    <a:pt x="294767" y="3561080"/>
                  </a:lnTo>
                  <a:cubicBezTo>
                    <a:pt x="131953" y="3561080"/>
                    <a:pt x="0" y="3429127"/>
                    <a:pt x="0" y="326631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8F5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6781295" y="6205223"/>
            <a:ext cx="793499" cy="793499"/>
            <a:chOff x="0" y="0"/>
            <a:chExt cx="1057999" cy="105799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251968"/>
                  </a:moveTo>
                  <a:cubicBezTo>
                    <a:pt x="0" y="112776"/>
                    <a:pt x="112776" y="0"/>
                    <a:pt x="251968" y="0"/>
                  </a:cubicBezTo>
                  <a:lnTo>
                    <a:pt x="806069" y="0"/>
                  </a:lnTo>
                  <a:cubicBezTo>
                    <a:pt x="945261" y="0"/>
                    <a:pt x="1058037" y="112776"/>
                    <a:pt x="1058037" y="251968"/>
                  </a:cubicBezTo>
                  <a:lnTo>
                    <a:pt x="1058037" y="806069"/>
                  </a:lnTo>
                  <a:cubicBezTo>
                    <a:pt x="1058037" y="945134"/>
                    <a:pt x="945261" y="1058037"/>
                    <a:pt x="806069" y="1058037"/>
                  </a:cubicBezTo>
                  <a:lnTo>
                    <a:pt x="251968" y="1058037"/>
                  </a:lnTo>
                  <a:cubicBezTo>
                    <a:pt x="112776" y="1058037"/>
                    <a:pt x="0" y="945261"/>
                    <a:pt x="0" y="806069"/>
                  </a:cubicBezTo>
                  <a:close/>
                </a:path>
              </a:pathLst>
            </a:custGeom>
            <a:solidFill>
              <a:srgbClr val="ECEEFF"/>
            </a:solidFill>
            <a:ln w="25400" cap="sq">
              <a:solidFill>
                <a:srgbClr val="ECEEFF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7001380" y="6425308"/>
            <a:ext cx="353320" cy="353320"/>
            <a:chOff x="0" y="0"/>
            <a:chExt cx="471094" cy="471094"/>
          </a:xfrm>
        </p:grpSpPr>
        <p:sp>
          <p:nvSpPr>
            <p:cNvPr name="Freeform 94" id="94" descr="preencoded.png"/>
            <p:cNvSpPr/>
            <p:nvPr/>
          </p:nvSpPr>
          <p:spPr>
            <a:xfrm flipH="false" flipV="false" rot="0">
              <a:off x="0" y="0"/>
              <a:ext cx="471043" cy="471043"/>
            </a:xfrm>
            <a:custGeom>
              <a:avLst/>
              <a:gdLst/>
              <a:ahLst/>
              <a:cxnLst/>
              <a:rect r="r" b="b" t="t" l="l"/>
              <a:pathLst>
                <a:path h="471043" w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10" b="-10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6793992" y="7132320"/>
            <a:ext cx="4700016" cy="640080"/>
            <a:chOff x="0" y="0"/>
            <a:chExt cx="6266688" cy="8534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66688" cy="853440"/>
            </a:xfrm>
            <a:custGeom>
              <a:avLst/>
              <a:gdLst/>
              <a:ahLst/>
              <a:cxnLst/>
              <a:rect r="r" b="b" t="t" l="l"/>
              <a:pathLst>
                <a:path h="853440" w="6266688">
                  <a:moveTo>
                    <a:pt x="0" y="0"/>
                  </a:moveTo>
                  <a:lnTo>
                    <a:pt x="6266688" y="0"/>
                  </a:lnTo>
                  <a:lnTo>
                    <a:pt x="626668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075" r="0" b="-9307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6266688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E0457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300 trees</a:t>
              </a:r>
            </a:p>
          </p:txBody>
        </p:sp>
      </p:grpSp>
      <p:sp>
        <p:nvSpPr>
          <p:cNvPr name="TextBox 98" id="98"/>
          <p:cNvSpPr txBox="true"/>
          <p:nvPr/>
        </p:nvSpPr>
        <p:spPr>
          <a:xfrm rot="0">
            <a:off x="6793992" y="7762875"/>
            <a:ext cx="4700016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Isolation Forest · contamination 5% · fixed seed 42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12115419" y="5934075"/>
            <a:ext cx="5267706" cy="2670810"/>
            <a:chOff x="0" y="0"/>
            <a:chExt cx="7023608" cy="356108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023608" cy="3561080"/>
            </a:xfrm>
            <a:custGeom>
              <a:avLst/>
              <a:gdLst/>
              <a:ahLst/>
              <a:cxnLst/>
              <a:rect r="r" b="b" t="t" l="l"/>
              <a:pathLst>
                <a:path h="3561080" w="7023608">
                  <a:moveTo>
                    <a:pt x="0" y="294767"/>
                  </a:moveTo>
                  <a:cubicBezTo>
                    <a:pt x="0" y="131953"/>
                    <a:pt x="131953" y="0"/>
                    <a:pt x="294767" y="0"/>
                  </a:cubicBezTo>
                  <a:lnTo>
                    <a:pt x="6728841" y="0"/>
                  </a:lnTo>
                  <a:cubicBezTo>
                    <a:pt x="6891655" y="0"/>
                    <a:pt x="7023608" y="131953"/>
                    <a:pt x="7023608" y="294767"/>
                  </a:cubicBezTo>
                  <a:lnTo>
                    <a:pt x="7023608" y="3266313"/>
                  </a:lnTo>
                  <a:cubicBezTo>
                    <a:pt x="7023608" y="3429127"/>
                    <a:pt x="6891655" y="3561080"/>
                    <a:pt x="6728841" y="3561080"/>
                  </a:cubicBezTo>
                  <a:lnTo>
                    <a:pt x="294767" y="3561080"/>
                  </a:lnTo>
                  <a:cubicBezTo>
                    <a:pt x="131953" y="3561080"/>
                    <a:pt x="0" y="3429127"/>
                    <a:pt x="0" y="326631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8F5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12386567" y="6205223"/>
            <a:ext cx="793499" cy="793499"/>
            <a:chOff x="0" y="0"/>
            <a:chExt cx="1057999" cy="105799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251968"/>
                  </a:moveTo>
                  <a:cubicBezTo>
                    <a:pt x="0" y="112776"/>
                    <a:pt x="112776" y="0"/>
                    <a:pt x="251968" y="0"/>
                  </a:cubicBezTo>
                  <a:lnTo>
                    <a:pt x="806069" y="0"/>
                  </a:lnTo>
                  <a:cubicBezTo>
                    <a:pt x="945261" y="0"/>
                    <a:pt x="1058037" y="112776"/>
                    <a:pt x="1058037" y="251968"/>
                  </a:cubicBezTo>
                  <a:lnTo>
                    <a:pt x="1058037" y="806069"/>
                  </a:lnTo>
                  <a:cubicBezTo>
                    <a:pt x="1058037" y="945134"/>
                    <a:pt x="945261" y="1058037"/>
                    <a:pt x="806069" y="1058037"/>
                  </a:cubicBezTo>
                  <a:lnTo>
                    <a:pt x="251968" y="1058037"/>
                  </a:lnTo>
                  <a:cubicBezTo>
                    <a:pt x="112776" y="1058037"/>
                    <a:pt x="0" y="945261"/>
                    <a:pt x="0" y="806069"/>
                  </a:cubicBezTo>
                  <a:close/>
                </a:path>
              </a:pathLst>
            </a:custGeom>
            <a:solidFill>
              <a:srgbClr val="ECEEFF"/>
            </a:solidFill>
            <a:ln w="25400" cap="sq">
              <a:solidFill>
                <a:srgbClr val="ECEEFF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12606652" y="6425308"/>
            <a:ext cx="353320" cy="353320"/>
            <a:chOff x="0" y="0"/>
            <a:chExt cx="471094" cy="471094"/>
          </a:xfrm>
        </p:grpSpPr>
        <p:sp>
          <p:nvSpPr>
            <p:cNvPr name="Freeform 104" id="104" descr="preencoded.png"/>
            <p:cNvSpPr/>
            <p:nvPr/>
          </p:nvSpPr>
          <p:spPr>
            <a:xfrm flipH="false" flipV="false" rot="0">
              <a:off x="0" y="0"/>
              <a:ext cx="471043" cy="471043"/>
            </a:xfrm>
            <a:custGeom>
              <a:avLst/>
              <a:gdLst/>
              <a:ahLst/>
              <a:cxnLst/>
              <a:rect r="r" b="b" t="t" l="l"/>
              <a:pathLst>
                <a:path h="471043" w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0" b="-10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2399264" y="7132320"/>
            <a:ext cx="4700016" cy="640080"/>
            <a:chOff x="0" y="0"/>
            <a:chExt cx="6266688" cy="85344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266688" cy="853440"/>
            </a:xfrm>
            <a:custGeom>
              <a:avLst/>
              <a:gdLst/>
              <a:ahLst/>
              <a:cxnLst/>
              <a:rect r="r" b="b" t="t" l="l"/>
              <a:pathLst>
                <a:path h="853440" w="6266688">
                  <a:moveTo>
                    <a:pt x="0" y="0"/>
                  </a:moveTo>
                  <a:lnTo>
                    <a:pt x="6266688" y="0"/>
                  </a:lnTo>
                  <a:lnTo>
                    <a:pt x="626668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075" r="0" b="-93075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28575"/>
              <a:ext cx="6266688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 columns excluded</a:t>
              </a:r>
            </a:p>
          </p:txBody>
        </p:sp>
      </p:grpSp>
      <p:sp>
        <p:nvSpPr>
          <p:cNvPr name="TextBox 108" id="108"/>
          <p:cNvSpPr txBox="true"/>
          <p:nvPr/>
        </p:nvSpPr>
        <p:spPr>
          <a:xfrm rot="0">
            <a:off x="12399264" y="7762875"/>
            <a:ext cx="4700016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Pre-computed risk scores removed to avoid leakage</a:t>
            </a:r>
          </a:p>
        </p:txBody>
      </p:sp>
      <p:grpSp>
        <p:nvGrpSpPr>
          <p:cNvPr name="Group 109" id="109"/>
          <p:cNvGrpSpPr/>
          <p:nvPr/>
        </p:nvGrpSpPr>
        <p:grpSpPr>
          <a:xfrm rot="0">
            <a:off x="904875" y="8951595"/>
            <a:ext cx="16478250" cy="842010"/>
            <a:chOff x="0" y="0"/>
            <a:chExt cx="21971000" cy="112268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1971000" cy="1122680"/>
            </a:xfrm>
            <a:custGeom>
              <a:avLst/>
              <a:gdLst/>
              <a:ahLst/>
              <a:cxnLst/>
              <a:rect r="r" b="b" t="t" l="l"/>
              <a:pathLst>
                <a:path h="1122680" w="21971000">
                  <a:moveTo>
                    <a:pt x="0" y="299339"/>
                  </a:moveTo>
                  <a:cubicBezTo>
                    <a:pt x="0" y="133985"/>
                    <a:pt x="133985" y="0"/>
                    <a:pt x="299339" y="0"/>
                  </a:cubicBezTo>
                  <a:lnTo>
                    <a:pt x="21671662" y="0"/>
                  </a:lnTo>
                  <a:cubicBezTo>
                    <a:pt x="21837014" y="0"/>
                    <a:pt x="21971000" y="133985"/>
                    <a:pt x="21971000" y="299339"/>
                  </a:cubicBezTo>
                  <a:lnTo>
                    <a:pt x="21971000" y="823341"/>
                  </a:lnTo>
                  <a:cubicBezTo>
                    <a:pt x="21971000" y="988695"/>
                    <a:pt x="21837014" y="1122680"/>
                    <a:pt x="21671662" y="1122680"/>
                  </a:cubicBezTo>
                  <a:lnTo>
                    <a:pt x="299339" y="1122680"/>
                  </a:lnTo>
                  <a:cubicBezTo>
                    <a:pt x="133985" y="1122680"/>
                    <a:pt x="0" y="988695"/>
                    <a:pt x="0" y="823341"/>
                  </a:cubicBezTo>
                  <a:close/>
                </a:path>
              </a:pathLst>
            </a:custGeom>
            <a:solidFill>
              <a:srgbClr val="E9E6FB"/>
            </a:solidFill>
            <a:ln w="19050" cap="sq">
              <a:solidFill>
                <a:srgbClr val="DCD7F7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1243584" y="9144000"/>
            <a:ext cx="457200" cy="457200"/>
            <a:chOff x="0" y="0"/>
            <a:chExt cx="609600" cy="609600"/>
          </a:xfrm>
        </p:grpSpPr>
        <p:sp>
          <p:nvSpPr>
            <p:cNvPr name="Freeform 112" id="112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2011680" y="8961120"/>
            <a:ext cx="15179040" cy="822960"/>
            <a:chOff x="0" y="0"/>
            <a:chExt cx="20238720" cy="109728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0238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390" r="0" b="-30939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19050"/>
              <a:ext cx="202387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B21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Output: </a:t>
              </a:r>
              <a:r>
                <a:rPr lang="en-US" sz="2199">
                  <a:solidFill>
                    <a:srgbClr val="1B2140"/>
                  </a:solidFill>
                  <a:latin typeface="Arial"/>
                  <a:ea typeface="Arial"/>
                  <a:cs typeface="Arial"/>
                  <a:sym typeface="Arial"/>
                </a:rPr>
                <a:t>bottleneck_score + is_bottleneck flag per issue, with a top-50 shortlist for review.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92640" y="0"/>
            <a:ext cx="8595360" cy="10287000"/>
            <a:chOff x="0" y="0"/>
            <a:chExt cx="11460480" cy="13716000"/>
          </a:xfrm>
        </p:grpSpPr>
        <p:sp>
          <p:nvSpPr>
            <p:cNvPr name="Freeform 3" id="3" descr="swirl.png"/>
            <p:cNvSpPr/>
            <p:nvPr/>
          </p:nvSpPr>
          <p:spPr>
            <a:xfrm flipH="false" flipV="false" rot="0">
              <a:off x="0" y="0"/>
              <a:ext cx="1146048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3" r="0" b="-1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48640"/>
            <a:ext cx="5486400" cy="457200"/>
            <a:chOff x="0" y="0"/>
            <a:chExt cx="73152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73152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b="true" sz="1599" spc="599">
                  <a:solidFill>
                    <a:srgbClr val="4F6B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SCALEFLOW  ◇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63040" y="3657600"/>
            <a:ext cx="9144000" cy="2158136"/>
            <a:chOff x="0" y="0"/>
            <a:chExt cx="12192000" cy="28775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92000" cy="2877515"/>
            </a:xfrm>
            <a:custGeom>
              <a:avLst/>
              <a:gdLst/>
              <a:ahLst/>
              <a:cxnLst/>
              <a:rect r="r" b="b" t="t" l="l"/>
              <a:pathLst>
                <a:path h="287751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2877515"/>
                  </a:lnTo>
                  <a:lnTo>
                    <a:pt x="0" y="28775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188" r="0" b="-2492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2192000" cy="2877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60"/>
                </a:lnSpc>
              </a:pPr>
              <a:r>
                <a:rPr lang="en-US" b="true" sz="10800">
                  <a:solidFill>
                    <a:srgbClr val="4F6B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Shimaa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3040" y="5486400"/>
            <a:ext cx="9144000" cy="731520"/>
            <a:chOff x="0" y="0"/>
            <a:chExt cx="1219200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920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219200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E2A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AI / ML Track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3040" y="6217920"/>
            <a:ext cx="9144000" cy="548640"/>
            <a:chOff x="0" y="0"/>
            <a:chExt cx="121920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9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21920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B647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ML</a:t>
              </a:r>
              <a:r>
                <a:rPr lang="en-US" sz="2000">
                  <a:solidFill>
                    <a:srgbClr val="5B647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models  ·  evaluation  ·  AI analysis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76262"/>
            <a:ext cx="6667500" cy="23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 spc="162">
                <a:solidFill>
                  <a:srgbClr val="4F6BF6"/>
                </a:solidFill>
                <a:latin typeface="DM Sans Bold"/>
                <a:ea typeface="DM Sans Bold"/>
                <a:cs typeface="DM Sans Bold"/>
                <a:sym typeface="DM Sans Bold"/>
              </a:rPr>
              <a:t>AI MODELS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071562"/>
            <a:ext cx="13525500" cy="556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E2A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Models — Risk &amp; Project Health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3140" y="1869758"/>
            <a:ext cx="5495925" cy="6684645"/>
            <a:chOff x="0" y="0"/>
            <a:chExt cx="7327900" cy="89128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27900" cy="8912861"/>
            </a:xfrm>
            <a:custGeom>
              <a:avLst/>
              <a:gdLst/>
              <a:ahLst/>
              <a:cxnLst/>
              <a:rect r="r" b="b" t="t" l="l"/>
              <a:pathLst>
                <a:path h="8912861" w="7327900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7156958" y="0"/>
                  </a:lnTo>
                  <a:cubicBezTo>
                    <a:pt x="7251319" y="0"/>
                    <a:pt x="7327900" y="76581"/>
                    <a:pt x="7327900" y="170942"/>
                  </a:cubicBezTo>
                  <a:lnTo>
                    <a:pt x="7327900" y="8741918"/>
                  </a:lnTo>
                  <a:cubicBezTo>
                    <a:pt x="7327900" y="8836279"/>
                    <a:pt x="7251319" y="8912861"/>
                    <a:pt x="7156958" y="8912861"/>
                  </a:cubicBezTo>
                  <a:lnTo>
                    <a:pt x="170942" y="8912861"/>
                  </a:lnTo>
                  <a:cubicBezTo>
                    <a:pt x="76581" y="8912860"/>
                    <a:pt x="0" y="8836279"/>
                    <a:pt x="0" y="874191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22222" y="2103120"/>
            <a:ext cx="4937760" cy="411480"/>
            <a:chOff x="0" y="0"/>
            <a:chExt cx="658368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6583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4F6B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Risk Model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22222" y="2743200"/>
            <a:ext cx="4937760" cy="274320"/>
            <a:chOff x="0" y="0"/>
            <a:chExt cx="6583680" cy="365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83680" cy="365760"/>
            </a:xfrm>
            <a:custGeom>
              <a:avLst/>
              <a:gdLst/>
              <a:ahLst/>
              <a:cxnLst/>
              <a:rect r="r" b="b" t="t" l="l"/>
              <a:pathLst>
                <a:path h="3657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658368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150">
                  <a:solidFill>
                    <a:srgbClr val="4F6B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DATASET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22222" y="3025902"/>
            <a:ext cx="493776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4,000 real-world-style project risk records with 49 features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22222" y="3840480"/>
            <a:ext cx="4937760" cy="274320"/>
            <a:chOff x="0" y="0"/>
            <a:chExt cx="6583680" cy="3657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83680" cy="365760"/>
            </a:xfrm>
            <a:custGeom>
              <a:avLst/>
              <a:gdLst/>
              <a:ahLst/>
              <a:cxnLst/>
              <a:rect r="r" b="b" t="t" l="l"/>
              <a:pathLst>
                <a:path h="3657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658368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150">
                  <a:solidFill>
                    <a:srgbClr val="4F6B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TARGET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22222" y="4160520"/>
            <a:ext cx="680314" cy="402336"/>
            <a:chOff x="0" y="0"/>
            <a:chExt cx="907085" cy="5364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07034" cy="536448"/>
            </a:xfrm>
            <a:custGeom>
              <a:avLst/>
              <a:gdLst/>
              <a:ahLst/>
              <a:cxnLst/>
              <a:rect r="r" b="b" t="t" l="l"/>
              <a:pathLst>
                <a:path h="536448" w="907034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638810" y="0"/>
                  </a:lnTo>
                  <a:cubicBezTo>
                    <a:pt x="787019" y="0"/>
                    <a:pt x="907034" y="120142"/>
                    <a:pt x="907034" y="268224"/>
                  </a:cubicBezTo>
                  <a:cubicBezTo>
                    <a:pt x="907034" y="416306"/>
                    <a:pt x="787019" y="536448"/>
                    <a:pt x="638810" y="536448"/>
                  </a:cubicBezTo>
                  <a:lnTo>
                    <a:pt x="268224" y="536448"/>
                  </a:ln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907085" cy="555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Low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093976" y="4160520"/>
            <a:ext cx="949147" cy="402336"/>
            <a:chOff x="0" y="0"/>
            <a:chExt cx="1265530" cy="5364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65555" cy="536448"/>
            </a:xfrm>
            <a:custGeom>
              <a:avLst/>
              <a:gdLst/>
              <a:ahLst/>
              <a:cxnLst/>
              <a:rect r="r" b="b" t="t" l="l"/>
              <a:pathLst>
                <a:path h="536448" w="1265555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997331" y="0"/>
                  </a:lnTo>
                  <a:cubicBezTo>
                    <a:pt x="1145413" y="0"/>
                    <a:pt x="1265555" y="120142"/>
                    <a:pt x="1265555" y="268224"/>
                  </a:cubicBezTo>
                  <a:cubicBezTo>
                    <a:pt x="1265555" y="416306"/>
                    <a:pt x="1145413" y="536448"/>
                    <a:pt x="997331" y="536448"/>
                  </a:cubicBezTo>
                  <a:lnTo>
                    <a:pt x="268224" y="536448"/>
                  </a:ln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265530" cy="555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Medium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134563" y="4160520"/>
            <a:ext cx="769925" cy="402336"/>
            <a:chOff x="0" y="0"/>
            <a:chExt cx="1026566" cy="5364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6541" cy="536448"/>
            </a:xfrm>
            <a:custGeom>
              <a:avLst/>
              <a:gdLst/>
              <a:ahLst/>
              <a:cxnLst/>
              <a:rect r="r" b="b" t="t" l="l"/>
              <a:pathLst>
                <a:path h="536448" w="1026541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758317" y="0"/>
                  </a:lnTo>
                  <a:cubicBezTo>
                    <a:pt x="906526" y="0"/>
                    <a:pt x="1026541" y="120142"/>
                    <a:pt x="1026541" y="268224"/>
                  </a:cubicBezTo>
                  <a:cubicBezTo>
                    <a:pt x="1026541" y="416306"/>
                    <a:pt x="906526" y="536448"/>
                    <a:pt x="758317" y="536448"/>
                  </a:cubicBezTo>
                  <a:lnTo>
                    <a:pt x="268224" y="536448"/>
                  </a:ln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E0468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026566" cy="555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High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995928" y="4160520"/>
            <a:ext cx="1128370" cy="402336"/>
            <a:chOff x="0" y="0"/>
            <a:chExt cx="1504493" cy="5364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04442" cy="536448"/>
            </a:xfrm>
            <a:custGeom>
              <a:avLst/>
              <a:gdLst/>
              <a:ahLst/>
              <a:cxnLst/>
              <a:rect r="r" b="b" t="t" l="l"/>
              <a:pathLst>
                <a:path h="536448" w="1504442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1236218" y="0"/>
                  </a:lnTo>
                  <a:cubicBezTo>
                    <a:pt x="1384300" y="0"/>
                    <a:pt x="1504442" y="120142"/>
                    <a:pt x="1504442" y="268224"/>
                  </a:cubicBezTo>
                  <a:cubicBezTo>
                    <a:pt x="1504442" y="416306"/>
                    <a:pt x="1384300" y="536448"/>
                    <a:pt x="1236218" y="536448"/>
                  </a:cubicBezTo>
                  <a:lnTo>
                    <a:pt x="268224" y="536448"/>
                  </a:ln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1E2A4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504493" cy="555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Critical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22222" y="4892040"/>
            <a:ext cx="4937760" cy="274320"/>
            <a:chOff x="0" y="0"/>
            <a:chExt cx="6583680" cy="3657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583680" cy="365760"/>
            </a:xfrm>
            <a:custGeom>
              <a:avLst/>
              <a:gdLst/>
              <a:ahLst/>
              <a:cxnLst/>
              <a:rect r="r" b="b" t="t" l="l"/>
              <a:pathLst>
                <a:path h="3657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658368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150">
                  <a:solidFill>
                    <a:srgbClr val="4F6B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MODEL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322222" y="5174742"/>
            <a:ext cx="493776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Logistic Regression with preprocessing and class balancing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22222" y="5989320"/>
            <a:ext cx="4937760" cy="274320"/>
            <a:chOff x="0" y="0"/>
            <a:chExt cx="6583680" cy="3657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83680" cy="365760"/>
            </a:xfrm>
            <a:custGeom>
              <a:avLst/>
              <a:gdLst/>
              <a:ahLst/>
              <a:cxnLst/>
              <a:rect r="r" b="b" t="t" l="l"/>
              <a:pathLst>
                <a:path h="3657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658368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150">
                  <a:solidFill>
                    <a:srgbClr val="4F6B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OUTPUT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22222" y="6309360"/>
            <a:ext cx="1307592" cy="402336"/>
            <a:chOff x="0" y="0"/>
            <a:chExt cx="1743456" cy="5364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43456" cy="536448"/>
            </a:xfrm>
            <a:custGeom>
              <a:avLst/>
              <a:gdLst/>
              <a:ahLst/>
              <a:cxnLst/>
              <a:rect r="r" b="b" t="t" l="l"/>
              <a:pathLst>
                <a:path h="536448" w="1743456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1475232" y="0"/>
                  </a:lnTo>
                  <a:cubicBezTo>
                    <a:pt x="1623314" y="0"/>
                    <a:pt x="1743456" y="120142"/>
                    <a:pt x="1743456" y="268224"/>
                  </a:cubicBezTo>
                  <a:cubicBezTo>
                    <a:pt x="1743456" y="416306"/>
                    <a:pt x="1623314" y="536448"/>
                    <a:pt x="1475232" y="536448"/>
                  </a:cubicBezTo>
                  <a:lnTo>
                    <a:pt x="268224" y="536448"/>
                  </a:ln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4F6BF6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743456" cy="555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Risk Level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721254" y="6309360"/>
            <a:ext cx="2024482" cy="402336"/>
            <a:chOff x="0" y="0"/>
            <a:chExt cx="2699309" cy="5364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699258" cy="536448"/>
            </a:xfrm>
            <a:custGeom>
              <a:avLst/>
              <a:gdLst/>
              <a:ahLst/>
              <a:cxnLst/>
              <a:rect r="r" b="b" t="t" l="l"/>
              <a:pathLst>
                <a:path h="536448" w="269925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2431034" y="0"/>
                  </a:lnTo>
                  <a:cubicBezTo>
                    <a:pt x="2579116" y="0"/>
                    <a:pt x="2699258" y="120142"/>
                    <a:pt x="2699258" y="268224"/>
                  </a:cubicBezTo>
                  <a:cubicBezTo>
                    <a:pt x="2699258" y="416306"/>
                    <a:pt x="2579116" y="536448"/>
                    <a:pt x="2431034" y="536448"/>
                  </a:cubicBezTo>
                  <a:lnTo>
                    <a:pt x="268224" y="536448"/>
                  </a:ln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4F6BF6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699309" cy="555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Risk Score (0–100)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837176" y="6309360"/>
            <a:ext cx="1307592" cy="402336"/>
            <a:chOff x="0" y="0"/>
            <a:chExt cx="1743456" cy="5364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43456" cy="536448"/>
            </a:xfrm>
            <a:custGeom>
              <a:avLst/>
              <a:gdLst/>
              <a:ahLst/>
              <a:cxnLst/>
              <a:rect r="r" b="b" t="t" l="l"/>
              <a:pathLst>
                <a:path h="536448" w="1743456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1475232" y="0"/>
                  </a:lnTo>
                  <a:cubicBezTo>
                    <a:pt x="1623314" y="0"/>
                    <a:pt x="1743456" y="120142"/>
                    <a:pt x="1743456" y="268224"/>
                  </a:cubicBezTo>
                  <a:cubicBezTo>
                    <a:pt x="1743456" y="416306"/>
                    <a:pt x="1623314" y="536448"/>
                    <a:pt x="1475232" y="536448"/>
                  </a:cubicBezTo>
                  <a:lnTo>
                    <a:pt x="268224" y="536448"/>
                  </a:ln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4F6BF6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743456" cy="555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Confidence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22222" y="7269480"/>
            <a:ext cx="4937760" cy="1005840"/>
            <a:chOff x="0" y="0"/>
            <a:chExt cx="6583680" cy="13411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5836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83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437376" y="0"/>
                  </a:lnTo>
                  <a:cubicBezTo>
                    <a:pt x="6518148" y="0"/>
                    <a:pt x="6583680" y="65532"/>
                    <a:pt x="6583680" y="146304"/>
                  </a:cubicBezTo>
                  <a:lnTo>
                    <a:pt x="6583680" y="1194816"/>
                  </a:lnTo>
                  <a:cubicBezTo>
                    <a:pt x="6583680" y="1275588"/>
                    <a:pt x="6518148" y="1341120"/>
                    <a:pt x="6437376" y="1341120"/>
                  </a:cubicBezTo>
                  <a:lnTo>
                    <a:pt x="146304" y="1341120"/>
                  </a:lnTo>
                  <a:cubicBezTo>
                    <a:pt x="65532" y="1341120"/>
                    <a:pt x="0" y="1275588"/>
                    <a:pt x="0" y="1194816"/>
                  </a:cubicBezTo>
                  <a:close/>
                </a:path>
              </a:pathLst>
            </a:custGeom>
            <a:solidFill>
              <a:srgbClr val="EEF0FE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6583680" cy="1360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E2A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Integrated with the ScaleFlow backend </a:t>
              </a:r>
              <a:r>
                <a:rPr lang="en-US" sz="1500">
                  <a:solidFill>
                    <a:srgbClr val="1E2A4A"/>
                  </a:solidFill>
                  <a:latin typeface="Arial"/>
                  <a:ea typeface="Arial"/>
                  <a:cs typeface="Arial"/>
                  <a:sym typeface="Arial"/>
                </a:rPr>
                <a:t>for project-specific risk analysis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803860" y="1869758"/>
            <a:ext cx="4672965" cy="6684645"/>
            <a:chOff x="0" y="0"/>
            <a:chExt cx="6230620" cy="89128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230620" cy="8912860"/>
            </a:xfrm>
            <a:custGeom>
              <a:avLst/>
              <a:gdLst/>
              <a:ahLst/>
              <a:cxnLst/>
              <a:rect r="r" b="b" t="t" l="l"/>
              <a:pathLst>
                <a:path h="8912860" w="6230620">
                  <a:moveTo>
                    <a:pt x="0" y="171069"/>
                  </a:moveTo>
                  <a:cubicBezTo>
                    <a:pt x="0" y="76581"/>
                    <a:pt x="76581" y="0"/>
                    <a:pt x="171069" y="0"/>
                  </a:cubicBezTo>
                  <a:lnTo>
                    <a:pt x="6059551" y="0"/>
                  </a:lnTo>
                  <a:cubicBezTo>
                    <a:pt x="6154039" y="0"/>
                    <a:pt x="6230620" y="76581"/>
                    <a:pt x="6230620" y="171069"/>
                  </a:cubicBezTo>
                  <a:lnTo>
                    <a:pt x="6230620" y="8741791"/>
                  </a:lnTo>
                  <a:cubicBezTo>
                    <a:pt x="6230620" y="8836279"/>
                    <a:pt x="6154039" y="8912860"/>
                    <a:pt x="6059551" y="8912860"/>
                  </a:cubicBezTo>
                  <a:lnTo>
                    <a:pt x="171069" y="8912860"/>
                  </a:lnTo>
                  <a:cubicBezTo>
                    <a:pt x="76581" y="8912860"/>
                    <a:pt x="0" y="8836279"/>
                    <a:pt x="0" y="8741791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7082942" y="2103120"/>
            <a:ext cx="4114800" cy="411480"/>
            <a:chOff x="0" y="0"/>
            <a:chExt cx="548640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54864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Health Model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082942" y="2743200"/>
            <a:ext cx="4114800" cy="274320"/>
            <a:chOff x="0" y="0"/>
            <a:chExt cx="5486400" cy="3657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486400" cy="365760"/>
            </a:xfrm>
            <a:custGeom>
              <a:avLst/>
              <a:gdLst/>
              <a:ahLst/>
              <a:cxnLst/>
              <a:rect r="r" b="b" t="t" l="l"/>
              <a:pathLst>
                <a:path h="3657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548640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150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INPUTS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082942" y="3063240"/>
            <a:ext cx="1845259" cy="402336"/>
            <a:chOff x="0" y="0"/>
            <a:chExt cx="2460346" cy="53644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460371" cy="536448"/>
            </a:xfrm>
            <a:custGeom>
              <a:avLst/>
              <a:gdLst/>
              <a:ahLst/>
              <a:cxnLst/>
              <a:rect r="r" b="b" t="t" l="l"/>
              <a:pathLst>
                <a:path h="536448" w="2460371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2192147" y="0"/>
                  </a:lnTo>
                  <a:cubicBezTo>
                    <a:pt x="2340229" y="0"/>
                    <a:pt x="2460371" y="120142"/>
                    <a:pt x="2460371" y="268224"/>
                  </a:cubicBezTo>
                  <a:cubicBezTo>
                    <a:pt x="2460371" y="416306"/>
                    <a:pt x="2340229" y="536448"/>
                    <a:pt x="2192147" y="536448"/>
                  </a:cubicBezTo>
                  <a:lnTo>
                    <a:pt x="268224" y="536448"/>
                  </a:ln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2460346" cy="555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progress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019642" y="3063240"/>
            <a:ext cx="859536" cy="402336"/>
            <a:chOff x="0" y="0"/>
            <a:chExt cx="1146048" cy="53644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46048" cy="536448"/>
            </a:xfrm>
            <a:custGeom>
              <a:avLst/>
              <a:gdLst/>
              <a:ahLst/>
              <a:cxnLst/>
              <a:rect r="r" b="b" t="t" l="l"/>
              <a:pathLst>
                <a:path h="536448" w="11460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877824" y="0"/>
                  </a:lnTo>
                  <a:cubicBezTo>
                    <a:pt x="1025906" y="0"/>
                    <a:pt x="1146048" y="120142"/>
                    <a:pt x="1146048" y="268224"/>
                  </a:cubicBezTo>
                  <a:cubicBezTo>
                    <a:pt x="1146048" y="416306"/>
                    <a:pt x="1025906" y="536448"/>
                    <a:pt x="877824" y="536448"/>
                  </a:cubicBezTo>
                  <a:lnTo>
                    <a:pt x="268224" y="536448"/>
                  </a:ln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1146048" cy="555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tasks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082942" y="3557016"/>
            <a:ext cx="2203704" cy="402336"/>
            <a:chOff x="0" y="0"/>
            <a:chExt cx="2938272" cy="53644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938272" cy="536448"/>
            </a:xfrm>
            <a:custGeom>
              <a:avLst/>
              <a:gdLst/>
              <a:ahLst/>
              <a:cxnLst/>
              <a:rect r="r" b="b" t="t" l="l"/>
              <a:pathLst>
                <a:path h="536448" w="2938272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2670048" y="0"/>
                  </a:lnTo>
                  <a:cubicBezTo>
                    <a:pt x="2818130" y="0"/>
                    <a:pt x="2938272" y="120142"/>
                    <a:pt x="2938272" y="268224"/>
                  </a:cubicBezTo>
                  <a:cubicBezTo>
                    <a:pt x="2938272" y="416306"/>
                    <a:pt x="2818130" y="536448"/>
                    <a:pt x="2670048" y="536448"/>
                  </a:cubicBezTo>
                  <a:lnTo>
                    <a:pt x="268224" y="536448"/>
                  </a:ln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2938272" cy="555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planned/actual hours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378086" y="3557016"/>
            <a:ext cx="1576426" cy="402336"/>
            <a:chOff x="0" y="0"/>
            <a:chExt cx="2101901" cy="53644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01850" cy="536448"/>
            </a:xfrm>
            <a:custGeom>
              <a:avLst/>
              <a:gdLst/>
              <a:ahLst/>
              <a:cxnLst/>
              <a:rect r="r" b="b" t="t" l="l"/>
              <a:pathLst>
                <a:path h="536448" w="2101850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1833626" y="0"/>
                  </a:lnTo>
                  <a:cubicBezTo>
                    <a:pt x="1981708" y="0"/>
                    <a:pt x="2101850" y="120142"/>
                    <a:pt x="2101850" y="268224"/>
                  </a:cubicBezTo>
                  <a:cubicBezTo>
                    <a:pt x="2101850" y="416306"/>
                    <a:pt x="1981708" y="536448"/>
                    <a:pt x="1833626" y="536448"/>
                  </a:cubicBezTo>
                  <a:lnTo>
                    <a:pt x="268224" y="536448"/>
                  </a:ln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2101901" cy="555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 activity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082942" y="4050792"/>
            <a:ext cx="2651760" cy="402336"/>
            <a:chOff x="0" y="0"/>
            <a:chExt cx="3535680" cy="53644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53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3535680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3267456" y="0"/>
                  </a:lnTo>
                  <a:cubicBezTo>
                    <a:pt x="3415538" y="0"/>
                    <a:pt x="3535680" y="120142"/>
                    <a:pt x="3535680" y="268224"/>
                  </a:cubicBezTo>
                  <a:cubicBezTo>
                    <a:pt x="3535680" y="416306"/>
                    <a:pt x="3415538" y="536448"/>
                    <a:pt x="3267456" y="536448"/>
                  </a:cubicBezTo>
                  <a:lnTo>
                    <a:pt x="268224" y="536448"/>
                  </a:ln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3535680" cy="555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workload-related features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082942" y="4892040"/>
            <a:ext cx="4114800" cy="274320"/>
            <a:chOff x="0" y="0"/>
            <a:chExt cx="5486400" cy="3657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486400" cy="365760"/>
            </a:xfrm>
            <a:custGeom>
              <a:avLst/>
              <a:gdLst/>
              <a:ahLst/>
              <a:cxnLst/>
              <a:rect r="r" b="b" t="t" l="l"/>
              <a:pathLst>
                <a:path h="3657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548640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150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OUTPUT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7082942" y="5212080"/>
            <a:ext cx="2203704" cy="402336"/>
            <a:chOff x="0" y="0"/>
            <a:chExt cx="2938272" cy="53644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938272" cy="536448"/>
            </a:xfrm>
            <a:custGeom>
              <a:avLst/>
              <a:gdLst/>
              <a:ahLst/>
              <a:cxnLst/>
              <a:rect r="r" b="b" t="t" l="l"/>
              <a:pathLst>
                <a:path h="536448" w="2938272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2670048" y="0"/>
                  </a:lnTo>
                  <a:cubicBezTo>
                    <a:pt x="2818130" y="0"/>
                    <a:pt x="2938272" y="120142"/>
                    <a:pt x="2938272" y="268224"/>
                  </a:cubicBezTo>
                  <a:cubicBezTo>
                    <a:pt x="2938272" y="416306"/>
                    <a:pt x="2818130" y="536448"/>
                    <a:pt x="2670048" y="536448"/>
                  </a:cubicBezTo>
                  <a:lnTo>
                    <a:pt x="268224" y="536448"/>
                  </a:ln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2938272" cy="555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Health Score (0–100)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378086" y="5212080"/>
            <a:ext cx="1576426" cy="402336"/>
            <a:chOff x="0" y="0"/>
            <a:chExt cx="2101901" cy="53644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101850" cy="536448"/>
            </a:xfrm>
            <a:custGeom>
              <a:avLst/>
              <a:gdLst/>
              <a:ahLst/>
              <a:cxnLst/>
              <a:rect r="r" b="b" t="t" l="l"/>
              <a:pathLst>
                <a:path h="536448" w="2101850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1833626" y="0"/>
                  </a:lnTo>
                  <a:cubicBezTo>
                    <a:pt x="1981708" y="0"/>
                    <a:pt x="2101850" y="120142"/>
                    <a:pt x="2101850" y="268224"/>
                  </a:cubicBezTo>
                  <a:cubicBezTo>
                    <a:pt x="2101850" y="416306"/>
                    <a:pt x="1981708" y="536448"/>
                    <a:pt x="1833626" y="536448"/>
                  </a:cubicBezTo>
                  <a:lnTo>
                    <a:pt x="268224" y="536448"/>
                  </a:ln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2101901" cy="555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Health Status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082942" y="5705856"/>
            <a:ext cx="2114093" cy="402336"/>
            <a:chOff x="0" y="0"/>
            <a:chExt cx="2818790" cy="53644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818765" cy="536448"/>
            </a:xfrm>
            <a:custGeom>
              <a:avLst/>
              <a:gdLst/>
              <a:ahLst/>
              <a:cxnLst/>
              <a:rect r="r" b="b" t="t" l="l"/>
              <a:pathLst>
                <a:path h="536448" w="2818765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2550541" y="0"/>
                  </a:lnTo>
                  <a:cubicBezTo>
                    <a:pt x="2698623" y="0"/>
                    <a:pt x="2818765" y="120142"/>
                    <a:pt x="2818765" y="268224"/>
                  </a:cubicBezTo>
                  <a:cubicBezTo>
                    <a:pt x="2818765" y="416306"/>
                    <a:pt x="2698623" y="536448"/>
                    <a:pt x="2550541" y="536448"/>
                  </a:cubicBezTo>
                  <a:lnTo>
                    <a:pt x="268224" y="536448"/>
                  </a:ln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2818790" cy="555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Failure Probability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7082942" y="7269480"/>
            <a:ext cx="4114800" cy="1005840"/>
            <a:chOff x="0" y="0"/>
            <a:chExt cx="5486400" cy="134112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4864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1194816"/>
                  </a:lnTo>
                  <a:cubicBezTo>
                    <a:pt x="5486400" y="1275588"/>
                    <a:pt x="5420868" y="1341120"/>
                    <a:pt x="5340096" y="1341120"/>
                  </a:cubicBezTo>
                  <a:lnTo>
                    <a:pt x="146304" y="1341120"/>
                  </a:lnTo>
                  <a:cubicBezTo>
                    <a:pt x="65532" y="1341120"/>
                    <a:pt x="0" y="1275588"/>
                    <a:pt x="0" y="1194816"/>
                  </a:cubicBezTo>
                  <a:close/>
                </a:path>
              </a:pathLst>
            </a:custGeom>
            <a:solidFill>
              <a:srgbClr val="EEF0FE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5486400" cy="1360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E2A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Integrated with ScaleFlow </a:t>
              </a:r>
              <a:r>
                <a:rPr lang="en-US" sz="1500">
                  <a:solidFill>
                    <a:srgbClr val="1E2A4A"/>
                  </a:solidFill>
                  <a:latin typeface="Arial"/>
                  <a:ea typeface="Arial"/>
                  <a:cs typeface="Arial"/>
                  <a:sym typeface="Arial"/>
                </a:rPr>
                <a:t>to evaluate the current health of each project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741620" y="1869758"/>
            <a:ext cx="5499583" cy="6684645"/>
            <a:chOff x="0" y="0"/>
            <a:chExt cx="7332777" cy="89128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332853" cy="8912861"/>
            </a:xfrm>
            <a:custGeom>
              <a:avLst/>
              <a:gdLst/>
              <a:ahLst/>
              <a:cxnLst/>
              <a:rect r="r" b="b" t="t" l="l"/>
              <a:pathLst>
                <a:path h="8912861" w="7332853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7161911" y="0"/>
                  </a:lnTo>
                  <a:cubicBezTo>
                    <a:pt x="7256272" y="0"/>
                    <a:pt x="7332853" y="76581"/>
                    <a:pt x="7332853" y="170942"/>
                  </a:cubicBezTo>
                  <a:lnTo>
                    <a:pt x="7332853" y="8741918"/>
                  </a:lnTo>
                  <a:cubicBezTo>
                    <a:pt x="7332853" y="8836279"/>
                    <a:pt x="7256272" y="8912861"/>
                    <a:pt x="7161911" y="8912861"/>
                  </a:cubicBezTo>
                  <a:lnTo>
                    <a:pt x="170942" y="8912861"/>
                  </a:lnTo>
                  <a:cubicBezTo>
                    <a:pt x="76581" y="8912860"/>
                    <a:pt x="0" y="8836279"/>
                    <a:pt x="0" y="874191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2020702" y="2103120"/>
            <a:ext cx="4941418" cy="411480"/>
            <a:chOff x="0" y="0"/>
            <a:chExt cx="6588557" cy="5486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588558" cy="548640"/>
            </a:xfrm>
            <a:custGeom>
              <a:avLst/>
              <a:gdLst/>
              <a:ahLst/>
              <a:cxnLst/>
              <a:rect r="r" b="b" t="t" l="l"/>
              <a:pathLst>
                <a:path h="548640" w="6588558">
                  <a:moveTo>
                    <a:pt x="0" y="0"/>
                  </a:moveTo>
                  <a:lnTo>
                    <a:pt x="6588558" y="0"/>
                  </a:lnTo>
                  <a:lnTo>
                    <a:pt x="658855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993" r="0" b="-183993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6588557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0468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020702" y="2743200"/>
            <a:ext cx="4941418" cy="274320"/>
            <a:chOff x="0" y="0"/>
            <a:chExt cx="6588557" cy="36576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588558" cy="365760"/>
            </a:xfrm>
            <a:custGeom>
              <a:avLst/>
              <a:gdLst/>
              <a:ahLst/>
              <a:cxnLst/>
              <a:rect r="r" b="b" t="t" l="l"/>
              <a:pathLst>
                <a:path h="365760" w="6588558">
                  <a:moveTo>
                    <a:pt x="0" y="0"/>
                  </a:moveTo>
                  <a:lnTo>
                    <a:pt x="6588558" y="0"/>
                  </a:lnTo>
                  <a:lnTo>
                    <a:pt x="658855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990" r="0" b="-30099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6588557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150">
                  <a:solidFill>
                    <a:srgbClr val="4F6B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RISK MODEL</a:t>
              </a:r>
            </a:p>
          </p:txBody>
        </p:sp>
      </p:grpSp>
      <p:sp>
        <p:nvSpPr>
          <p:cNvPr name="TextBox 93" id="93"/>
          <p:cNvSpPr txBox="true"/>
          <p:nvPr/>
        </p:nvSpPr>
        <p:spPr>
          <a:xfrm rot="0">
            <a:off x="12020702" y="3025902"/>
            <a:ext cx="4941418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1E2A4A"/>
                </a:solidFill>
                <a:latin typeface="Arial"/>
                <a:ea typeface="Arial"/>
                <a:cs typeface="Arial"/>
                <a:sym typeface="Arial"/>
              </a:rPr>
              <a:t>Produces a project-specific risk score and risk level based on project data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12020702" y="4206240"/>
            <a:ext cx="4941418" cy="274320"/>
            <a:chOff x="0" y="0"/>
            <a:chExt cx="6588557" cy="36576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588558" cy="365760"/>
            </a:xfrm>
            <a:custGeom>
              <a:avLst/>
              <a:gdLst/>
              <a:ahLst/>
              <a:cxnLst/>
              <a:rect r="r" b="b" t="t" l="l"/>
              <a:pathLst>
                <a:path h="365760" w="6588558">
                  <a:moveTo>
                    <a:pt x="0" y="0"/>
                  </a:moveTo>
                  <a:lnTo>
                    <a:pt x="6588558" y="0"/>
                  </a:lnTo>
                  <a:lnTo>
                    <a:pt x="658855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990" r="0" b="-30099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6588557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150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HEALTH MODEL · EXAMPLE RESULT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2015940" y="4567238"/>
            <a:ext cx="1565224" cy="1564005"/>
            <a:chOff x="0" y="0"/>
            <a:chExt cx="2086966" cy="20853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086991" cy="2085340"/>
            </a:xfrm>
            <a:custGeom>
              <a:avLst/>
              <a:gdLst/>
              <a:ahLst/>
              <a:cxnLst/>
              <a:rect r="r" b="b" t="t" l="l"/>
              <a:pathLst>
                <a:path h="2085340" w="2086991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939798" y="0"/>
                  </a:lnTo>
                  <a:cubicBezTo>
                    <a:pt x="2021078" y="0"/>
                    <a:pt x="2086991" y="65913"/>
                    <a:pt x="2086991" y="147193"/>
                  </a:cubicBezTo>
                  <a:lnTo>
                    <a:pt x="2086991" y="1938147"/>
                  </a:lnTo>
                  <a:cubicBezTo>
                    <a:pt x="2086991" y="2019427"/>
                    <a:pt x="2021078" y="2085340"/>
                    <a:pt x="1939798" y="2085340"/>
                  </a:cubicBezTo>
                  <a:lnTo>
                    <a:pt x="147193" y="2085340"/>
                  </a:lnTo>
                  <a:cubicBezTo>
                    <a:pt x="65913" y="2085340"/>
                    <a:pt x="0" y="2019427"/>
                    <a:pt x="0" y="1938147"/>
                  </a:cubicBezTo>
                  <a:close/>
                </a:path>
              </a:pathLst>
            </a:custGeom>
            <a:solidFill>
              <a:srgbClr val="F7F8FE"/>
            </a:solidFill>
            <a:ln w="9525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2130430" y="4754880"/>
            <a:ext cx="1409395" cy="548640"/>
            <a:chOff x="0" y="0"/>
            <a:chExt cx="1879194" cy="73152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879193" cy="731520"/>
            </a:xfrm>
            <a:custGeom>
              <a:avLst/>
              <a:gdLst/>
              <a:ahLst/>
              <a:cxnLst/>
              <a:rect r="r" b="b" t="t" l="l"/>
              <a:pathLst>
                <a:path h="731520" w="1879193">
                  <a:moveTo>
                    <a:pt x="0" y="0"/>
                  </a:moveTo>
                  <a:lnTo>
                    <a:pt x="1879193" y="0"/>
                  </a:lnTo>
                  <a:lnTo>
                    <a:pt x="1879193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" r="0" b="-54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9525"/>
              <a:ext cx="1879194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83.15</a:t>
              </a:r>
            </a:p>
          </p:txBody>
        </p:sp>
      </p:grpSp>
      <p:sp>
        <p:nvSpPr>
          <p:cNvPr name="TextBox 102" id="102"/>
          <p:cNvSpPr txBox="true"/>
          <p:nvPr/>
        </p:nvSpPr>
        <p:spPr>
          <a:xfrm rot="0">
            <a:off x="12157862" y="5421630"/>
            <a:ext cx="1281379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Health Score</a:t>
            </a:r>
          </a:p>
        </p:txBody>
      </p:sp>
      <p:grpSp>
        <p:nvGrpSpPr>
          <p:cNvPr name="Group 103" id="103"/>
          <p:cNvGrpSpPr/>
          <p:nvPr/>
        </p:nvGrpSpPr>
        <p:grpSpPr>
          <a:xfrm rot="0">
            <a:off x="13708799" y="4567238"/>
            <a:ext cx="1565224" cy="1564005"/>
            <a:chOff x="0" y="0"/>
            <a:chExt cx="2086966" cy="20853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086991" cy="2085340"/>
            </a:xfrm>
            <a:custGeom>
              <a:avLst/>
              <a:gdLst/>
              <a:ahLst/>
              <a:cxnLst/>
              <a:rect r="r" b="b" t="t" l="l"/>
              <a:pathLst>
                <a:path h="2085340" w="2086991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939798" y="0"/>
                  </a:lnTo>
                  <a:cubicBezTo>
                    <a:pt x="2021078" y="0"/>
                    <a:pt x="2086991" y="65913"/>
                    <a:pt x="2086991" y="147193"/>
                  </a:cubicBezTo>
                  <a:lnTo>
                    <a:pt x="2086991" y="1938147"/>
                  </a:lnTo>
                  <a:cubicBezTo>
                    <a:pt x="2086991" y="2019427"/>
                    <a:pt x="2021078" y="2085340"/>
                    <a:pt x="1939798" y="2085340"/>
                  </a:cubicBezTo>
                  <a:lnTo>
                    <a:pt x="147193" y="2085340"/>
                  </a:lnTo>
                  <a:cubicBezTo>
                    <a:pt x="65913" y="2085340"/>
                    <a:pt x="0" y="2019427"/>
                    <a:pt x="0" y="1938147"/>
                  </a:cubicBezTo>
                  <a:close/>
                </a:path>
              </a:pathLst>
            </a:custGeom>
            <a:solidFill>
              <a:srgbClr val="F7F8FE"/>
            </a:solidFill>
            <a:ln w="9525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13823290" y="4754880"/>
            <a:ext cx="1409395" cy="548640"/>
            <a:chOff x="0" y="0"/>
            <a:chExt cx="1879194" cy="73152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879193" cy="731520"/>
            </a:xfrm>
            <a:custGeom>
              <a:avLst/>
              <a:gdLst/>
              <a:ahLst/>
              <a:cxnLst/>
              <a:rect r="r" b="b" t="t" l="l"/>
              <a:pathLst>
                <a:path h="731520" w="1879193">
                  <a:moveTo>
                    <a:pt x="0" y="0"/>
                  </a:moveTo>
                  <a:lnTo>
                    <a:pt x="1879193" y="0"/>
                  </a:lnTo>
                  <a:lnTo>
                    <a:pt x="1879193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" r="0" b="-54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1879194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6A3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Healthy</a:t>
              </a:r>
            </a:p>
          </p:txBody>
        </p:sp>
      </p:grpSp>
      <p:sp>
        <p:nvSpPr>
          <p:cNvPr name="TextBox 108" id="108"/>
          <p:cNvSpPr txBox="true"/>
          <p:nvPr/>
        </p:nvSpPr>
        <p:spPr>
          <a:xfrm rot="0">
            <a:off x="13850722" y="5421630"/>
            <a:ext cx="1281379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Health Status</a:t>
            </a:r>
          </a:p>
        </p:txBody>
      </p:sp>
      <p:grpSp>
        <p:nvGrpSpPr>
          <p:cNvPr name="Group 109" id="109"/>
          <p:cNvGrpSpPr/>
          <p:nvPr/>
        </p:nvGrpSpPr>
        <p:grpSpPr>
          <a:xfrm rot="0">
            <a:off x="15401658" y="4567238"/>
            <a:ext cx="1565224" cy="1564005"/>
            <a:chOff x="0" y="0"/>
            <a:chExt cx="2086966" cy="20853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086991" cy="2085340"/>
            </a:xfrm>
            <a:custGeom>
              <a:avLst/>
              <a:gdLst/>
              <a:ahLst/>
              <a:cxnLst/>
              <a:rect r="r" b="b" t="t" l="l"/>
              <a:pathLst>
                <a:path h="2085340" w="2086991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939798" y="0"/>
                  </a:lnTo>
                  <a:cubicBezTo>
                    <a:pt x="2021078" y="0"/>
                    <a:pt x="2086991" y="65913"/>
                    <a:pt x="2086991" y="147193"/>
                  </a:cubicBezTo>
                  <a:lnTo>
                    <a:pt x="2086991" y="1938147"/>
                  </a:lnTo>
                  <a:cubicBezTo>
                    <a:pt x="2086991" y="2019427"/>
                    <a:pt x="2021078" y="2085340"/>
                    <a:pt x="1939798" y="2085340"/>
                  </a:cubicBezTo>
                  <a:lnTo>
                    <a:pt x="147193" y="2085340"/>
                  </a:lnTo>
                  <a:cubicBezTo>
                    <a:pt x="65913" y="2085340"/>
                    <a:pt x="0" y="2019427"/>
                    <a:pt x="0" y="1938147"/>
                  </a:cubicBezTo>
                  <a:close/>
                </a:path>
              </a:pathLst>
            </a:custGeom>
            <a:solidFill>
              <a:srgbClr val="F7F8FE"/>
            </a:solidFill>
            <a:ln w="9525" cap="sq">
              <a:solidFill>
                <a:srgbClr val="E4E7F7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15516149" y="4754880"/>
            <a:ext cx="1409395" cy="548640"/>
            <a:chOff x="0" y="0"/>
            <a:chExt cx="1879194" cy="73152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879193" cy="731520"/>
            </a:xfrm>
            <a:custGeom>
              <a:avLst/>
              <a:gdLst/>
              <a:ahLst/>
              <a:cxnLst/>
              <a:rect r="r" b="b" t="t" l="l"/>
              <a:pathLst>
                <a:path h="731520" w="1879193">
                  <a:moveTo>
                    <a:pt x="0" y="0"/>
                  </a:moveTo>
                  <a:lnTo>
                    <a:pt x="1879193" y="0"/>
                  </a:lnTo>
                  <a:lnTo>
                    <a:pt x="1879193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" r="0" b="-54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9525"/>
              <a:ext cx="1879194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E0468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16.85%</a:t>
              </a:r>
            </a:p>
          </p:txBody>
        </p:sp>
      </p:grpSp>
      <p:sp>
        <p:nvSpPr>
          <p:cNvPr name="TextBox 114" id="114"/>
          <p:cNvSpPr txBox="true"/>
          <p:nvPr/>
        </p:nvSpPr>
        <p:spPr>
          <a:xfrm rot="0">
            <a:off x="15543581" y="5421630"/>
            <a:ext cx="1281379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Failure Probability</a:t>
            </a:r>
          </a:p>
        </p:txBody>
      </p:sp>
      <p:grpSp>
        <p:nvGrpSpPr>
          <p:cNvPr name="Group 115" id="115"/>
          <p:cNvGrpSpPr/>
          <p:nvPr/>
        </p:nvGrpSpPr>
        <p:grpSpPr>
          <a:xfrm rot="0">
            <a:off x="12020702" y="7269480"/>
            <a:ext cx="4941418" cy="1005840"/>
            <a:chOff x="0" y="0"/>
            <a:chExt cx="6588557" cy="134112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588506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8850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442202" y="0"/>
                  </a:lnTo>
                  <a:cubicBezTo>
                    <a:pt x="6522974" y="0"/>
                    <a:pt x="6588506" y="65532"/>
                    <a:pt x="6588506" y="146304"/>
                  </a:cubicBezTo>
                  <a:lnTo>
                    <a:pt x="6588506" y="1194816"/>
                  </a:lnTo>
                  <a:cubicBezTo>
                    <a:pt x="6588506" y="1275588"/>
                    <a:pt x="6522974" y="1341120"/>
                    <a:pt x="6442202" y="1341120"/>
                  </a:cubicBezTo>
                  <a:lnTo>
                    <a:pt x="146304" y="1341120"/>
                  </a:lnTo>
                  <a:cubicBezTo>
                    <a:pt x="65532" y="1341120"/>
                    <a:pt x="0" y="1275588"/>
                    <a:pt x="0" y="1194816"/>
                  </a:cubicBezTo>
                  <a:close/>
                </a:path>
              </a:pathLst>
            </a:custGeom>
            <a:solidFill>
              <a:srgbClr val="EEF0FE"/>
            </a:solid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19050"/>
              <a:ext cx="6588557" cy="1360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E2A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Both models are connected to the ScaleFlow </a:t>
              </a:r>
              <a:r>
                <a:rPr lang="en-US" sz="1500">
                  <a:solidFill>
                    <a:srgbClr val="1E2A4A"/>
                  </a:solidFill>
                  <a:latin typeface="Arial"/>
                  <a:ea typeface="Arial"/>
                  <a:cs typeface="Arial"/>
                  <a:sym typeface="Arial"/>
                </a:rPr>
                <a:t>AI Insights workflow and can analyze individual projects through the backend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047902" y="8778240"/>
            <a:ext cx="16188538" cy="822960"/>
            <a:chOff x="0" y="0"/>
            <a:chExt cx="21584717" cy="109728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1584665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584665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21389594" y="0"/>
                  </a:lnTo>
                  <a:cubicBezTo>
                    <a:pt x="21497289" y="0"/>
                    <a:pt x="21584665" y="87376"/>
                    <a:pt x="21584665" y="195072"/>
                  </a:cubicBezTo>
                  <a:lnTo>
                    <a:pt x="21584665" y="902208"/>
                  </a:lnTo>
                  <a:cubicBezTo>
                    <a:pt x="21584665" y="1009904"/>
                    <a:pt x="21497289" y="1097280"/>
                    <a:pt x="21389594" y="1097280"/>
                  </a:cubicBezTo>
                  <a:lnTo>
                    <a:pt x="195072" y="1097280"/>
                  </a:lnTo>
                  <a:cubicBezTo>
                    <a:pt x="87376" y="1097280"/>
                    <a:pt x="0" y="1009904"/>
                    <a:pt x="0" y="902208"/>
                  </a:cubicBezTo>
                  <a:close/>
                </a:path>
              </a:pathLst>
            </a:custGeom>
            <a:solidFill>
              <a:srgbClr val="1E2A4A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413662" y="8778240"/>
            <a:ext cx="2560320" cy="822960"/>
            <a:chOff x="0" y="0"/>
            <a:chExt cx="3413760" cy="109728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3413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20" r="0" b="-1062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19050"/>
              <a:ext cx="34137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9"/>
                </a:lnSpc>
              </a:pPr>
              <a:r>
                <a:rPr lang="en-US" b="true" sz="1299" spc="199">
                  <a:solidFill>
                    <a:srgbClr val="C4B5F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OUTCOME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4065422" y="8778240"/>
            <a:ext cx="12805258" cy="822960"/>
            <a:chOff x="0" y="0"/>
            <a:chExt cx="17073677" cy="109728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7073677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73677">
                  <a:moveTo>
                    <a:pt x="0" y="0"/>
                  </a:moveTo>
                  <a:lnTo>
                    <a:pt x="17073677" y="0"/>
                  </a:lnTo>
                  <a:lnTo>
                    <a:pt x="17073677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3187" r="0" b="-253187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19050"/>
              <a:ext cx="17073677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models transform project data into measurable indicators that help teams understand project risk and overall project health.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91988" y="0"/>
            <a:ext cx="7620000" cy="10287000"/>
          </a:xfrm>
          <a:custGeom>
            <a:avLst/>
            <a:gdLst/>
            <a:ahLst/>
            <a:cxnLst/>
            <a:rect r="r" b="b" t="t" l="l"/>
            <a:pathLst>
              <a:path h="10287000" w="7620000">
                <a:moveTo>
                  <a:pt x="0" y="0"/>
                </a:moveTo>
                <a:lnTo>
                  <a:pt x="7620000" y="0"/>
                </a:lnTo>
                <a:lnTo>
                  <a:pt x="7620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" r="0" b="-5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4027" y="0"/>
            <a:ext cx="7620000" cy="10287000"/>
          </a:xfrm>
          <a:custGeom>
            <a:avLst/>
            <a:gdLst/>
            <a:ahLst/>
            <a:cxnLst/>
            <a:rect r="r" b="b" t="t" l="l"/>
            <a:pathLst>
              <a:path h="10287000" w="7620000">
                <a:moveTo>
                  <a:pt x="0" y="0"/>
                </a:moveTo>
                <a:lnTo>
                  <a:pt x="7620000" y="0"/>
                </a:lnTo>
                <a:lnTo>
                  <a:pt x="7620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" r="0" b="-5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6423413" y="4064432"/>
            <a:ext cx="5441175" cy="2158136"/>
            <a:chOff x="0" y="0"/>
            <a:chExt cx="7254900" cy="28775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254900" cy="2877515"/>
            </a:xfrm>
            <a:custGeom>
              <a:avLst/>
              <a:gdLst/>
              <a:ahLst/>
              <a:cxnLst/>
              <a:rect r="r" b="b" t="t" l="l"/>
              <a:pathLst>
                <a:path h="2877515" w="7254900">
                  <a:moveTo>
                    <a:pt x="0" y="0"/>
                  </a:moveTo>
                  <a:lnTo>
                    <a:pt x="7254900" y="0"/>
                  </a:lnTo>
                  <a:lnTo>
                    <a:pt x="7254900" y="2877515"/>
                  </a:lnTo>
                  <a:lnTo>
                    <a:pt x="0" y="28775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88" r="-68051" b="-2492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7254900" cy="2877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60"/>
                </a:lnSpc>
              </a:pPr>
              <a:r>
                <a:rPr lang="en-US" b="true" sz="10800">
                  <a:solidFill>
                    <a:srgbClr val="4F6B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Thanks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DAHWGizjxJw</dc:identifier>
  <dcterms:modified xsi:type="dcterms:W3CDTF">2011-08-01T06:04:30Z</dcterms:modified>
  <cp:revision>1</cp:revision>
  <dc:title>Scale-Flow-Presentation</dc:title>
</cp:coreProperties>
</file>